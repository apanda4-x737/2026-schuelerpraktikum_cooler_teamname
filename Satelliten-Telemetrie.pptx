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Begruessung. Ziel der Praesentation: den Weg eines einzelnen Messwerts vom Satelliten bis auf den Bildschirm zeigen und erklaeren, welche Komponenten dabei voneinander abhaengen.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Aufgabenstellung in eigenen Worten. Wichtig: die Daten kommen als Dateien an, nicht als Live-Stream. Genau daraus ergibt sich der Aufbau des Systems. Der Space Controller ist unser Nutzer.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Ueberblick. Fuenf Stationen in einer Reihe, das Frontend haengt unten am Backend. Wichtig zu betonen: die Uebergabe zwischen Satellit und Bodenstation laeuft ueber das Dateisystem, alles danach ueber HTTP. Jede Komponente laeuft als eigener Prozess und kann einzeln neu gestartet werden.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Datengenerator steht fuer den Satelliten. Entscheidend fuer das Verstaendnis des ganzen Projekts: er liefert absichtlich zu 40 Prozent unbrauchbare Daten. Genau dafuer braucht die Bodenstation ihre Pruefungen. Die Wahrscheinlichkeiten stehen direkt im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Bodenstation ist die erste Komponente aus dem Aufgabenblatt. Fuenf Pruefstufen hintereinander, jede kann die Datei aussortieren. Erst danach geht der Datensatz per HTTP raus. Die Datei wird in jedem Fall geloescht, damit sie nicht doppelt verarbeitet wird.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Verwaltung ist das Herz des Systems: FastAPI mit vier Routen. Sie ist die einzige Komponente, die mit der Datenbank spricht. Wer Daten will, fragt hier und nicht direkt in MongoDB.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Datenmodell ist der Tuersteher. Drei Klassen: DataModel fuer das, was hereinkommt, MeasurementModel fuer einen einzelnen Messwert, GroupedDataModel fuer einen Sensor mit seiner Historie. Der Typ von time ist entscheidend - dazu kommt spaeter noch eine eigene Folie.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Collections mit unterschiedlicher Aufgabe. Die eine bleibt klein und schnell, weil sie pro Sensor nur ein Dokument hat und der alte Wert ersetzt wird. Die andere waechst, weil sie nichts wegwirft. Der Vergleich der Dokumentzahlen macht das deutlich: 13 gegen 13 Dokumente, aber 0 gegen 2315 Messwerte.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Einstieg in den Frontend-Teil. Die Anwendung hat genau zwei Ansichten, umgeschaltet wird ueber eine einzige Zustandsvariable in App.jsx. Links die Startseite mit den aktuellen Werten, nach Tanktyp gruppiert. Rechts die Datenansicht mit Suche, Sortierung und Kennzahlen. Wichtig: die beiden Ansichten holen ihre Daten von unterschiedlichen Routen - die Startseite die aktuellen Werte, die Datenansicht die Historie.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Aufbau in React. Von links nach rechts wird es spezieller. App.jsx ist die einzige Stelle, die entscheidet, welche Ansicht laeuft. Der Hook useSensorData steht bewusst daneben und nicht in einer Komponente: er kapselt das Laden, und App.jsx bekommt nur noch das Ergebnis. Bemerkenswert: das Frontend benutzt drei der vier Backend-Routen - jede an genau einer Stelle.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Datenansicht im Detail. Diese Folie am besten durchklicken und die sechs Punkte einzeln erklaeren. Punkt 1 ist ein schoenes Beispiel fuer eine bewusste Entscheidung: die Sekundenanzeige steckt in einer eigenen kleinen Komponente, damit der Sekundentakt nicht jede Sekunde die ganze Tabelle neu rendert. Punkt 2 ist ehrlich zu benennen - die Mittelwerte laufen ueber die gefilterte Liste, und die enthaelt derzeit die ganze Historie.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Stelle, an der Backend und Frontend aufeinandertreffen. Das Backend liefert dreifach verschachtelt: Typ, dann Name, dann die Liste der Messwerte. Eine Tabelle braucht aber eine flache Liste. Genau das macht flachKlopfen mit drei ineinanderliegenden Schleifen - die Farben zeigen, welche Schleife welche Ebene aufloest. Der Preis dafuer steht unten: aus 13 Sensoren werden 2315 Zeilen, und zwar bei jedem Abruf neu.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Wie das Frontend aktuell bleibt. Kein Push vom Server, sondern Abfragen im Takt. Der wichtige Punkt an der Zeitleiste: der Timer fuer die naechste Abfrage wird erst gesetzt, nachdem die Antwort da ist. Mit setInterval waere das anders - dann koennten sich langsame Anfragen stapeln und ueberholen. Rechts der Aufraeumteil, der leicht vergessen wird: ohne AbortController wuerde eine Antwort auf eine verlassene Ansicht zurueckkommen und in einer Komponente landen, die es nicht mehr gibt.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Suche und Sortierung, die zwei Funktionen, die der Space Controller wirklich benutzt. Bei der Suche ist der Kniff die UND-Verknuepfung: mehrere Woerter verengen, sie erweitern nicht. Und ein Detail, das man kennen muss: gesucht wird im rohen Zeitstempel, nicht in der angezeigten Form. Wer '06.08.2026' eingibt, findet nichts - '2026-08-06' schon.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beantwortet die Frage aus dem Aufgabenblatt: wer ruft wen auf. Die Kopplung ist absichtlich lose. Besonders schoen: faellt die Verwaltung aus, bleiben die Dateien einfach im Ordner liegen und gehen nicht verloren - allerdings nur, solange die Bodenstation sie nicht vorher schon geloescht hat. Das ist eine ehrliche Schwachstelle.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Fuenf echte Fehler aus der Entwicklung. Diese Folie ist der interessanteste Teil des Vortrags: nicht was geplant war, sondern was schiefging und wie man es gemerkt hat. Bei jedem Punkt kurz sagen, woran man den Fehler bemerkt hat - der Statuscode ist meist der Hinweis.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Fehler im Detail, weil er alles zeigt: die Fehlermeldung war praezise, man musste sie nur lesen. Und die zweite Lehre war noch wichtiger: der Code war schon repariert, aber der laufende Prozess hatte die Datei nie neu gelesen. Der Server laedt mit --reload automatisch neu, eigene Skripte nicht.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Ehrlicher Ausblick, links Frontend und rechts Backend. Zwei Punkte, die auf einer aelteren Fassung dieser Folie noch offen standen, sind inzwischen erledigt - das steht unten als eigene Zeile. Beim ersten Frontend-Punkt ist der Zusammenhang wichtig: die Datenansicht laedt die komplette Historie, deshalb rechnen die Mittelwerte ueber alle Messwerte und nicht ueber den aktuellen Stand. Die Zahlen rechts sind ausgerechnet, nicht geschaetzt: 16 MB geteilt durch die gemessene Groesse eines Messwerts ergibt 255.882 Messwerte, bei der gemessenen Rate etwa 190 Tage.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 Die drei Punkte sind die eigentlichen Lernergebnisse und gelten unabhaengig von diesem Projekt. Dann Raum fuer Fragen.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10487979" y="5811103"/>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5517410" y="5798972"/>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2308991" y="3508491"/>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221751" y="2116679"/>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560510" y="6034836"/>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241926" y="2735855"/>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944274" y="4200394"/>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74474" y="5643148"/>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06578" y="1361102"/>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292142" y="5285406"/>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5381696" y="5714742"/>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7780584" y="3427485"/>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5583430" y="1948210"/>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591394" y="2195953"/>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50576" y="290037"/>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899767" y="5742487"/>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93947" y="204185"/>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2655342" y="6279557"/>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5735430" y="6635453"/>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5132637" y="3871171"/>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440433" y="1892224"/>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3828698" y="192564"/>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9194608" y="87904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581864" y="164566"/>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9662724" y="1277462"/>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5464482" y="1364281"/>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5125901" y="2653029"/>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5144216" y="1512343"/>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10471066" y="6598727"/>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12075081" y="222477"/>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4826211" y="5794508"/>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597105" y="1068401"/>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3193047" y="5249236"/>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10062232" y="2669170"/>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1173640" y="3981264"/>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277685" y="2552391"/>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1619214" y="4011546"/>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10497386" y="1311836"/>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3823915" y="1615926"/>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802526" y="1149284"/>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8341183" y="2682787"/>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339170" y="2904717"/>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1400968" y="3511476"/>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2954427" y="4794592"/>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5144933" y="6131249"/>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3615250" y="126247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1609356" y="3290824"/>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3456542" y="6214929"/>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9085863" y="553053"/>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5443835" y="49498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3477468" y="3635952"/>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1198558" y="1015332"/>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11866004" y="4476540"/>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7175147" y="6256496"/>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11022013" y="477049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346737" y="4338048"/>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899279" y="2167823"/>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12092541" y="593828"/>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Oval 60"/>
          <p:cNvSpPr/>
          <p:nvPr/>
        </p:nvSpPr>
        <p:spPr>
          <a:xfrm>
            <a:off x="8942002" y="6100355"/>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Oval 61"/>
          <p:cNvSpPr/>
          <p:nvPr/>
        </p:nvSpPr>
        <p:spPr>
          <a:xfrm>
            <a:off x="9617632" y="6199192"/>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Oval 62"/>
          <p:cNvSpPr/>
          <p:nvPr/>
        </p:nvSpPr>
        <p:spPr>
          <a:xfrm>
            <a:off x="1111310" y="3250630"/>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Oval 63"/>
          <p:cNvSpPr/>
          <p:nvPr/>
        </p:nvSpPr>
        <p:spPr>
          <a:xfrm>
            <a:off x="10552334" y="2875987"/>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Oval 64"/>
          <p:cNvSpPr/>
          <p:nvPr/>
        </p:nvSpPr>
        <p:spPr>
          <a:xfrm>
            <a:off x="10460723" y="3914998"/>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Oval 65"/>
          <p:cNvSpPr/>
          <p:nvPr/>
        </p:nvSpPr>
        <p:spPr>
          <a:xfrm>
            <a:off x="4644899" y="174526"/>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Oval 66"/>
          <p:cNvSpPr/>
          <p:nvPr/>
        </p:nvSpPr>
        <p:spPr>
          <a:xfrm>
            <a:off x="1054571" y="4359540"/>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Oval 67"/>
          <p:cNvSpPr/>
          <p:nvPr/>
        </p:nvSpPr>
        <p:spPr>
          <a:xfrm>
            <a:off x="10656697" y="4952309"/>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11310693" y="4725017"/>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5381593" y="5687660"/>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6320378" y="3525998"/>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Oval 71"/>
          <p:cNvSpPr/>
          <p:nvPr/>
        </p:nvSpPr>
        <p:spPr>
          <a:xfrm>
            <a:off x="7312163" y="3301884"/>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Oval 72"/>
          <p:cNvSpPr/>
          <p:nvPr/>
        </p:nvSpPr>
        <p:spPr>
          <a:xfrm>
            <a:off x="11588628" y="844960"/>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Oval 73"/>
          <p:cNvSpPr/>
          <p:nvPr/>
        </p:nvSpPr>
        <p:spPr>
          <a:xfrm>
            <a:off x="3163657" y="166916"/>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Oval 74"/>
          <p:cNvSpPr/>
          <p:nvPr/>
        </p:nvSpPr>
        <p:spPr>
          <a:xfrm>
            <a:off x="1811347" y="4174998"/>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Oval 75"/>
          <p:cNvSpPr/>
          <p:nvPr/>
        </p:nvSpPr>
        <p:spPr>
          <a:xfrm>
            <a:off x="9143340" y="2377830"/>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Oval 76"/>
          <p:cNvSpPr/>
          <p:nvPr/>
        </p:nvSpPr>
        <p:spPr>
          <a:xfrm>
            <a:off x="6075565" y="1703372"/>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Oval 77"/>
          <p:cNvSpPr/>
          <p:nvPr/>
        </p:nvSpPr>
        <p:spPr>
          <a:xfrm>
            <a:off x="8088098" y="1416489"/>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Oval 78"/>
          <p:cNvSpPr/>
          <p:nvPr/>
        </p:nvSpPr>
        <p:spPr>
          <a:xfrm>
            <a:off x="9743089" y="5128683"/>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Oval 79"/>
          <p:cNvSpPr/>
          <p:nvPr/>
        </p:nvSpPr>
        <p:spPr>
          <a:xfrm>
            <a:off x="10662426" y="2657480"/>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Oval 80"/>
          <p:cNvSpPr/>
          <p:nvPr/>
        </p:nvSpPr>
        <p:spPr>
          <a:xfrm>
            <a:off x="2612000" y="989595"/>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Oval 81"/>
          <p:cNvSpPr/>
          <p:nvPr/>
        </p:nvSpPr>
        <p:spPr>
          <a:xfrm>
            <a:off x="10143966" y="5756749"/>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Oval 82"/>
          <p:cNvSpPr/>
          <p:nvPr/>
        </p:nvSpPr>
        <p:spPr>
          <a:xfrm>
            <a:off x="11499816" y="1939086"/>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Oval 83"/>
          <p:cNvSpPr/>
          <p:nvPr/>
        </p:nvSpPr>
        <p:spPr>
          <a:xfrm>
            <a:off x="1446387" y="3237769"/>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Oval 84"/>
          <p:cNvSpPr/>
          <p:nvPr/>
        </p:nvSpPr>
        <p:spPr>
          <a:xfrm>
            <a:off x="10069518" y="2644994"/>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Oval 85"/>
          <p:cNvSpPr/>
          <p:nvPr/>
        </p:nvSpPr>
        <p:spPr>
          <a:xfrm>
            <a:off x="8163132" y="4872672"/>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Oval 86"/>
          <p:cNvSpPr/>
          <p:nvPr/>
        </p:nvSpPr>
        <p:spPr>
          <a:xfrm>
            <a:off x="3938418" y="5623294"/>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Oval 87"/>
          <p:cNvSpPr/>
          <p:nvPr/>
        </p:nvSpPr>
        <p:spPr>
          <a:xfrm>
            <a:off x="10573082" y="368380"/>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Oval 88"/>
          <p:cNvSpPr/>
          <p:nvPr/>
        </p:nvSpPr>
        <p:spPr>
          <a:xfrm>
            <a:off x="6943453" y="2154254"/>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Oval 89"/>
          <p:cNvSpPr/>
          <p:nvPr/>
        </p:nvSpPr>
        <p:spPr>
          <a:xfrm>
            <a:off x="7788916" y="2796125"/>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Oval 90"/>
          <p:cNvSpPr/>
          <p:nvPr/>
        </p:nvSpPr>
        <p:spPr>
          <a:xfrm>
            <a:off x="388376" y="5629576"/>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Oval 91"/>
          <p:cNvSpPr/>
          <p:nvPr/>
        </p:nvSpPr>
        <p:spPr>
          <a:xfrm>
            <a:off x="9449360" y="5410491"/>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Oval 92"/>
          <p:cNvSpPr/>
          <p:nvPr/>
        </p:nvSpPr>
        <p:spPr>
          <a:xfrm>
            <a:off x="7955279" y="3566160"/>
            <a:ext cx="5120640" cy="5120640"/>
          </a:xfrm>
          <a:prstGeom prst="ellipse">
            <a:avLst/>
          </a:prstGeom>
          <a:solidFill>
            <a:srgbClr val="111B30"/>
          </a:solidFill>
          <a:ln w="12700">
            <a:solidFill>
              <a:srgbClr val="273A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Oval 93"/>
          <p:cNvSpPr/>
          <p:nvPr/>
        </p:nvSpPr>
        <p:spPr>
          <a:xfrm>
            <a:off x="8549640" y="4160520"/>
            <a:ext cx="3931920" cy="3931920"/>
          </a:xfrm>
          <a:prstGeom prst="ellipse">
            <a:avLst/>
          </a:prstGeom>
          <a:solidFill>
            <a:srgbClr val="14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Oval 94"/>
          <p:cNvSpPr/>
          <p:nvPr/>
        </p:nvSpPr>
        <p:spPr>
          <a:xfrm rot="20280000">
            <a:off x="6309360" y="4160520"/>
            <a:ext cx="7863840" cy="3017520"/>
          </a:xfrm>
          <a:prstGeom prst="ellipse">
            <a:avLst/>
          </a:prstGeom>
          <a:noFill/>
          <a:ln w="12700">
            <a:solidFill>
              <a:srgbClr val="243B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ounded Rectangle 95"/>
          <p:cNvSpPr/>
          <p:nvPr/>
        </p:nvSpPr>
        <p:spPr>
          <a:xfrm>
            <a:off x="7836408" y="3255264"/>
            <a:ext cx="420624" cy="384048"/>
          </a:xfrm>
          <a:prstGeom prst="roundRect">
            <a:avLst>
              <a:gd name="adj" fmla="val 15000"/>
            </a:avLst>
          </a:prstGeom>
          <a:solidFill>
            <a:srgbClr val="141D33"/>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7159752" y="3328416"/>
            <a:ext cx="603504" cy="237744"/>
          </a:xfrm>
          <a:prstGeom prst="rect">
            <a:avLst/>
          </a:prstGeom>
          <a:solidFill>
            <a:srgbClr val="1B2C4A"/>
          </a:solidFill>
          <a:ln w="9525">
            <a:solidFill>
              <a:srgbClr val="334C7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8330184" y="3328416"/>
            <a:ext cx="603504" cy="237744"/>
          </a:xfrm>
          <a:prstGeom prst="rect">
            <a:avLst/>
          </a:prstGeom>
          <a:solidFill>
            <a:srgbClr val="1B2C4A"/>
          </a:solidFill>
          <a:ln w="9525">
            <a:solidFill>
              <a:srgbClr val="334C7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8028432" y="3657600"/>
            <a:ext cx="36576" cy="18288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ounded Rectangle 99"/>
          <p:cNvSpPr/>
          <p:nvPr/>
        </p:nvSpPr>
        <p:spPr>
          <a:xfrm>
            <a:off x="7936992" y="3822191"/>
            <a:ext cx="219456" cy="82296"/>
          </a:xfrm>
          <a:prstGeom prst="roundRect">
            <a:avLst>
              <a:gd name="adj" fmla="val 4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01" name="Connector 100"/>
          <p:cNvCxnSpPr/>
          <p:nvPr/>
        </p:nvCxnSpPr>
        <p:spPr>
          <a:xfrm flipH="1">
            <a:off x="2148840" y="3968496"/>
            <a:ext cx="5897880" cy="1106424"/>
          </a:xfrm>
          <a:prstGeom prst="line">
            <a:avLst/>
          </a:prstGeom>
          <a:ln w="12700">
            <a:solidFill>
              <a:srgbClr val="2C6E92"/>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1783080" y="5138928"/>
            <a:ext cx="713232" cy="182880"/>
          </a:xfrm>
          <a:prstGeom prst="roundRect">
            <a:avLst>
              <a:gd name="adj" fmla="val 50000"/>
            </a:avLst>
          </a:prstGeom>
          <a:solidFill>
            <a:srgbClr val="1B2C4A"/>
          </a:solidFill>
          <a:ln w="9525">
            <a:solidFill>
              <a:srgbClr val="334C7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2103120" y="5303520"/>
            <a:ext cx="45720" cy="256032"/>
          </a:xfrm>
          <a:prstGeom prst="rect">
            <a:avLst/>
          </a:prstGeom>
          <a:solidFill>
            <a:srgbClr val="334C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TextBox 103"/>
          <p:cNvSpPr txBox="1"/>
          <p:nvPr/>
        </p:nvSpPr>
        <p:spPr>
          <a:xfrm>
            <a:off x="1371600" y="5605272"/>
            <a:ext cx="1554480" cy="219456"/>
          </a:xfrm>
          <a:prstGeom prst="rect">
            <a:avLst/>
          </a:prstGeom>
          <a:noFill/>
        </p:spPr>
        <p:txBody>
          <a:bodyPr wrap="square" anchor="t" lIns="0" rIns="0" tIns="0" bIns="0">
            <a:spAutoFit/>
          </a:bodyPr>
          <a:lstStyle/>
          <a:p>
            <a:pPr algn="ctr">
              <a:lnSpc>
                <a:spcPct val="120000"/>
              </a:lnSpc>
            </a:pPr>
            <a:r>
              <a:rPr sz="850" b="0" i="0" spc="160">
                <a:solidFill>
                  <a:srgbClr val="5A6A89"/>
                </a:solidFill>
                <a:latin typeface="Helvetica Neue"/>
              </a:rPr>
              <a:t>BODENSTATION</a:t>
            </a:r>
          </a:p>
        </p:txBody>
      </p:sp>
      <p:sp>
        <p:nvSpPr>
          <p:cNvPr id="105" name="TextBox 104"/>
          <p:cNvSpPr txBox="1"/>
          <p:nvPr/>
        </p:nvSpPr>
        <p:spPr>
          <a:xfrm>
            <a:off x="777240" y="1481328"/>
            <a:ext cx="6949440" cy="237744"/>
          </a:xfrm>
          <a:prstGeom prst="rect">
            <a:avLst/>
          </a:prstGeom>
          <a:noFill/>
        </p:spPr>
        <p:txBody>
          <a:bodyPr wrap="square" anchor="t" lIns="0" rIns="0" tIns="0" bIns="0">
            <a:spAutoFit/>
          </a:bodyPr>
          <a:lstStyle/>
          <a:p>
            <a:pPr algn="l">
              <a:lnSpc>
                <a:spcPct val="120000"/>
              </a:lnSpc>
            </a:pPr>
            <a:r>
              <a:rPr sz="1000" b="1" i="0" spc="160">
                <a:solidFill>
                  <a:srgbClr val="38BDF8"/>
                </a:solidFill>
                <a:latin typeface="Helvetica Neue"/>
              </a:rPr>
              <a:t>QAWARE SCHÜLERPRAKTIKUM 2026</a:t>
            </a:r>
          </a:p>
        </p:txBody>
      </p:sp>
      <p:sp>
        <p:nvSpPr>
          <p:cNvPr id="106" name="TextBox 105"/>
          <p:cNvSpPr txBox="1"/>
          <p:nvPr/>
        </p:nvSpPr>
        <p:spPr>
          <a:xfrm>
            <a:off x="777240" y="1901952"/>
            <a:ext cx="7132320" cy="1371600"/>
          </a:xfrm>
          <a:prstGeom prst="rect">
            <a:avLst/>
          </a:prstGeom>
          <a:noFill/>
        </p:spPr>
        <p:txBody>
          <a:bodyPr wrap="square" anchor="t" lIns="0" rIns="0" tIns="0" bIns="0">
            <a:spAutoFit/>
          </a:bodyPr>
          <a:lstStyle/>
          <a:p>
            <a:pPr algn="l">
              <a:lnSpc>
                <a:spcPct val="95000"/>
              </a:lnSpc>
            </a:pPr>
            <a:r>
              <a:rPr sz="5000" b="1" i="0">
                <a:solidFill>
                  <a:srgbClr val="E8EDF7"/>
                </a:solidFill>
                <a:latin typeface="Helvetica Neue"/>
              </a:rPr>
              <a:t>Satelliten-Telemetrie</a:t>
            </a:r>
          </a:p>
        </p:txBody>
      </p:sp>
      <p:sp>
        <p:nvSpPr>
          <p:cNvPr id="107" name="Rectangle 106"/>
          <p:cNvSpPr/>
          <p:nvPr/>
        </p:nvSpPr>
        <p:spPr>
          <a:xfrm>
            <a:off x="777240" y="3127248"/>
            <a:ext cx="1554480" cy="292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TextBox 107"/>
          <p:cNvSpPr txBox="1"/>
          <p:nvPr/>
        </p:nvSpPr>
        <p:spPr>
          <a:xfrm>
            <a:off x="777240" y="3401568"/>
            <a:ext cx="6309360" cy="1005840"/>
          </a:xfrm>
          <a:prstGeom prst="rect">
            <a:avLst/>
          </a:prstGeom>
          <a:noFill/>
        </p:spPr>
        <p:txBody>
          <a:bodyPr wrap="square" anchor="t" lIns="0" rIns="0" tIns="0" bIns="0">
            <a:spAutoFit/>
          </a:bodyPr>
          <a:lstStyle/>
          <a:p>
            <a:pPr algn="l">
              <a:lnSpc>
                <a:spcPct val="135000"/>
              </a:lnSpc>
            </a:pPr>
            <a:r>
              <a:rPr sz="1700" b="0" i="0">
                <a:solidFill>
                  <a:srgbClr val="8E9DBB"/>
                </a:solidFill>
                <a:latin typeface="Helvetica Neue"/>
              </a:rPr>
              <a:t>Vom Messwert im Orbit bis zur Anzeige am Boden – vier Komponenten, eine Datenstrecke.</a:t>
            </a:r>
          </a:p>
        </p:txBody>
      </p:sp>
      <p:sp>
        <p:nvSpPr>
          <p:cNvPr id="109" name="TextBox 108"/>
          <p:cNvSpPr txBox="1"/>
          <p:nvPr/>
        </p:nvSpPr>
        <p:spPr>
          <a:xfrm>
            <a:off x="777240" y="5815584"/>
            <a:ext cx="5486400" cy="457200"/>
          </a:xfrm>
          <a:prstGeom prst="rect">
            <a:avLst/>
          </a:prstGeom>
          <a:noFill/>
        </p:spPr>
        <p:txBody>
          <a:bodyPr wrap="square" anchor="t" lIns="0" rIns="0" tIns="0" bIns="0">
            <a:spAutoFit/>
          </a:bodyPr>
          <a:lstStyle/>
          <a:p>
            <a:pPr algn="l">
              <a:lnSpc>
                <a:spcPct val="135000"/>
              </a:lnSpc>
            </a:pPr>
            <a:r>
              <a:rPr sz="1050" b="0" i="0">
                <a:solidFill>
                  <a:srgbClr val="5A6A89"/>
                </a:solidFill>
                <a:latin typeface="Helvetica Neue"/>
              </a:rPr>
              <a:t>Team „cooler Teamname“</a:t>
            </a:r>
          </a:p>
          <a:p>
            <a:pPr algn="l">
              <a:lnSpc>
                <a:spcPct val="135000"/>
              </a:lnSpc>
            </a:pPr>
            <a:r>
              <a:rPr sz="1050" b="0" i="0">
                <a:solidFill>
                  <a:srgbClr val="5A6A89"/>
                </a:solidFill>
                <a:latin typeface="Helvetica Neue"/>
              </a:rPr>
              <a:t>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38BDF8"/>
                </a:solidFill>
                <a:latin typeface="Helvetica Neue"/>
              </a:rPr>
              <a:t>AUSGANGSPUNKT</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Die Aufgabe</a:t>
            </a:r>
          </a:p>
        </p:txBody>
      </p:sp>
      <p:sp>
        <p:nvSpPr>
          <p:cNvPr id="5" name="Rectangle 4"/>
          <p:cNvSpPr/>
          <p:nvPr/>
        </p:nvSpPr>
        <p:spPr>
          <a:xfrm>
            <a:off x="777240" y="1316736"/>
            <a:ext cx="1371600" cy="25603"/>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7208355" y="210698"/>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605599" y="151359"/>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11005272" y="520506"/>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2394059" y="747200"/>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4860555" y="87875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15364" y="885180"/>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992996" y="70537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005644" y="966975"/>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3709307" y="119797"/>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5768596" y="748732"/>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667288" y="933692"/>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835370" y="618966"/>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0645587" y="180552"/>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034403" y="327338"/>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9445977" y="87345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6182827" y="444276"/>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505385" y="464127"/>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10949831" y="715044"/>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10375796" y="997600"/>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480988" y="389891"/>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663536" y="284492"/>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3513441" y="149468"/>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777240" y="1691640"/>
            <a:ext cx="3383280" cy="196596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78154" y="1856232"/>
            <a:ext cx="50292" cy="163677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33271" y="1874520"/>
            <a:ext cx="2926080"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Was ankommt</a:t>
            </a:r>
          </a:p>
        </p:txBody>
      </p:sp>
      <p:sp>
        <p:nvSpPr>
          <p:cNvPr id="31" name="TextBox 30"/>
          <p:cNvSpPr txBox="1"/>
          <p:nvPr/>
        </p:nvSpPr>
        <p:spPr>
          <a:xfrm>
            <a:off x="1033271" y="2258568"/>
            <a:ext cx="2926080" cy="1234439"/>
          </a:xfrm>
          <a:prstGeom prst="rect">
            <a:avLst/>
          </a:prstGeom>
          <a:noFill/>
        </p:spPr>
        <p:txBody>
          <a:bodyPr wrap="square" anchor="t" lIns="0" rIns="0" tIns="0" bIns="0">
            <a:spAutoFit/>
          </a:bodyPr>
          <a:lstStyle/>
          <a:p>
            <a:pPr algn="l">
              <a:lnSpc>
                <a:spcPct val="130000"/>
              </a:lnSpc>
              <a:spcAft>
                <a:spcPts val="500"/>
              </a:spcAft>
            </a:pPr>
            <a:r>
              <a:rPr sz="1050" b="0" i="0">
                <a:solidFill>
                  <a:srgbClr val="8E9DBB"/>
                </a:solidFill>
                <a:latin typeface="Helvetica Neue"/>
              </a:rPr>
              <a:t>Ein Satellit sendet Telemetrie in</a:t>
            </a:r>
          </a:p>
          <a:p>
            <a:pPr algn="l">
              <a:lnSpc>
                <a:spcPct val="130000"/>
              </a:lnSpc>
              <a:spcAft>
                <a:spcPts val="500"/>
              </a:spcAft>
            </a:pPr>
            <a:r>
              <a:rPr sz="1050" b="0" i="0">
                <a:solidFill>
                  <a:srgbClr val="8E9DBB"/>
                </a:solidFill>
                <a:latin typeface="Helvetica Neue"/>
              </a:rPr>
              <a:t>unregelmäßigen Abständen.</a:t>
            </a:r>
          </a:p>
          <a:p>
            <a:pPr algn="l">
              <a:lnSpc>
                <a:spcPct val="130000"/>
              </a:lnSpc>
              <a:spcAft>
                <a:spcPts val="500"/>
              </a:spcAft>
            </a:pPr>
            <a:r>
              <a:rPr sz="1050" b="0" i="0">
                <a:solidFill>
                  <a:srgbClr val="8E9DBB"/>
                </a:solidFill>
                <a:latin typeface="Helvetica Neue"/>
              </a:rPr>
              <a:t>Jede Datei enthält die Messung</a:t>
            </a:r>
          </a:p>
          <a:p>
            <a:pPr algn="l">
              <a:lnSpc>
                <a:spcPct val="130000"/>
              </a:lnSpc>
              <a:spcAft>
                <a:spcPts val="500"/>
              </a:spcAft>
            </a:pPr>
            <a:r>
              <a:rPr sz="1050" b="0" i="0">
                <a:solidFill>
                  <a:srgbClr val="8E9DBB"/>
                </a:solidFill>
                <a:latin typeface="Helvetica Neue"/>
              </a:rPr>
              <a:t>genau eines Sensors.</a:t>
            </a:r>
          </a:p>
        </p:txBody>
      </p:sp>
      <p:sp>
        <p:nvSpPr>
          <p:cNvPr id="32" name="Rounded Rectangle 31"/>
          <p:cNvSpPr/>
          <p:nvPr/>
        </p:nvSpPr>
        <p:spPr>
          <a:xfrm>
            <a:off x="4389120" y="1691640"/>
            <a:ext cx="3383280" cy="196596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390034" y="1856232"/>
            <a:ext cx="50292" cy="163677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645152" y="1874520"/>
            <a:ext cx="2926080"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Was zu tun ist</a:t>
            </a:r>
          </a:p>
        </p:txBody>
      </p:sp>
      <p:sp>
        <p:nvSpPr>
          <p:cNvPr id="35" name="TextBox 34"/>
          <p:cNvSpPr txBox="1"/>
          <p:nvPr/>
        </p:nvSpPr>
        <p:spPr>
          <a:xfrm>
            <a:off x="4645152" y="2258568"/>
            <a:ext cx="2926080" cy="1234439"/>
          </a:xfrm>
          <a:prstGeom prst="rect">
            <a:avLst/>
          </a:prstGeom>
          <a:noFill/>
        </p:spPr>
        <p:txBody>
          <a:bodyPr wrap="square" anchor="t" lIns="0" rIns="0" tIns="0" bIns="0">
            <a:spAutoFit/>
          </a:bodyPr>
          <a:lstStyle/>
          <a:p>
            <a:pPr algn="l">
              <a:lnSpc>
                <a:spcPct val="130000"/>
              </a:lnSpc>
              <a:spcAft>
                <a:spcPts val="500"/>
              </a:spcAft>
            </a:pPr>
            <a:r>
              <a:rPr sz="1050" b="0" i="0">
                <a:solidFill>
                  <a:srgbClr val="8E9DBB"/>
                </a:solidFill>
                <a:latin typeface="Helvetica Neue"/>
              </a:rPr>
              <a:t>Daten entgegennehmen, prüfen</a:t>
            </a:r>
          </a:p>
          <a:p>
            <a:pPr algn="l">
              <a:lnSpc>
                <a:spcPct val="130000"/>
              </a:lnSpc>
              <a:spcAft>
                <a:spcPts val="500"/>
              </a:spcAft>
            </a:pPr>
            <a:r>
              <a:rPr sz="1050" b="0" i="0">
                <a:solidFill>
                  <a:srgbClr val="8E9DBB"/>
                </a:solidFill>
                <a:latin typeface="Helvetica Neue"/>
              </a:rPr>
              <a:t>und den Zustand jedes Sensors</a:t>
            </a:r>
          </a:p>
          <a:p>
            <a:pPr algn="l">
              <a:lnSpc>
                <a:spcPct val="130000"/>
              </a:lnSpc>
              <a:spcAft>
                <a:spcPts val="500"/>
              </a:spcAft>
            </a:pPr>
            <a:r>
              <a:rPr sz="1050" b="0" i="0">
                <a:solidFill>
                  <a:srgbClr val="8E9DBB"/>
                </a:solidFill>
                <a:latin typeface="Helvetica Neue"/>
              </a:rPr>
              <a:t>aktuell halten – ohne eine</a:t>
            </a:r>
          </a:p>
          <a:p>
            <a:pPr algn="l">
              <a:lnSpc>
                <a:spcPct val="130000"/>
              </a:lnSpc>
              <a:spcAft>
                <a:spcPts val="500"/>
              </a:spcAft>
            </a:pPr>
            <a:r>
              <a:rPr sz="1050" b="0" i="0">
                <a:solidFill>
                  <a:srgbClr val="8E9DBB"/>
                </a:solidFill>
                <a:latin typeface="Helvetica Neue"/>
              </a:rPr>
              <a:t>Datei doppelt zu verarbeiten.</a:t>
            </a:r>
          </a:p>
        </p:txBody>
      </p:sp>
      <p:sp>
        <p:nvSpPr>
          <p:cNvPr id="36" name="Rounded Rectangle 35"/>
          <p:cNvSpPr/>
          <p:nvPr/>
        </p:nvSpPr>
        <p:spPr>
          <a:xfrm>
            <a:off x="8001000" y="1691640"/>
            <a:ext cx="3410712" cy="196596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8001914" y="1856232"/>
            <a:ext cx="50292" cy="163677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257031" y="1874520"/>
            <a:ext cx="2953512"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Wer es braucht</a:t>
            </a:r>
          </a:p>
        </p:txBody>
      </p:sp>
      <p:sp>
        <p:nvSpPr>
          <p:cNvPr id="39" name="TextBox 38"/>
          <p:cNvSpPr txBox="1"/>
          <p:nvPr/>
        </p:nvSpPr>
        <p:spPr>
          <a:xfrm>
            <a:off x="8257031" y="2258568"/>
            <a:ext cx="2953512" cy="1234439"/>
          </a:xfrm>
          <a:prstGeom prst="rect">
            <a:avLst/>
          </a:prstGeom>
          <a:noFill/>
        </p:spPr>
        <p:txBody>
          <a:bodyPr wrap="square" anchor="t" lIns="0" rIns="0" tIns="0" bIns="0">
            <a:spAutoFit/>
          </a:bodyPr>
          <a:lstStyle/>
          <a:p>
            <a:pPr algn="l">
              <a:lnSpc>
                <a:spcPct val="130000"/>
              </a:lnSpc>
              <a:spcAft>
                <a:spcPts val="500"/>
              </a:spcAft>
            </a:pPr>
            <a:r>
              <a:rPr sz="1050" b="0" i="0">
                <a:solidFill>
                  <a:srgbClr val="8E9DBB"/>
                </a:solidFill>
                <a:latin typeface="Helvetica Neue"/>
              </a:rPr>
              <a:t>Ein Space Controller sieht alle</a:t>
            </a:r>
          </a:p>
          <a:p>
            <a:pPr algn="l">
              <a:lnSpc>
                <a:spcPct val="130000"/>
              </a:lnSpc>
              <a:spcAft>
                <a:spcPts val="500"/>
              </a:spcAft>
            </a:pPr>
            <a:r>
              <a:rPr sz="1050" b="0" i="0">
                <a:solidFill>
                  <a:srgbClr val="8E9DBB"/>
                </a:solidFill>
                <a:latin typeface="Helvetica Neue"/>
              </a:rPr>
              <a:t>aktuellen Werte auf einen Blick</a:t>
            </a:r>
          </a:p>
          <a:p>
            <a:pPr algn="l">
              <a:lnSpc>
                <a:spcPct val="130000"/>
              </a:lnSpc>
              <a:spcAft>
                <a:spcPts val="500"/>
              </a:spcAft>
            </a:pPr>
            <a:r>
              <a:rPr sz="1050" b="0" i="0">
                <a:solidFill>
                  <a:srgbClr val="8E9DBB"/>
                </a:solidFill>
                <a:latin typeface="Helvetica Neue"/>
              </a:rPr>
              <a:t>und kann den Verlauf eines</a:t>
            </a:r>
          </a:p>
          <a:p>
            <a:pPr algn="l">
              <a:lnSpc>
                <a:spcPct val="130000"/>
              </a:lnSpc>
              <a:spcAft>
                <a:spcPts val="500"/>
              </a:spcAft>
            </a:pPr>
            <a:r>
              <a:rPr sz="1050" b="0" i="0">
                <a:solidFill>
                  <a:srgbClr val="8E9DBB"/>
                </a:solidFill>
                <a:latin typeface="Helvetica Neue"/>
              </a:rPr>
              <a:t>Sensors nachvollziehen.</a:t>
            </a:r>
          </a:p>
        </p:txBody>
      </p:sp>
      <p:sp>
        <p:nvSpPr>
          <p:cNvPr id="40" name="TextBox 39"/>
          <p:cNvSpPr txBox="1"/>
          <p:nvPr/>
        </p:nvSpPr>
        <p:spPr>
          <a:xfrm>
            <a:off x="777240" y="3977639"/>
            <a:ext cx="10637215" cy="274320"/>
          </a:xfrm>
          <a:prstGeom prst="rect">
            <a:avLst/>
          </a:prstGeom>
          <a:noFill/>
        </p:spPr>
        <p:txBody>
          <a:bodyPr wrap="square" anchor="t" lIns="0" rIns="0" tIns="0" bIns="0">
            <a:spAutoFit/>
          </a:bodyPr>
          <a:lstStyle/>
          <a:p>
            <a:pPr algn="l">
              <a:lnSpc>
                <a:spcPct val="120000"/>
              </a:lnSpc>
            </a:pPr>
            <a:r>
              <a:rPr sz="950" b="1" i="0" spc="160">
                <a:solidFill>
                  <a:srgbClr val="5A6A89"/>
                </a:solidFill>
                <a:latin typeface="Helvetica Neue"/>
              </a:rPr>
              <a:t>EIN DATENSATZ, WIE ER IM AUFGABENBLATT STEHT</a:t>
            </a:r>
          </a:p>
        </p:txBody>
      </p:sp>
      <p:sp>
        <p:nvSpPr>
          <p:cNvPr id="41" name="Rounded Rectangle 40"/>
          <p:cNvSpPr/>
          <p:nvPr/>
        </p:nvSpPr>
        <p:spPr>
          <a:xfrm>
            <a:off x="777240" y="4279392"/>
            <a:ext cx="5760720" cy="1532763"/>
          </a:xfrm>
          <a:prstGeom prst="roundRect">
            <a:avLst>
              <a:gd name="adj" fmla="val 4500"/>
            </a:avLst>
          </a:prstGeom>
          <a:solidFill>
            <a:srgbClr val="0A1121"/>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778154" y="4407407"/>
            <a:ext cx="41148" cy="1276731"/>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14983" y="4425696"/>
            <a:ext cx="5349240" cy="1258443"/>
          </a:xfrm>
          <a:prstGeom prst="rect">
            <a:avLst/>
          </a:prstGeom>
          <a:noFill/>
        </p:spPr>
        <p:txBody>
          <a:bodyPr wrap="square" anchor="t" lIns="0" rIns="0" tIns="0" bIns="0">
            <a:spAutoFit/>
          </a:bodyPr>
          <a:lstStyle/>
          <a:p>
            <a:pPr algn="l">
              <a:lnSpc>
                <a:spcPct val="135000"/>
              </a:lnSpc>
            </a:pPr>
            <a:r>
              <a:rPr sz="1050" b="0" i="0">
                <a:solidFill>
                  <a:srgbClr val="C7D6EE"/>
                </a:solidFill>
                <a:latin typeface="Menlo"/>
              </a:rPr>
              <a:t>{</a:t>
            </a:r>
          </a:p>
          <a:p>
            <a:pPr algn="l">
              <a:lnSpc>
                <a:spcPct val="135000"/>
              </a:lnSpc>
            </a:pPr>
            <a:r>
              <a:rPr sz="1050" b="0" i="0">
                <a:solidFill>
                  <a:srgbClr val="C7D6EE"/>
                </a:solidFill>
                <a:latin typeface="Menlo"/>
              </a:rPr>
              <a:t>    "type":        "thruster",</a:t>
            </a:r>
          </a:p>
          <a:p>
            <a:pPr algn="l">
              <a:lnSpc>
                <a:spcPct val="135000"/>
              </a:lnSpc>
            </a:pPr>
            <a:r>
              <a:rPr sz="1050" b="0" i="0">
                <a:solidFill>
                  <a:srgbClr val="C7D6EE"/>
                </a:solidFill>
                <a:latin typeface="Menlo"/>
              </a:rPr>
              <a:t>    "name":        "thruster_1.a",</a:t>
            </a:r>
          </a:p>
          <a:p>
            <a:pPr algn="l">
              <a:lnSpc>
                <a:spcPct val="135000"/>
              </a:lnSpc>
            </a:pPr>
            <a:r>
              <a:rPr sz="1050" b="0" i="0">
                <a:solidFill>
                  <a:srgbClr val="C7D6EE"/>
                </a:solidFill>
                <a:latin typeface="Menlo"/>
              </a:rPr>
              <a:t>    "pressure":    3.345,</a:t>
            </a:r>
          </a:p>
          <a:p>
            <a:pPr algn="l">
              <a:lnSpc>
                <a:spcPct val="135000"/>
              </a:lnSpc>
            </a:pPr>
            <a:r>
              <a:rPr sz="1050" b="0" i="0">
                <a:solidFill>
                  <a:srgbClr val="C7D6EE"/>
                </a:solidFill>
                <a:latin typeface="Menlo"/>
              </a:rPr>
              <a:t>    "temperature": 432.21</a:t>
            </a:r>
          </a:p>
          <a:p>
            <a:pPr algn="l">
              <a:lnSpc>
                <a:spcPct val="135000"/>
              </a:lnSpc>
            </a:pPr>
            <a:r>
              <a:rPr sz="1050" b="0" i="0">
                <a:solidFill>
                  <a:srgbClr val="C7D6EE"/>
                </a:solidFill>
                <a:latin typeface="Menlo"/>
              </a:rPr>
              <a:t>}</a:t>
            </a:r>
          </a:p>
        </p:txBody>
      </p:sp>
      <p:sp>
        <p:nvSpPr>
          <p:cNvPr id="44" name="Rounded Rectangle 43"/>
          <p:cNvSpPr/>
          <p:nvPr/>
        </p:nvSpPr>
        <p:spPr>
          <a:xfrm>
            <a:off x="6812279" y="4279392"/>
            <a:ext cx="4599432" cy="1572768"/>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813194" y="4443983"/>
            <a:ext cx="50292" cy="124358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068312" y="4462272"/>
            <a:ext cx="4142232" cy="274320"/>
          </a:xfrm>
          <a:prstGeom prst="rect">
            <a:avLst/>
          </a:prstGeom>
          <a:noFill/>
        </p:spPr>
        <p:txBody>
          <a:bodyPr wrap="square" anchor="t" lIns="0" rIns="0" tIns="0" bIns="0">
            <a:spAutoFit/>
          </a:bodyPr>
          <a:lstStyle/>
          <a:p>
            <a:pPr algn="l">
              <a:lnSpc>
                <a:spcPct val="120000"/>
              </a:lnSpc>
            </a:pPr>
            <a:r>
              <a:rPr sz="1150" b="1" i="0">
                <a:solidFill>
                  <a:srgbClr val="E8EDF7"/>
                </a:solidFill>
                <a:latin typeface="Helvetica Neue"/>
              </a:rPr>
              <a:t>Der Zeitstempel fehlt im Inhalt</a:t>
            </a:r>
          </a:p>
        </p:txBody>
      </p:sp>
      <p:sp>
        <p:nvSpPr>
          <p:cNvPr id="47" name="TextBox 46"/>
          <p:cNvSpPr txBox="1"/>
          <p:nvPr/>
        </p:nvSpPr>
        <p:spPr>
          <a:xfrm>
            <a:off x="7068312" y="4846320"/>
            <a:ext cx="4142232" cy="841247"/>
          </a:xfrm>
          <a:prstGeom prst="rect">
            <a:avLst/>
          </a:prstGeom>
          <a:noFill/>
        </p:spPr>
        <p:txBody>
          <a:bodyPr wrap="square" anchor="t" lIns="0" rIns="0" tIns="0" bIns="0">
            <a:spAutoFit/>
          </a:bodyPr>
          <a:lstStyle/>
          <a:p>
            <a:pPr algn="l">
              <a:lnSpc>
                <a:spcPct val="130000"/>
              </a:lnSpc>
              <a:spcAft>
                <a:spcPts val="500"/>
              </a:spcAft>
            </a:pPr>
            <a:r>
              <a:rPr sz="1050" b="0" i="0">
                <a:solidFill>
                  <a:srgbClr val="8E9DBB"/>
                </a:solidFill>
                <a:latin typeface="Helvetica Neue"/>
              </a:rPr>
              <a:t>Er steckt im Dateinamen:</a:t>
            </a:r>
          </a:p>
          <a:p>
            <a:pPr algn="l">
              <a:lnSpc>
                <a:spcPct val="130000"/>
              </a:lnSpc>
              <a:spcAft>
                <a:spcPts val="500"/>
              </a:spcAft>
            </a:pPr>
            <a:r>
              <a:rPr sz="1050" b="0" i="0">
                <a:solidFill>
                  <a:srgbClr val="8E9DBB"/>
                </a:solidFill>
                <a:latin typeface="Helvetica Neue"/>
              </a:rPr>
              <a:t>TM_20260806_143000.json</a:t>
            </a:r>
          </a:p>
          <a:p>
            <a:pPr algn="l">
              <a:lnSpc>
                <a:spcPct val="130000"/>
              </a:lnSpc>
              <a:spcAft>
                <a:spcPts val="500"/>
              </a:spcAft>
            </a:pPr>
            <a:r>
              <a:rPr sz="1050" b="0" i="0">
                <a:solidFill>
                  <a:srgbClr val="8E9DBB"/>
                </a:solidFill>
                <a:latin typeface="Helvetica Neue"/>
              </a:rPr>
              <a:t>Die Bodenstation muss ihn herauslösen.</a:t>
            </a:r>
          </a:p>
        </p:txBody>
      </p:sp>
      <p:sp>
        <p:nvSpPr>
          <p:cNvPr id="48" name="TextBox 47"/>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49" name="TextBox 48"/>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38BDF8"/>
                </a:solidFill>
                <a:latin typeface="Helvetica Neue"/>
              </a:rPr>
              <a:t>ÜBERBLICK</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Architektur</a:t>
            </a:r>
          </a:p>
        </p:txBody>
      </p:sp>
      <p:sp>
        <p:nvSpPr>
          <p:cNvPr id="5" name="Rectangle 4"/>
          <p:cNvSpPr/>
          <p:nvPr/>
        </p:nvSpPr>
        <p:spPr>
          <a:xfrm>
            <a:off x="777240" y="1316736"/>
            <a:ext cx="1371600" cy="25603"/>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22960" y="1920240"/>
            <a:ext cx="1865376" cy="14173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823874" y="2066544"/>
            <a:ext cx="45720" cy="112471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42416" y="2121408"/>
            <a:ext cx="1499616" cy="256032"/>
          </a:xfrm>
          <a:prstGeom prst="rect">
            <a:avLst/>
          </a:prstGeom>
          <a:noFill/>
        </p:spPr>
        <p:txBody>
          <a:bodyPr wrap="square" anchor="t" lIns="0" rIns="0" tIns="0" bIns="0">
            <a:spAutoFit/>
          </a:bodyPr>
          <a:lstStyle/>
          <a:p>
            <a:pPr algn="l">
              <a:lnSpc>
                <a:spcPct val="120000"/>
              </a:lnSpc>
            </a:pPr>
            <a:r>
              <a:rPr sz="1250" b="1" i="0">
                <a:solidFill>
                  <a:srgbClr val="E8EDF7"/>
                </a:solidFill>
                <a:latin typeface="Helvetica Neue"/>
              </a:rPr>
              <a:t>Satellit</a:t>
            </a:r>
          </a:p>
        </p:txBody>
      </p:sp>
      <p:sp>
        <p:nvSpPr>
          <p:cNvPr id="9" name="TextBox 8"/>
          <p:cNvSpPr txBox="1"/>
          <p:nvPr/>
        </p:nvSpPr>
        <p:spPr>
          <a:xfrm>
            <a:off x="1042416" y="2450592"/>
            <a:ext cx="1499616" cy="219456"/>
          </a:xfrm>
          <a:prstGeom prst="rect">
            <a:avLst/>
          </a:prstGeom>
          <a:noFill/>
        </p:spPr>
        <p:txBody>
          <a:bodyPr wrap="square" anchor="t" lIns="0" rIns="0" tIns="0" bIns="0">
            <a:spAutoFit/>
          </a:bodyPr>
          <a:lstStyle/>
          <a:p>
            <a:pPr algn="l">
              <a:lnSpc>
                <a:spcPct val="120000"/>
              </a:lnSpc>
            </a:pPr>
            <a:r>
              <a:rPr sz="850" b="0" i="0">
                <a:solidFill>
                  <a:srgbClr val="38BDF8"/>
                </a:solidFill>
                <a:latin typeface="Menlo"/>
              </a:rPr>
              <a:t>tools/DataGenerator.py</a:t>
            </a:r>
          </a:p>
        </p:txBody>
      </p:sp>
      <p:sp>
        <p:nvSpPr>
          <p:cNvPr id="10" name="TextBox 9"/>
          <p:cNvSpPr txBox="1"/>
          <p:nvPr/>
        </p:nvSpPr>
        <p:spPr>
          <a:xfrm>
            <a:off x="1042416" y="2761488"/>
            <a:ext cx="1499616" cy="411480"/>
          </a:xfrm>
          <a:prstGeom prst="rect">
            <a:avLst/>
          </a:prstGeom>
          <a:noFill/>
        </p:spPr>
        <p:txBody>
          <a:bodyPr wrap="square" anchor="t" lIns="0" rIns="0" tIns="0" bIns="0">
            <a:spAutoFit/>
          </a:bodyPr>
          <a:lstStyle/>
          <a:p>
            <a:pPr algn="l">
              <a:lnSpc>
                <a:spcPct val="115000"/>
              </a:lnSpc>
            </a:pPr>
            <a:r>
              <a:rPr sz="950" b="0" i="0">
                <a:solidFill>
                  <a:srgbClr val="8E9DBB"/>
                </a:solidFill>
                <a:latin typeface="Helvetica Neue"/>
              </a:rPr>
              <a:t>erzeugt Messwerte</a:t>
            </a:r>
          </a:p>
        </p:txBody>
      </p:sp>
      <p:cxnSp>
        <p:nvCxnSpPr>
          <p:cNvPr id="11" name="Connector 10"/>
          <p:cNvCxnSpPr/>
          <p:nvPr/>
        </p:nvCxnSpPr>
        <p:spPr>
          <a:xfrm>
            <a:off x="2743200" y="2628900"/>
            <a:ext cx="201168" cy="0"/>
          </a:xfrm>
          <a:prstGeom prst="line">
            <a:avLst/>
          </a:prstGeom>
          <a:ln w="1905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99232" y="1920240"/>
            <a:ext cx="1865376" cy="14173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000146" y="2066544"/>
            <a:ext cx="45720" cy="112471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218687" y="2121408"/>
            <a:ext cx="1499616" cy="256032"/>
          </a:xfrm>
          <a:prstGeom prst="rect">
            <a:avLst/>
          </a:prstGeom>
          <a:noFill/>
        </p:spPr>
        <p:txBody>
          <a:bodyPr wrap="square" anchor="t" lIns="0" rIns="0" tIns="0" bIns="0">
            <a:spAutoFit/>
          </a:bodyPr>
          <a:lstStyle/>
          <a:p>
            <a:pPr algn="l">
              <a:lnSpc>
                <a:spcPct val="120000"/>
              </a:lnSpc>
            </a:pPr>
            <a:r>
              <a:rPr sz="1250" b="1" i="0">
                <a:solidFill>
                  <a:srgbClr val="E8EDF7"/>
                </a:solidFill>
                <a:latin typeface="Helvetica Neue"/>
              </a:rPr>
              <a:t>Dateiablage</a:t>
            </a:r>
          </a:p>
        </p:txBody>
      </p:sp>
      <p:sp>
        <p:nvSpPr>
          <p:cNvPr id="15" name="TextBox 14"/>
          <p:cNvSpPr txBox="1"/>
          <p:nvPr/>
        </p:nvSpPr>
        <p:spPr>
          <a:xfrm>
            <a:off x="3218687" y="2450592"/>
            <a:ext cx="1499616" cy="219456"/>
          </a:xfrm>
          <a:prstGeom prst="rect">
            <a:avLst/>
          </a:prstGeom>
          <a:noFill/>
        </p:spPr>
        <p:txBody>
          <a:bodyPr wrap="square" anchor="t" lIns="0" rIns="0" tIns="0" bIns="0">
            <a:spAutoFit/>
          </a:bodyPr>
          <a:lstStyle/>
          <a:p>
            <a:pPr algn="l">
              <a:lnSpc>
                <a:spcPct val="120000"/>
              </a:lnSpc>
            </a:pPr>
            <a:r>
              <a:rPr sz="850" b="0" i="0">
                <a:solidFill>
                  <a:srgbClr val="38BDF8"/>
                </a:solidFill>
                <a:latin typeface="Menlo"/>
              </a:rPr>
              <a:t>data/*.json</a:t>
            </a:r>
          </a:p>
        </p:txBody>
      </p:sp>
      <p:sp>
        <p:nvSpPr>
          <p:cNvPr id="16" name="TextBox 15"/>
          <p:cNvSpPr txBox="1"/>
          <p:nvPr/>
        </p:nvSpPr>
        <p:spPr>
          <a:xfrm>
            <a:off x="3218687" y="2761488"/>
            <a:ext cx="1499616" cy="411480"/>
          </a:xfrm>
          <a:prstGeom prst="rect">
            <a:avLst/>
          </a:prstGeom>
          <a:noFill/>
        </p:spPr>
        <p:txBody>
          <a:bodyPr wrap="square" anchor="t" lIns="0" rIns="0" tIns="0" bIns="0">
            <a:spAutoFit/>
          </a:bodyPr>
          <a:lstStyle/>
          <a:p>
            <a:pPr algn="l">
              <a:lnSpc>
                <a:spcPct val="115000"/>
              </a:lnSpc>
            </a:pPr>
            <a:r>
              <a:rPr sz="950" b="0" i="0">
                <a:solidFill>
                  <a:srgbClr val="8E9DBB"/>
                </a:solidFill>
                <a:latin typeface="Helvetica Neue"/>
              </a:rPr>
              <a:t>Übergabepunkt</a:t>
            </a:r>
          </a:p>
        </p:txBody>
      </p:sp>
      <p:cxnSp>
        <p:nvCxnSpPr>
          <p:cNvPr id="17" name="Connector 16"/>
          <p:cNvCxnSpPr/>
          <p:nvPr/>
        </p:nvCxnSpPr>
        <p:spPr>
          <a:xfrm>
            <a:off x="4919472" y="2628900"/>
            <a:ext cx="201168" cy="0"/>
          </a:xfrm>
          <a:prstGeom prst="line">
            <a:avLst/>
          </a:prstGeom>
          <a:ln w="1905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5504" y="1920240"/>
            <a:ext cx="1865376" cy="14173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176418" y="2066544"/>
            <a:ext cx="45720" cy="112471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94960" y="2121408"/>
            <a:ext cx="1499616" cy="256032"/>
          </a:xfrm>
          <a:prstGeom prst="rect">
            <a:avLst/>
          </a:prstGeom>
          <a:noFill/>
        </p:spPr>
        <p:txBody>
          <a:bodyPr wrap="square" anchor="t" lIns="0" rIns="0" tIns="0" bIns="0">
            <a:spAutoFit/>
          </a:bodyPr>
          <a:lstStyle/>
          <a:p>
            <a:pPr algn="l">
              <a:lnSpc>
                <a:spcPct val="120000"/>
              </a:lnSpc>
            </a:pPr>
            <a:r>
              <a:rPr sz="1250" b="1" i="0">
                <a:solidFill>
                  <a:srgbClr val="E8EDF7"/>
                </a:solidFill>
                <a:latin typeface="Helvetica Neue"/>
              </a:rPr>
              <a:t>Bodenstation</a:t>
            </a:r>
          </a:p>
        </p:txBody>
      </p:sp>
      <p:sp>
        <p:nvSpPr>
          <p:cNvPr id="21" name="TextBox 20"/>
          <p:cNvSpPr txBox="1"/>
          <p:nvPr/>
        </p:nvSpPr>
        <p:spPr>
          <a:xfrm>
            <a:off x="5394960" y="2450592"/>
            <a:ext cx="1499616" cy="219456"/>
          </a:xfrm>
          <a:prstGeom prst="rect">
            <a:avLst/>
          </a:prstGeom>
          <a:noFill/>
        </p:spPr>
        <p:txBody>
          <a:bodyPr wrap="square" anchor="t" lIns="0" rIns="0" tIns="0" bIns="0">
            <a:spAutoFit/>
          </a:bodyPr>
          <a:lstStyle/>
          <a:p>
            <a:pPr algn="l">
              <a:lnSpc>
                <a:spcPct val="120000"/>
              </a:lnSpc>
            </a:pPr>
            <a:r>
              <a:rPr sz="850" b="0" i="0">
                <a:solidFill>
                  <a:srgbClr val="38BDF8"/>
                </a:solidFill>
                <a:latin typeface="Menlo"/>
              </a:rPr>
              <a:t>Bodenstation.py</a:t>
            </a:r>
          </a:p>
        </p:txBody>
      </p:sp>
      <p:sp>
        <p:nvSpPr>
          <p:cNvPr id="22" name="TextBox 21"/>
          <p:cNvSpPr txBox="1"/>
          <p:nvPr/>
        </p:nvSpPr>
        <p:spPr>
          <a:xfrm>
            <a:off x="5394960" y="2761488"/>
            <a:ext cx="1499616" cy="411480"/>
          </a:xfrm>
          <a:prstGeom prst="rect">
            <a:avLst/>
          </a:prstGeom>
          <a:noFill/>
        </p:spPr>
        <p:txBody>
          <a:bodyPr wrap="square" anchor="t" lIns="0" rIns="0" tIns="0" bIns="0">
            <a:spAutoFit/>
          </a:bodyPr>
          <a:lstStyle/>
          <a:p>
            <a:pPr algn="l">
              <a:lnSpc>
                <a:spcPct val="115000"/>
              </a:lnSpc>
            </a:pPr>
            <a:r>
              <a:rPr sz="950" b="0" i="0">
                <a:solidFill>
                  <a:srgbClr val="8E9DBB"/>
                </a:solidFill>
                <a:latin typeface="Helvetica Neue"/>
              </a:rPr>
              <a:t>liest, prüft, sendet</a:t>
            </a:r>
          </a:p>
        </p:txBody>
      </p:sp>
      <p:cxnSp>
        <p:nvCxnSpPr>
          <p:cNvPr id="23" name="Connector 22"/>
          <p:cNvCxnSpPr/>
          <p:nvPr/>
        </p:nvCxnSpPr>
        <p:spPr>
          <a:xfrm>
            <a:off x="7095744" y="2628900"/>
            <a:ext cx="201168" cy="0"/>
          </a:xfrm>
          <a:prstGeom prst="line">
            <a:avLst/>
          </a:prstGeom>
          <a:ln w="1905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51775" y="1920240"/>
            <a:ext cx="1865376" cy="14173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7352690" y="2066544"/>
            <a:ext cx="45720" cy="112471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571231" y="2121408"/>
            <a:ext cx="1499616" cy="256032"/>
          </a:xfrm>
          <a:prstGeom prst="rect">
            <a:avLst/>
          </a:prstGeom>
          <a:noFill/>
        </p:spPr>
        <p:txBody>
          <a:bodyPr wrap="square" anchor="t" lIns="0" rIns="0" tIns="0" bIns="0">
            <a:spAutoFit/>
          </a:bodyPr>
          <a:lstStyle/>
          <a:p>
            <a:pPr algn="l">
              <a:lnSpc>
                <a:spcPct val="120000"/>
              </a:lnSpc>
            </a:pPr>
            <a:r>
              <a:rPr sz="1250" b="1" i="0">
                <a:solidFill>
                  <a:srgbClr val="E8EDF7"/>
                </a:solidFill>
                <a:latin typeface="Helvetica Neue"/>
              </a:rPr>
              <a:t>Verwaltung</a:t>
            </a:r>
          </a:p>
        </p:txBody>
      </p:sp>
      <p:sp>
        <p:nvSpPr>
          <p:cNvPr id="27" name="TextBox 26"/>
          <p:cNvSpPr txBox="1"/>
          <p:nvPr/>
        </p:nvSpPr>
        <p:spPr>
          <a:xfrm>
            <a:off x="7571231" y="2450592"/>
            <a:ext cx="1499616" cy="219456"/>
          </a:xfrm>
          <a:prstGeom prst="rect">
            <a:avLst/>
          </a:prstGeom>
          <a:noFill/>
        </p:spPr>
        <p:txBody>
          <a:bodyPr wrap="square" anchor="t" lIns="0" rIns="0" tIns="0" bIns="0">
            <a:spAutoFit/>
          </a:bodyPr>
          <a:lstStyle/>
          <a:p>
            <a:pPr algn="l">
              <a:lnSpc>
                <a:spcPct val="120000"/>
              </a:lnSpc>
            </a:pPr>
            <a:r>
              <a:rPr sz="850" b="0" i="0">
                <a:solidFill>
                  <a:srgbClr val="A78BFA"/>
                </a:solidFill>
                <a:latin typeface="Menlo"/>
              </a:rPr>
              <a:t>BeispielVerwaltung.py</a:t>
            </a:r>
          </a:p>
        </p:txBody>
      </p:sp>
      <p:sp>
        <p:nvSpPr>
          <p:cNvPr id="28" name="TextBox 27"/>
          <p:cNvSpPr txBox="1"/>
          <p:nvPr/>
        </p:nvSpPr>
        <p:spPr>
          <a:xfrm>
            <a:off x="7571231" y="2761488"/>
            <a:ext cx="1499616" cy="411480"/>
          </a:xfrm>
          <a:prstGeom prst="rect">
            <a:avLst/>
          </a:prstGeom>
          <a:noFill/>
        </p:spPr>
        <p:txBody>
          <a:bodyPr wrap="square" anchor="t" lIns="0" rIns="0" tIns="0" bIns="0">
            <a:spAutoFit/>
          </a:bodyPr>
          <a:lstStyle/>
          <a:p>
            <a:pPr algn="l">
              <a:lnSpc>
                <a:spcPct val="115000"/>
              </a:lnSpc>
            </a:pPr>
            <a:r>
              <a:rPr sz="950" b="0" i="0">
                <a:solidFill>
                  <a:srgbClr val="8E9DBB"/>
                </a:solidFill>
                <a:latin typeface="Helvetica Neue"/>
              </a:rPr>
              <a:t>FastAPI, 4 Routen</a:t>
            </a:r>
          </a:p>
        </p:txBody>
      </p:sp>
      <p:cxnSp>
        <p:nvCxnSpPr>
          <p:cNvPr id="29" name="Connector 28"/>
          <p:cNvCxnSpPr/>
          <p:nvPr/>
        </p:nvCxnSpPr>
        <p:spPr>
          <a:xfrm>
            <a:off x="9272015" y="2628900"/>
            <a:ext cx="201168" cy="0"/>
          </a:xfrm>
          <a:prstGeom prst="line">
            <a:avLst/>
          </a:prstGeom>
          <a:ln w="1905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28048" y="1920240"/>
            <a:ext cx="1865376" cy="14173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528962" y="2066544"/>
            <a:ext cx="45720" cy="112471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747504" y="2121408"/>
            <a:ext cx="1499616" cy="256032"/>
          </a:xfrm>
          <a:prstGeom prst="rect">
            <a:avLst/>
          </a:prstGeom>
          <a:noFill/>
        </p:spPr>
        <p:txBody>
          <a:bodyPr wrap="square" anchor="t" lIns="0" rIns="0" tIns="0" bIns="0">
            <a:spAutoFit/>
          </a:bodyPr>
          <a:lstStyle/>
          <a:p>
            <a:pPr algn="l">
              <a:lnSpc>
                <a:spcPct val="120000"/>
              </a:lnSpc>
            </a:pPr>
            <a:r>
              <a:rPr sz="1250" b="1" i="0">
                <a:solidFill>
                  <a:srgbClr val="E8EDF7"/>
                </a:solidFill>
                <a:latin typeface="Helvetica Neue"/>
              </a:rPr>
              <a:t>Datenbank</a:t>
            </a:r>
          </a:p>
        </p:txBody>
      </p:sp>
      <p:sp>
        <p:nvSpPr>
          <p:cNvPr id="33" name="TextBox 32"/>
          <p:cNvSpPr txBox="1"/>
          <p:nvPr/>
        </p:nvSpPr>
        <p:spPr>
          <a:xfrm>
            <a:off x="9747504" y="2450592"/>
            <a:ext cx="1499616" cy="219456"/>
          </a:xfrm>
          <a:prstGeom prst="rect">
            <a:avLst/>
          </a:prstGeom>
          <a:noFill/>
        </p:spPr>
        <p:txBody>
          <a:bodyPr wrap="square" anchor="t" lIns="0" rIns="0" tIns="0" bIns="0">
            <a:spAutoFit/>
          </a:bodyPr>
          <a:lstStyle/>
          <a:p>
            <a:pPr algn="l">
              <a:lnSpc>
                <a:spcPct val="120000"/>
              </a:lnSpc>
            </a:pPr>
            <a:r>
              <a:rPr sz="850" b="0" i="0">
                <a:solidFill>
                  <a:srgbClr val="34D399"/>
                </a:solidFill>
                <a:latin typeface="Menlo"/>
              </a:rPr>
              <a:t>MongoDB</a:t>
            </a:r>
          </a:p>
        </p:txBody>
      </p:sp>
      <p:sp>
        <p:nvSpPr>
          <p:cNvPr id="34" name="TextBox 33"/>
          <p:cNvSpPr txBox="1"/>
          <p:nvPr/>
        </p:nvSpPr>
        <p:spPr>
          <a:xfrm>
            <a:off x="9747504" y="2761488"/>
            <a:ext cx="1499616" cy="411480"/>
          </a:xfrm>
          <a:prstGeom prst="rect">
            <a:avLst/>
          </a:prstGeom>
          <a:noFill/>
        </p:spPr>
        <p:txBody>
          <a:bodyPr wrap="square" anchor="t" lIns="0" rIns="0" tIns="0" bIns="0">
            <a:spAutoFit/>
          </a:bodyPr>
          <a:lstStyle/>
          <a:p>
            <a:pPr algn="l">
              <a:lnSpc>
                <a:spcPct val="115000"/>
              </a:lnSpc>
            </a:pPr>
            <a:r>
              <a:rPr sz="950" b="0" i="0">
                <a:solidFill>
                  <a:srgbClr val="8E9DBB"/>
                </a:solidFill>
                <a:latin typeface="Helvetica Neue"/>
              </a:rPr>
              <a:t>2 Collections</a:t>
            </a:r>
          </a:p>
        </p:txBody>
      </p:sp>
      <p:sp>
        <p:nvSpPr>
          <p:cNvPr id="35" name="TextBox 34"/>
          <p:cNvSpPr txBox="1"/>
          <p:nvPr/>
        </p:nvSpPr>
        <p:spPr>
          <a:xfrm>
            <a:off x="2432304" y="2244852"/>
            <a:ext cx="822960" cy="219456"/>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JSON-Datei</a:t>
            </a:r>
          </a:p>
        </p:txBody>
      </p:sp>
      <p:sp>
        <p:nvSpPr>
          <p:cNvPr id="36" name="TextBox 35"/>
          <p:cNvSpPr txBox="1"/>
          <p:nvPr/>
        </p:nvSpPr>
        <p:spPr>
          <a:xfrm>
            <a:off x="4608576" y="2244852"/>
            <a:ext cx="822960" cy="219456"/>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liest &amp; prüft</a:t>
            </a:r>
          </a:p>
        </p:txBody>
      </p:sp>
      <p:sp>
        <p:nvSpPr>
          <p:cNvPr id="37" name="TextBox 36"/>
          <p:cNvSpPr txBox="1"/>
          <p:nvPr/>
        </p:nvSpPr>
        <p:spPr>
          <a:xfrm>
            <a:off x="6784848" y="2244852"/>
            <a:ext cx="822960" cy="219456"/>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HTTP POST</a:t>
            </a:r>
          </a:p>
        </p:txBody>
      </p:sp>
      <p:sp>
        <p:nvSpPr>
          <p:cNvPr id="38" name="TextBox 37"/>
          <p:cNvSpPr txBox="1"/>
          <p:nvPr/>
        </p:nvSpPr>
        <p:spPr>
          <a:xfrm>
            <a:off x="8961119" y="2244852"/>
            <a:ext cx="822960" cy="219456"/>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Motor, async</a:t>
            </a:r>
          </a:p>
        </p:txBody>
      </p:sp>
      <p:sp>
        <p:nvSpPr>
          <p:cNvPr id="39" name="Rounded Rectangle 38"/>
          <p:cNvSpPr/>
          <p:nvPr/>
        </p:nvSpPr>
        <p:spPr>
          <a:xfrm>
            <a:off x="7351775" y="4315968"/>
            <a:ext cx="4041648" cy="11887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7352690" y="4462272"/>
            <a:ext cx="45720" cy="896112"/>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571231" y="4443984"/>
            <a:ext cx="2194560" cy="256032"/>
          </a:xfrm>
          <a:prstGeom prst="rect">
            <a:avLst/>
          </a:prstGeom>
          <a:noFill/>
        </p:spPr>
        <p:txBody>
          <a:bodyPr wrap="square" anchor="t" lIns="0" rIns="0" tIns="0" bIns="0">
            <a:spAutoFit/>
          </a:bodyPr>
          <a:lstStyle/>
          <a:p>
            <a:pPr algn="l">
              <a:lnSpc>
                <a:spcPct val="120000"/>
              </a:lnSpc>
            </a:pPr>
            <a:r>
              <a:rPr sz="1250" b="1" i="0">
                <a:solidFill>
                  <a:srgbClr val="E8EDF7"/>
                </a:solidFill>
                <a:latin typeface="Helvetica Neue"/>
              </a:rPr>
              <a:t>Frontend</a:t>
            </a:r>
          </a:p>
        </p:txBody>
      </p:sp>
      <p:sp>
        <p:nvSpPr>
          <p:cNvPr id="42" name="TextBox 41"/>
          <p:cNvSpPr txBox="1"/>
          <p:nvPr/>
        </p:nvSpPr>
        <p:spPr>
          <a:xfrm>
            <a:off x="7571231" y="4754880"/>
            <a:ext cx="2560320" cy="219456"/>
          </a:xfrm>
          <a:prstGeom prst="rect">
            <a:avLst/>
          </a:prstGeom>
          <a:noFill/>
        </p:spPr>
        <p:txBody>
          <a:bodyPr wrap="square" anchor="t" lIns="0" rIns="0" tIns="0" bIns="0">
            <a:spAutoFit/>
          </a:bodyPr>
          <a:lstStyle/>
          <a:p>
            <a:pPr algn="l">
              <a:lnSpc>
                <a:spcPct val="120000"/>
              </a:lnSpc>
            </a:pPr>
            <a:r>
              <a:rPr sz="850" b="0" i="0">
                <a:solidFill>
                  <a:srgbClr val="FBBF24"/>
                </a:solidFill>
                <a:latin typeface="Menlo"/>
              </a:rPr>
              <a:t>webapp/  ·  React 19 + Vite</a:t>
            </a:r>
          </a:p>
        </p:txBody>
      </p:sp>
      <p:sp>
        <p:nvSpPr>
          <p:cNvPr id="43" name="Rounded Rectangle 42"/>
          <p:cNvSpPr/>
          <p:nvPr/>
        </p:nvSpPr>
        <p:spPr>
          <a:xfrm>
            <a:off x="7571231" y="5047488"/>
            <a:ext cx="713232" cy="219456"/>
          </a:xfrm>
          <a:prstGeom prst="roundRect">
            <a:avLst>
              <a:gd name="adj" fmla="val 30000"/>
            </a:avLst>
          </a:prstGeom>
          <a:solidFill>
            <a:srgbClr val="141D33"/>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571231" y="5088636"/>
            <a:ext cx="713232" cy="164592"/>
          </a:xfrm>
          <a:prstGeom prst="rect">
            <a:avLst/>
          </a:prstGeom>
          <a:noFill/>
        </p:spPr>
        <p:txBody>
          <a:bodyPr wrap="square" anchor="t" lIns="0" rIns="0" tIns="0" bIns="0">
            <a:spAutoFit/>
          </a:bodyPr>
          <a:lstStyle/>
          <a:p>
            <a:pPr algn="ctr">
              <a:lnSpc>
                <a:spcPct val="120000"/>
              </a:lnSpc>
            </a:pPr>
            <a:r>
              <a:rPr sz="800" b="0" i="0">
                <a:solidFill>
                  <a:srgbClr val="FBBF24"/>
                </a:solidFill>
                <a:latin typeface="Helvetica Neue"/>
              </a:rPr>
              <a:t>Startseite</a:t>
            </a:r>
          </a:p>
        </p:txBody>
      </p:sp>
      <p:sp>
        <p:nvSpPr>
          <p:cNvPr id="45" name="Rounded Rectangle 44"/>
          <p:cNvSpPr/>
          <p:nvPr/>
        </p:nvSpPr>
        <p:spPr>
          <a:xfrm>
            <a:off x="8412480" y="5047488"/>
            <a:ext cx="815644" cy="219456"/>
          </a:xfrm>
          <a:prstGeom prst="roundRect">
            <a:avLst>
              <a:gd name="adj" fmla="val 30000"/>
            </a:avLst>
          </a:prstGeom>
          <a:solidFill>
            <a:srgbClr val="141D33"/>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412480" y="5088636"/>
            <a:ext cx="815644" cy="164592"/>
          </a:xfrm>
          <a:prstGeom prst="rect">
            <a:avLst/>
          </a:prstGeom>
          <a:noFill/>
        </p:spPr>
        <p:txBody>
          <a:bodyPr wrap="square" anchor="t" lIns="0" rIns="0" tIns="0" bIns="0">
            <a:spAutoFit/>
          </a:bodyPr>
          <a:lstStyle/>
          <a:p>
            <a:pPr algn="ctr">
              <a:lnSpc>
                <a:spcPct val="120000"/>
              </a:lnSpc>
            </a:pPr>
            <a:r>
              <a:rPr sz="800" b="0" i="0">
                <a:solidFill>
                  <a:srgbClr val="FBBF24"/>
                </a:solidFill>
                <a:latin typeface="Helvetica Neue"/>
              </a:rPr>
              <a:t>Datenansicht</a:t>
            </a:r>
          </a:p>
        </p:txBody>
      </p:sp>
      <p:sp>
        <p:nvSpPr>
          <p:cNvPr id="47" name="TextBox 46"/>
          <p:cNvSpPr txBox="1"/>
          <p:nvPr/>
        </p:nvSpPr>
        <p:spPr>
          <a:xfrm>
            <a:off x="10040111" y="4517136"/>
            <a:ext cx="1280160" cy="548640"/>
          </a:xfrm>
          <a:prstGeom prst="rect">
            <a:avLst/>
          </a:prstGeom>
          <a:noFill/>
        </p:spPr>
        <p:txBody>
          <a:bodyPr wrap="square" anchor="t" lIns="0" rIns="0" tIns="0" bIns="0">
            <a:spAutoFit/>
          </a:bodyPr>
          <a:lstStyle/>
          <a:p>
            <a:pPr algn="l">
              <a:lnSpc>
                <a:spcPct val="120000"/>
              </a:lnSpc>
            </a:pPr>
            <a:r>
              <a:rPr sz="950" b="0" i="0">
                <a:solidFill>
                  <a:srgbClr val="8E9DBB"/>
                </a:solidFill>
                <a:latin typeface="Helvetica Neue"/>
              </a:rPr>
              <a:t>fragt alle</a:t>
            </a:r>
          </a:p>
          <a:p>
            <a:pPr algn="l">
              <a:lnSpc>
                <a:spcPct val="120000"/>
              </a:lnSpc>
            </a:pPr>
            <a:r>
              <a:rPr sz="950" b="0" i="0">
                <a:solidFill>
                  <a:srgbClr val="8E9DBB"/>
                </a:solidFill>
                <a:latin typeface="Helvetica Neue"/>
              </a:rPr>
              <a:t>10 Sekunden ab</a:t>
            </a:r>
          </a:p>
        </p:txBody>
      </p:sp>
      <p:cxnSp>
        <p:nvCxnSpPr>
          <p:cNvPr id="48" name="Connector 47"/>
          <p:cNvCxnSpPr/>
          <p:nvPr/>
        </p:nvCxnSpPr>
        <p:spPr>
          <a:xfrm flipV="1">
            <a:off x="8266175" y="3392424"/>
            <a:ext cx="0" cy="886968"/>
          </a:xfrm>
          <a:prstGeom prst="line">
            <a:avLst/>
          </a:prstGeom>
          <a:ln w="1905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394192" y="3456432"/>
            <a:ext cx="2011680" cy="640080"/>
          </a:xfrm>
          <a:prstGeom prst="rect">
            <a:avLst/>
          </a:prstGeom>
          <a:noFill/>
        </p:spPr>
        <p:txBody>
          <a:bodyPr wrap="square" anchor="t" lIns="0" rIns="0" tIns="0" bIns="0">
            <a:spAutoFit/>
          </a:bodyPr>
          <a:lstStyle/>
          <a:p>
            <a:pPr algn="l">
              <a:lnSpc>
                <a:spcPct val="130000"/>
              </a:lnSpc>
            </a:pPr>
            <a:r>
              <a:rPr sz="750" b="0" i="0">
                <a:solidFill>
                  <a:srgbClr val="5A6A89"/>
                </a:solidFill>
                <a:latin typeface="Menlo"/>
              </a:rPr>
              <a:t>GET /data/current</a:t>
            </a:r>
          </a:p>
          <a:p>
            <a:pPr algn="l">
              <a:lnSpc>
                <a:spcPct val="130000"/>
              </a:lnSpc>
            </a:pPr>
            <a:r>
              <a:rPr sz="750" b="0" i="0">
                <a:solidFill>
                  <a:srgbClr val="5A6A89"/>
                </a:solidFill>
                <a:latin typeface="Menlo"/>
              </a:rPr>
              <a:t>GET /data_wsi/</a:t>
            </a:r>
          </a:p>
          <a:p>
            <a:pPr algn="l">
              <a:lnSpc>
                <a:spcPct val="130000"/>
              </a:lnSpc>
            </a:pPr>
            <a:r>
              <a:rPr sz="750" b="0" i="0">
                <a:solidFill>
                  <a:srgbClr val="5A6A89"/>
                </a:solidFill>
                <a:latin typeface="Menlo"/>
              </a:rPr>
              <a:t>GET /data_wsi/{name}</a:t>
            </a:r>
          </a:p>
        </p:txBody>
      </p:sp>
      <p:sp>
        <p:nvSpPr>
          <p:cNvPr id="50" name="Rectangle 49"/>
          <p:cNvSpPr/>
          <p:nvPr/>
        </p:nvSpPr>
        <p:spPr>
          <a:xfrm>
            <a:off x="777240" y="5687568"/>
            <a:ext cx="10637215"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77240" y="5833872"/>
            <a:ext cx="10637215" cy="457200"/>
          </a:xfrm>
          <a:prstGeom prst="rect">
            <a:avLst/>
          </a:prstGeom>
          <a:noFill/>
        </p:spPr>
        <p:txBody>
          <a:bodyPr wrap="square" anchor="t" lIns="0" rIns="0" tIns="0" bIns="0">
            <a:spAutoFit/>
          </a:bodyPr>
          <a:lstStyle/>
          <a:p>
            <a:pPr algn="l">
              <a:lnSpc>
                <a:spcPct val="130000"/>
              </a:lnSpc>
            </a:pPr>
            <a:r>
              <a:rPr sz="1050" b="0" i="0">
                <a:solidFill>
                  <a:srgbClr val="8E9DBB"/>
                </a:solidFill>
                <a:latin typeface="Helvetica Neue"/>
              </a:rPr>
              <a:t>Vier eigenständige Prozesse plus die Datenbank im Container. Der Übergang Satellit → Bodenstation läuft über das Dateisystem, alles danach über HTTP – das Frontend nutzt drei der vier Routen.</a:t>
            </a:r>
          </a:p>
        </p:txBody>
      </p:sp>
      <p:sp>
        <p:nvSpPr>
          <p:cNvPr id="52" name="TextBox 51"/>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53" name="TextBox 52"/>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38BDF8"/>
                </a:solidFill>
                <a:latin typeface="Helvetica Neue"/>
              </a:rPr>
              <a:t>BACKEND · KOMPONENTE 1</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Der Satellit</a:t>
            </a:r>
          </a:p>
        </p:txBody>
      </p:sp>
      <p:sp>
        <p:nvSpPr>
          <p:cNvPr id="5" name="Rectangle 4"/>
          <p:cNvSpPr/>
          <p:nvPr/>
        </p:nvSpPr>
        <p:spPr>
          <a:xfrm>
            <a:off x="777240" y="1316736"/>
            <a:ext cx="1371600" cy="25603"/>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8999422" y="818564"/>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183025" y="800976"/>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884855" y="915223"/>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4556237" y="885546"/>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621363" y="616251"/>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872090" y="464653"/>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1095662" y="791619"/>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9241261" y="157214"/>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1612947" y="93062"/>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2606762" y="288475"/>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0568023" y="355980"/>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566874" y="711248"/>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2273065" y="977088"/>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1698732" y="908677"/>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50472" y="470830"/>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3259508" y="394887"/>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248441" y="738539"/>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813667" y="839892"/>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77240" y="1691640"/>
            <a:ext cx="5120640" cy="1481328"/>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778154" y="1856232"/>
            <a:ext cx="50292" cy="115214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3271" y="1874520"/>
            <a:ext cx="4663440"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13 Sensoren, zwei Typen</a:t>
            </a:r>
          </a:p>
        </p:txBody>
      </p:sp>
      <p:sp>
        <p:nvSpPr>
          <p:cNvPr id="27" name="TextBox 26"/>
          <p:cNvSpPr txBox="1"/>
          <p:nvPr/>
        </p:nvSpPr>
        <p:spPr>
          <a:xfrm>
            <a:off x="1033271" y="2258568"/>
            <a:ext cx="4663440" cy="749808"/>
          </a:xfrm>
          <a:prstGeom prst="rect">
            <a:avLst/>
          </a:prstGeom>
          <a:noFill/>
        </p:spPr>
        <p:txBody>
          <a:bodyPr wrap="square" anchor="t" lIns="0" rIns="0" tIns="0" bIns="0">
            <a:spAutoFit/>
          </a:bodyPr>
          <a:lstStyle/>
          <a:p>
            <a:pPr algn="l">
              <a:lnSpc>
                <a:spcPct val="130000"/>
              </a:lnSpc>
              <a:spcAft>
                <a:spcPts val="500"/>
              </a:spcAft>
            </a:pPr>
            <a:r>
              <a:rPr sz="1050" b="0" i="0">
                <a:solidFill>
                  <a:srgbClr val="8E9DBB"/>
                </a:solidFill>
                <a:latin typeface="Helvetica Neue"/>
              </a:rPr>
              <a:t>9 × thruster  –  thruster_1.a bis thruster_3.c</a:t>
            </a:r>
          </a:p>
          <a:p>
            <a:pPr algn="l">
              <a:lnSpc>
                <a:spcPct val="130000"/>
              </a:lnSpc>
              <a:spcAft>
                <a:spcPts val="500"/>
              </a:spcAft>
            </a:pPr>
            <a:r>
              <a:rPr sz="1050" b="0" i="0">
                <a:solidFill>
                  <a:srgbClr val="8E9DBB"/>
                </a:solidFill>
                <a:latin typeface="Helvetica Neue"/>
              </a:rPr>
              <a:t>4 × gas_valve  –  Sauerstoff- und Wasserstofftanks</a:t>
            </a:r>
          </a:p>
          <a:p>
            <a:pPr algn="l">
              <a:lnSpc>
                <a:spcPct val="130000"/>
              </a:lnSpc>
              <a:spcAft>
                <a:spcPts val="500"/>
              </a:spcAft>
            </a:pPr>
            <a:r>
              <a:rPr sz="1050" b="0" i="0">
                <a:solidFill>
                  <a:srgbClr val="8E9DBB"/>
                </a:solidFill>
                <a:latin typeface="Helvetica Neue"/>
              </a:rPr>
              <a:t>Alle 3 Sekunden meldet sich ein zufällig gewählter Sensor.</a:t>
            </a:r>
          </a:p>
        </p:txBody>
      </p:sp>
      <p:sp>
        <p:nvSpPr>
          <p:cNvPr id="28" name="Rounded Rectangle 27"/>
          <p:cNvSpPr/>
          <p:nvPr/>
        </p:nvSpPr>
        <p:spPr>
          <a:xfrm>
            <a:off x="6172200" y="1691640"/>
            <a:ext cx="5239512" cy="1481328"/>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73114" y="1856232"/>
            <a:ext cx="50292" cy="115214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28232" y="1874520"/>
            <a:ext cx="4782312"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Jede Meldung wird eine Datei</a:t>
            </a:r>
          </a:p>
        </p:txBody>
      </p:sp>
      <p:sp>
        <p:nvSpPr>
          <p:cNvPr id="31" name="TextBox 30"/>
          <p:cNvSpPr txBox="1"/>
          <p:nvPr/>
        </p:nvSpPr>
        <p:spPr>
          <a:xfrm>
            <a:off x="6428232" y="2258568"/>
            <a:ext cx="4782312" cy="749808"/>
          </a:xfrm>
          <a:prstGeom prst="rect">
            <a:avLst/>
          </a:prstGeom>
          <a:noFill/>
        </p:spPr>
        <p:txBody>
          <a:bodyPr wrap="square" anchor="t" lIns="0" rIns="0" tIns="0" bIns="0">
            <a:spAutoFit/>
          </a:bodyPr>
          <a:lstStyle/>
          <a:p>
            <a:pPr algn="l">
              <a:lnSpc>
                <a:spcPct val="130000"/>
              </a:lnSpc>
              <a:spcAft>
                <a:spcPts val="500"/>
              </a:spcAft>
            </a:pPr>
            <a:r>
              <a:rPr sz="1050" b="0" i="0">
                <a:solidFill>
                  <a:srgbClr val="8E9DBB"/>
                </a:solidFill>
                <a:latin typeface="Helvetica Neue"/>
              </a:rPr>
              <a:t>Dateiname:  TM_JJJJMMTT_HHMMSS.json</a:t>
            </a:r>
          </a:p>
          <a:p>
            <a:pPr algn="l">
              <a:lnSpc>
                <a:spcPct val="130000"/>
              </a:lnSpc>
              <a:spcAft>
                <a:spcPts val="500"/>
              </a:spcAft>
            </a:pPr>
            <a:r>
              <a:rPr sz="1050" b="0" i="0">
                <a:solidFill>
                  <a:srgbClr val="8E9DBB"/>
                </a:solidFill>
                <a:latin typeface="Helvetica Neue"/>
              </a:rPr>
              <a:t>Inhalt:  name, type, pressure, temperature</a:t>
            </a:r>
          </a:p>
          <a:p>
            <a:pPr algn="l">
              <a:lnSpc>
                <a:spcPct val="130000"/>
              </a:lnSpc>
              <a:spcAft>
                <a:spcPts val="500"/>
              </a:spcAft>
            </a:pPr>
            <a:r>
              <a:rPr sz="1050" b="0" i="0">
                <a:solidFill>
                  <a:srgbClr val="8E9DBB"/>
                </a:solidFill>
                <a:latin typeface="Helvetica Neue"/>
              </a:rPr>
              <a:t>Abgelegt im Ordner data/ – dem Übergabepunkt.</a:t>
            </a:r>
          </a:p>
        </p:txBody>
      </p:sp>
      <p:sp>
        <p:nvSpPr>
          <p:cNvPr id="32" name="TextBox 31"/>
          <p:cNvSpPr txBox="1"/>
          <p:nvPr/>
        </p:nvSpPr>
        <p:spPr>
          <a:xfrm>
            <a:off x="777240" y="3401568"/>
            <a:ext cx="10637215" cy="274320"/>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DER GENERATOR STÖRT ABSICHTLICH – DIE WAHRSCHEINLICHKEITEN STEHEN IM CODE</a:t>
            </a:r>
          </a:p>
        </p:txBody>
      </p:sp>
      <p:sp>
        <p:nvSpPr>
          <p:cNvPr id="33" name="TextBox 32"/>
          <p:cNvSpPr txBox="1"/>
          <p:nvPr/>
        </p:nvSpPr>
        <p:spPr>
          <a:xfrm>
            <a:off x="777240" y="3712463"/>
            <a:ext cx="1078992"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ANTEIL</a:t>
            </a:r>
          </a:p>
        </p:txBody>
      </p:sp>
      <p:sp>
        <p:nvSpPr>
          <p:cNvPr id="34" name="TextBox 33"/>
          <p:cNvSpPr txBox="1"/>
          <p:nvPr/>
        </p:nvSpPr>
        <p:spPr>
          <a:xfrm>
            <a:off x="1965960" y="3712463"/>
            <a:ext cx="3090672"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WAS PASSIERT</a:t>
            </a:r>
          </a:p>
        </p:txBody>
      </p:sp>
      <p:sp>
        <p:nvSpPr>
          <p:cNvPr id="35" name="TextBox 34"/>
          <p:cNvSpPr txBox="1"/>
          <p:nvPr/>
        </p:nvSpPr>
        <p:spPr>
          <a:xfrm>
            <a:off x="5166360" y="3712463"/>
            <a:ext cx="3913632"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WIE ES AUSSIEHT</a:t>
            </a:r>
          </a:p>
        </p:txBody>
      </p:sp>
      <p:sp>
        <p:nvSpPr>
          <p:cNvPr id="36" name="TextBox 35"/>
          <p:cNvSpPr txBox="1"/>
          <p:nvPr/>
        </p:nvSpPr>
        <p:spPr>
          <a:xfrm>
            <a:off x="9189720" y="3712463"/>
            <a:ext cx="2112264"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WER ES ABFÄNGT</a:t>
            </a:r>
          </a:p>
        </p:txBody>
      </p:sp>
      <p:sp>
        <p:nvSpPr>
          <p:cNvPr id="37" name="Rectangle 36"/>
          <p:cNvSpPr/>
          <p:nvPr/>
        </p:nvSpPr>
        <p:spPr>
          <a:xfrm>
            <a:off x="777240" y="4023359"/>
            <a:ext cx="10634472" cy="12801"/>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67512" y="4050791"/>
            <a:ext cx="10853928" cy="402336"/>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77240" y="4114799"/>
            <a:ext cx="1078992" cy="347472"/>
          </a:xfrm>
          <a:prstGeom prst="rect">
            <a:avLst/>
          </a:prstGeom>
          <a:noFill/>
        </p:spPr>
        <p:txBody>
          <a:bodyPr wrap="square" anchor="t" lIns="0" rIns="0" tIns="0" bIns="0">
            <a:spAutoFit/>
          </a:bodyPr>
          <a:lstStyle/>
          <a:p>
            <a:pPr algn="l">
              <a:lnSpc>
                <a:spcPct val="105000"/>
              </a:lnSpc>
            </a:pPr>
            <a:r>
              <a:rPr sz="1050" b="1" i="0">
                <a:solidFill>
                  <a:srgbClr val="34D399"/>
                </a:solidFill>
                <a:latin typeface="Helvetica Neue"/>
              </a:rPr>
              <a:t>60 %</a:t>
            </a:r>
          </a:p>
        </p:txBody>
      </p:sp>
      <p:sp>
        <p:nvSpPr>
          <p:cNvPr id="40" name="TextBox 39"/>
          <p:cNvSpPr txBox="1"/>
          <p:nvPr/>
        </p:nvSpPr>
        <p:spPr>
          <a:xfrm>
            <a:off x="1965960" y="4114799"/>
            <a:ext cx="3090672"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Alles in Ordnung</a:t>
            </a:r>
          </a:p>
        </p:txBody>
      </p:sp>
      <p:sp>
        <p:nvSpPr>
          <p:cNvPr id="41" name="TextBox 40"/>
          <p:cNvSpPr txBox="1"/>
          <p:nvPr/>
        </p:nvSpPr>
        <p:spPr>
          <a:xfrm>
            <a:off x="5166360" y="4114799"/>
            <a:ext cx="3913632"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Werte in gültigen Bereichen</a:t>
            </a:r>
          </a:p>
        </p:txBody>
      </p:sp>
      <p:sp>
        <p:nvSpPr>
          <p:cNvPr id="42" name="TextBox 41"/>
          <p:cNvSpPr txBox="1"/>
          <p:nvPr/>
        </p:nvSpPr>
        <p:spPr>
          <a:xfrm>
            <a:off x="9189720" y="4114799"/>
            <a:ext cx="2112264"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a:t>
            </a:r>
          </a:p>
        </p:txBody>
      </p:sp>
      <p:sp>
        <p:nvSpPr>
          <p:cNvPr id="43" name="TextBox 42"/>
          <p:cNvSpPr txBox="1"/>
          <p:nvPr/>
        </p:nvSpPr>
        <p:spPr>
          <a:xfrm>
            <a:off x="777240" y="4517136"/>
            <a:ext cx="1078992" cy="347472"/>
          </a:xfrm>
          <a:prstGeom prst="rect">
            <a:avLst/>
          </a:prstGeom>
          <a:noFill/>
        </p:spPr>
        <p:txBody>
          <a:bodyPr wrap="square" anchor="t" lIns="0" rIns="0" tIns="0" bIns="0">
            <a:spAutoFit/>
          </a:bodyPr>
          <a:lstStyle/>
          <a:p>
            <a:pPr algn="l">
              <a:lnSpc>
                <a:spcPct val="105000"/>
              </a:lnSpc>
            </a:pPr>
            <a:r>
              <a:rPr sz="1050" b="1" i="0">
                <a:solidFill>
                  <a:srgbClr val="FBBF24"/>
                </a:solidFill>
                <a:latin typeface="Helvetica Neue"/>
              </a:rPr>
              <a:t>10 %</a:t>
            </a:r>
          </a:p>
        </p:txBody>
      </p:sp>
      <p:sp>
        <p:nvSpPr>
          <p:cNvPr id="44" name="TextBox 43"/>
          <p:cNvSpPr txBox="1"/>
          <p:nvPr/>
        </p:nvSpPr>
        <p:spPr>
          <a:xfrm>
            <a:off x="1965960" y="4517136"/>
            <a:ext cx="3090672"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Unplausible Messwerte</a:t>
            </a:r>
          </a:p>
        </p:txBody>
      </p:sp>
      <p:sp>
        <p:nvSpPr>
          <p:cNvPr id="45" name="TextBox 44"/>
          <p:cNvSpPr txBox="1"/>
          <p:nvPr/>
        </p:nvSpPr>
        <p:spPr>
          <a:xfrm>
            <a:off x="5166360" y="4517136"/>
            <a:ext cx="3913632"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Druck ~2 Mio. bar, −220 K</a:t>
            </a:r>
          </a:p>
        </p:txBody>
      </p:sp>
      <p:sp>
        <p:nvSpPr>
          <p:cNvPr id="46" name="TextBox 45"/>
          <p:cNvSpPr txBox="1"/>
          <p:nvPr/>
        </p:nvSpPr>
        <p:spPr>
          <a:xfrm>
            <a:off x="9189720" y="4517136"/>
            <a:ext cx="2112264"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Wertebereichsprüfung</a:t>
            </a:r>
          </a:p>
        </p:txBody>
      </p:sp>
      <p:sp>
        <p:nvSpPr>
          <p:cNvPr id="47" name="Rectangle 46"/>
          <p:cNvSpPr/>
          <p:nvPr/>
        </p:nvSpPr>
        <p:spPr>
          <a:xfrm>
            <a:off x="667512" y="4855464"/>
            <a:ext cx="10853928" cy="402336"/>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77240" y="4919472"/>
            <a:ext cx="1078992" cy="347472"/>
          </a:xfrm>
          <a:prstGeom prst="rect">
            <a:avLst/>
          </a:prstGeom>
          <a:noFill/>
        </p:spPr>
        <p:txBody>
          <a:bodyPr wrap="square" anchor="t" lIns="0" rIns="0" tIns="0" bIns="0">
            <a:spAutoFit/>
          </a:bodyPr>
          <a:lstStyle/>
          <a:p>
            <a:pPr algn="l">
              <a:lnSpc>
                <a:spcPct val="105000"/>
              </a:lnSpc>
            </a:pPr>
            <a:r>
              <a:rPr sz="1050" b="1" i="0">
                <a:solidFill>
                  <a:srgbClr val="FBBF24"/>
                </a:solidFill>
                <a:latin typeface="Helvetica Neue"/>
              </a:rPr>
              <a:t>10 %</a:t>
            </a:r>
          </a:p>
        </p:txBody>
      </p:sp>
      <p:sp>
        <p:nvSpPr>
          <p:cNvPr id="49" name="TextBox 48"/>
          <p:cNvSpPr txBox="1"/>
          <p:nvPr/>
        </p:nvSpPr>
        <p:spPr>
          <a:xfrm>
            <a:off x="1965960" y="4919472"/>
            <a:ext cx="3090672"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Kaputter Datensatz</a:t>
            </a:r>
          </a:p>
        </p:txBody>
      </p:sp>
      <p:sp>
        <p:nvSpPr>
          <p:cNvPr id="50" name="TextBox 49"/>
          <p:cNvSpPr txBox="1"/>
          <p:nvPr/>
        </p:nvSpPr>
        <p:spPr>
          <a:xfrm>
            <a:off x="5166360" y="4919472"/>
            <a:ext cx="3913632"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überall der Text "Error"</a:t>
            </a:r>
          </a:p>
        </p:txBody>
      </p:sp>
      <p:sp>
        <p:nvSpPr>
          <p:cNvPr id="51" name="TextBox 50"/>
          <p:cNvSpPr txBox="1"/>
          <p:nvPr/>
        </p:nvSpPr>
        <p:spPr>
          <a:xfrm>
            <a:off x="9189720" y="4919472"/>
            <a:ext cx="2112264"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Datentypprüfung</a:t>
            </a:r>
          </a:p>
        </p:txBody>
      </p:sp>
      <p:sp>
        <p:nvSpPr>
          <p:cNvPr id="52" name="TextBox 51"/>
          <p:cNvSpPr txBox="1"/>
          <p:nvPr/>
        </p:nvSpPr>
        <p:spPr>
          <a:xfrm>
            <a:off x="777240" y="5321808"/>
            <a:ext cx="1078992" cy="347472"/>
          </a:xfrm>
          <a:prstGeom prst="rect">
            <a:avLst/>
          </a:prstGeom>
          <a:noFill/>
        </p:spPr>
        <p:txBody>
          <a:bodyPr wrap="square" anchor="t" lIns="0" rIns="0" tIns="0" bIns="0">
            <a:spAutoFit/>
          </a:bodyPr>
          <a:lstStyle/>
          <a:p>
            <a:pPr algn="l">
              <a:lnSpc>
                <a:spcPct val="105000"/>
              </a:lnSpc>
            </a:pPr>
            <a:r>
              <a:rPr sz="1050" b="1" i="0">
                <a:solidFill>
                  <a:srgbClr val="FBBF24"/>
                </a:solidFill>
                <a:latin typeface="Helvetica Neue"/>
              </a:rPr>
              <a:t>20 %</a:t>
            </a:r>
          </a:p>
        </p:txBody>
      </p:sp>
      <p:sp>
        <p:nvSpPr>
          <p:cNvPr id="53" name="TextBox 52"/>
          <p:cNvSpPr txBox="1"/>
          <p:nvPr/>
        </p:nvSpPr>
        <p:spPr>
          <a:xfrm>
            <a:off x="1965960" y="5321808"/>
            <a:ext cx="3090672"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Falsches Dateiformat</a:t>
            </a:r>
          </a:p>
        </p:txBody>
      </p:sp>
      <p:sp>
        <p:nvSpPr>
          <p:cNvPr id="54" name="TextBox 53"/>
          <p:cNvSpPr txBox="1"/>
          <p:nvPr/>
        </p:nvSpPr>
        <p:spPr>
          <a:xfrm>
            <a:off x="5166360" y="5321808"/>
            <a:ext cx="3913632"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.txt, .yaml, .xml, .pdf</a:t>
            </a:r>
          </a:p>
        </p:txBody>
      </p:sp>
      <p:sp>
        <p:nvSpPr>
          <p:cNvPr id="55" name="TextBox 54"/>
          <p:cNvSpPr txBox="1"/>
          <p:nvPr/>
        </p:nvSpPr>
        <p:spPr>
          <a:xfrm>
            <a:off x="9189720" y="5321808"/>
            <a:ext cx="2112264" cy="347472"/>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Endungsprüfung</a:t>
            </a:r>
          </a:p>
        </p:txBody>
      </p:sp>
      <p:sp>
        <p:nvSpPr>
          <p:cNvPr id="56" name="TextBox 55"/>
          <p:cNvSpPr txBox="1"/>
          <p:nvPr/>
        </p:nvSpPr>
        <p:spPr>
          <a:xfrm>
            <a:off x="777240" y="5852160"/>
            <a:ext cx="10637215" cy="365760"/>
          </a:xfrm>
          <a:prstGeom prst="rect">
            <a:avLst/>
          </a:prstGeom>
          <a:noFill/>
        </p:spPr>
        <p:txBody>
          <a:bodyPr wrap="square" anchor="t" lIns="0" rIns="0" tIns="0" bIns="0">
            <a:spAutoFit/>
          </a:bodyPr>
          <a:lstStyle/>
          <a:p>
            <a:pPr algn="l">
              <a:lnSpc>
                <a:spcPct val="130000"/>
              </a:lnSpc>
            </a:pPr>
            <a:r>
              <a:rPr sz="1050" b="0" i="0">
                <a:solidFill>
                  <a:srgbClr val="8E9DBB"/>
                </a:solidFill>
                <a:latin typeface="Helvetica Neue"/>
              </a:rPr>
              <a:t>Rund 40 Prozent der eintreffenden Dateien sind unbrauchbar. Die Bodenstation muss sie erkennen, ohne dabei stehenzubleiben.</a:t>
            </a:r>
          </a:p>
        </p:txBody>
      </p:sp>
      <p:sp>
        <p:nvSpPr>
          <p:cNvPr id="57" name="TextBox 56"/>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58" name="TextBox 57"/>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38BDF8"/>
                </a:solidFill>
                <a:latin typeface="Helvetica Neue"/>
              </a:rPr>
              <a:t>BACKEND · KOMPONENTE 2</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Die Bodenstation</a:t>
            </a:r>
          </a:p>
        </p:txBody>
      </p:sp>
      <p:sp>
        <p:nvSpPr>
          <p:cNvPr id="5" name="Rectangle 4"/>
          <p:cNvSpPr/>
          <p:nvPr/>
        </p:nvSpPr>
        <p:spPr>
          <a:xfrm>
            <a:off x="777240" y="1316736"/>
            <a:ext cx="1371600" cy="25603"/>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22960" y="1691640"/>
            <a:ext cx="1865376" cy="1170432"/>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42416" y="1856232"/>
            <a:ext cx="457200" cy="274320"/>
          </a:xfrm>
          <a:prstGeom prst="rect">
            <a:avLst/>
          </a:prstGeom>
          <a:noFill/>
        </p:spPr>
        <p:txBody>
          <a:bodyPr wrap="square" anchor="t" lIns="0" rIns="0" tIns="0" bIns="0">
            <a:spAutoFit/>
          </a:bodyPr>
          <a:lstStyle/>
          <a:p>
            <a:pPr algn="l">
              <a:lnSpc>
                <a:spcPct val="120000"/>
              </a:lnSpc>
            </a:pPr>
            <a:r>
              <a:rPr sz="1300" b="1" i="0">
                <a:solidFill>
                  <a:srgbClr val="38BDF8"/>
                </a:solidFill>
                <a:latin typeface="Helvetica Neue"/>
              </a:rPr>
              <a:t>1</a:t>
            </a:r>
          </a:p>
        </p:txBody>
      </p:sp>
      <p:sp>
        <p:nvSpPr>
          <p:cNvPr id="8" name="TextBox 7"/>
          <p:cNvSpPr txBox="1"/>
          <p:nvPr/>
        </p:nvSpPr>
        <p:spPr>
          <a:xfrm>
            <a:off x="1042416" y="2167128"/>
            <a:ext cx="1499616" cy="237744"/>
          </a:xfrm>
          <a:prstGeom prst="rect">
            <a:avLst/>
          </a:prstGeom>
          <a:noFill/>
        </p:spPr>
        <p:txBody>
          <a:bodyPr wrap="square" anchor="t" lIns="0" rIns="0" tIns="0" bIns="0">
            <a:spAutoFit/>
          </a:bodyPr>
          <a:lstStyle/>
          <a:p>
            <a:pPr algn="l">
              <a:lnSpc>
                <a:spcPct val="120000"/>
              </a:lnSpc>
            </a:pPr>
            <a:r>
              <a:rPr sz="1150" b="1" i="0">
                <a:solidFill>
                  <a:srgbClr val="E8EDF7"/>
                </a:solidFill>
                <a:latin typeface="Helvetica Neue"/>
              </a:rPr>
              <a:t>Endung</a:t>
            </a:r>
          </a:p>
        </p:txBody>
      </p:sp>
      <p:sp>
        <p:nvSpPr>
          <p:cNvPr id="9" name="TextBox 8"/>
          <p:cNvSpPr txBox="1"/>
          <p:nvPr/>
        </p:nvSpPr>
        <p:spPr>
          <a:xfrm>
            <a:off x="1042416" y="2450592"/>
            <a:ext cx="1499616" cy="27432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.json?</a:t>
            </a:r>
          </a:p>
        </p:txBody>
      </p:sp>
      <p:cxnSp>
        <p:nvCxnSpPr>
          <p:cNvPr id="10" name="Connector 9"/>
          <p:cNvCxnSpPr/>
          <p:nvPr/>
        </p:nvCxnSpPr>
        <p:spPr>
          <a:xfrm>
            <a:off x="2743200" y="2276856"/>
            <a:ext cx="201168" cy="0"/>
          </a:xfrm>
          <a:prstGeom prst="line">
            <a:avLst/>
          </a:prstGeom>
          <a:ln w="1778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55648" y="2907791"/>
            <a:ext cx="0" cy="338329"/>
          </a:xfrm>
          <a:prstGeom prst="line">
            <a:avLst/>
          </a:prstGeom>
          <a:ln w="13970">
            <a:solidFill>
              <a:srgbClr val="6B3C4A"/>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99232" y="1691640"/>
            <a:ext cx="1865376" cy="1170432"/>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218687" y="1856232"/>
            <a:ext cx="457200" cy="274320"/>
          </a:xfrm>
          <a:prstGeom prst="rect">
            <a:avLst/>
          </a:prstGeom>
          <a:noFill/>
        </p:spPr>
        <p:txBody>
          <a:bodyPr wrap="square" anchor="t" lIns="0" rIns="0" tIns="0" bIns="0">
            <a:spAutoFit/>
          </a:bodyPr>
          <a:lstStyle/>
          <a:p>
            <a:pPr algn="l">
              <a:lnSpc>
                <a:spcPct val="120000"/>
              </a:lnSpc>
            </a:pPr>
            <a:r>
              <a:rPr sz="1300" b="1" i="0">
                <a:solidFill>
                  <a:srgbClr val="38BDF8"/>
                </a:solidFill>
                <a:latin typeface="Helvetica Neue"/>
              </a:rPr>
              <a:t>2</a:t>
            </a:r>
          </a:p>
        </p:txBody>
      </p:sp>
      <p:sp>
        <p:nvSpPr>
          <p:cNvPr id="14" name="TextBox 13"/>
          <p:cNvSpPr txBox="1"/>
          <p:nvPr/>
        </p:nvSpPr>
        <p:spPr>
          <a:xfrm>
            <a:off x="3218687" y="2167128"/>
            <a:ext cx="1499616" cy="237744"/>
          </a:xfrm>
          <a:prstGeom prst="rect">
            <a:avLst/>
          </a:prstGeom>
          <a:noFill/>
        </p:spPr>
        <p:txBody>
          <a:bodyPr wrap="square" anchor="t" lIns="0" rIns="0" tIns="0" bIns="0">
            <a:spAutoFit/>
          </a:bodyPr>
          <a:lstStyle/>
          <a:p>
            <a:pPr algn="l">
              <a:lnSpc>
                <a:spcPct val="120000"/>
              </a:lnSpc>
            </a:pPr>
            <a:r>
              <a:rPr sz="1150" b="1" i="0">
                <a:solidFill>
                  <a:srgbClr val="E8EDF7"/>
                </a:solidFill>
                <a:latin typeface="Helvetica Neue"/>
              </a:rPr>
              <a:t>Inhalt</a:t>
            </a:r>
          </a:p>
        </p:txBody>
      </p:sp>
      <p:sp>
        <p:nvSpPr>
          <p:cNvPr id="15" name="TextBox 14"/>
          <p:cNvSpPr txBox="1"/>
          <p:nvPr/>
        </p:nvSpPr>
        <p:spPr>
          <a:xfrm>
            <a:off x="3218687" y="2450592"/>
            <a:ext cx="1499616" cy="27432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beginnt mit {?</a:t>
            </a:r>
          </a:p>
        </p:txBody>
      </p:sp>
      <p:cxnSp>
        <p:nvCxnSpPr>
          <p:cNvPr id="16" name="Connector 15"/>
          <p:cNvCxnSpPr/>
          <p:nvPr/>
        </p:nvCxnSpPr>
        <p:spPr>
          <a:xfrm>
            <a:off x="4919472" y="2276856"/>
            <a:ext cx="201168" cy="0"/>
          </a:xfrm>
          <a:prstGeom prst="line">
            <a:avLst/>
          </a:prstGeom>
          <a:ln w="1778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931920" y="2907791"/>
            <a:ext cx="0" cy="338329"/>
          </a:xfrm>
          <a:prstGeom prst="line">
            <a:avLst/>
          </a:prstGeom>
          <a:ln w="13970">
            <a:solidFill>
              <a:srgbClr val="6B3C4A"/>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5504" y="1691640"/>
            <a:ext cx="1865376" cy="1170432"/>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94960" y="1856232"/>
            <a:ext cx="457200" cy="274320"/>
          </a:xfrm>
          <a:prstGeom prst="rect">
            <a:avLst/>
          </a:prstGeom>
          <a:noFill/>
        </p:spPr>
        <p:txBody>
          <a:bodyPr wrap="square" anchor="t" lIns="0" rIns="0" tIns="0" bIns="0">
            <a:spAutoFit/>
          </a:bodyPr>
          <a:lstStyle/>
          <a:p>
            <a:pPr algn="l">
              <a:lnSpc>
                <a:spcPct val="120000"/>
              </a:lnSpc>
            </a:pPr>
            <a:r>
              <a:rPr sz="1300" b="1" i="0">
                <a:solidFill>
                  <a:srgbClr val="38BDF8"/>
                </a:solidFill>
                <a:latin typeface="Helvetica Neue"/>
              </a:rPr>
              <a:t>3</a:t>
            </a:r>
          </a:p>
        </p:txBody>
      </p:sp>
      <p:sp>
        <p:nvSpPr>
          <p:cNvPr id="20" name="TextBox 19"/>
          <p:cNvSpPr txBox="1"/>
          <p:nvPr/>
        </p:nvSpPr>
        <p:spPr>
          <a:xfrm>
            <a:off x="5394960" y="2167128"/>
            <a:ext cx="1499616" cy="237744"/>
          </a:xfrm>
          <a:prstGeom prst="rect">
            <a:avLst/>
          </a:prstGeom>
          <a:noFill/>
        </p:spPr>
        <p:txBody>
          <a:bodyPr wrap="square" anchor="t" lIns="0" rIns="0" tIns="0" bIns="0">
            <a:spAutoFit/>
          </a:bodyPr>
          <a:lstStyle/>
          <a:p>
            <a:pPr algn="l">
              <a:lnSpc>
                <a:spcPct val="120000"/>
              </a:lnSpc>
            </a:pPr>
            <a:r>
              <a:rPr sz="1150" b="1" i="0">
                <a:solidFill>
                  <a:srgbClr val="E8EDF7"/>
                </a:solidFill>
                <a:latin typeface="Helvetica Neue"/>
              </a:rPr>
              <a:t>Zeitstempel</a:t>
            </a:r>
          </a:p>
        </p:txBody>
      </p:sp>
      <p:sp>
        <p:nvSpPr>
          <p:cNvPr id="21" name="TextBox 20"/>
          <p:cNvSpPr txBox="1"/>
          <p:nvPr/>
        </p:nvSpPr>
        <p:spPr>
          <a:xfrm>
            <a:off x="5394960" y="2450592"/>
            <a:ext cx="1499616" cy="27432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Dateiname lesbar?</a:t>
            </a:r>
          </a:p>
        </p:txBody>
      </p:sp>
      <p:cxnSp>
        <p:nvCxnSpPr>
          <p:cNvPr id="22" name="Connector 21"/>
          <p:cNvCxnSpPr/>
          <p:nvPr/>
        </p:nvCxnSpPr>
        <p:spPr>
          <a:xfrm>
            <a:off x="7095744" y="2276856"/>
            <a:ext cx="201168" cy="0"/>
          </a:xfrm>
          <a:prstGeom prst="line">
            <a:avLst/>
          </a:prstGeom>
          <a:ln w="1778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108192" y="2907791"/>
            <a:ext cx="0" cy="338329"/>
          </a:xfrm>
          <a:prstGeom prst="line">
            <a:avLst/>
          </a:prstGeom>
          <a:ln w="13970">
            <a:solidFill>
              <a:srgbClr val="6B3C4A"/>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51775" y="1691640"/>
            <a:ext cx="1865376" cy="1170432"/>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571231" y="1856232"/>
            <a:ext cx="457200" cy="274320"/>
          </a:xfrm>
          <a:prstGeom prst="rect">
            <a:avLst/>
          </a:prstGeom>
          <a:noFill/>
        </p:spPr>
        <p:txBody>
          <a:bodyPr wrap="square" anchor="t" lIns="0" rIns="0" tIns="0" bIns="0">
            <a:spAutoFit/>
          </a:bodyPr>
          <a:lstStyle/>
          <a:p>
            <a:pPr algn="l">
              <a:lnSpc>
                <a:spcPct val="120000"/>
              </a:lnSpc>
            </a:pPr>
            <a:r>
              <a:rPr sz="1300" b="1" i="0">
                <a:solidFill>
                  <a:srgbClr val="38BDF8"/>
                </a:solidFill>
                <a:latin typeface="Helvetica Neue"/>
              </a:rPr>
              <a:t>4</a:t>
            </a:r>
          </a:p>
        </p:txBody>
      </p:sp>
      <p:sp>
        <p:nvSpPr>
          <p:cNvPr id="26" name="TextBox 25"/>
          <p:cNvSpPr txBox="1"/>
          <p:nvPr/>
        </p:nvSpPr>
        <p:spPr>
          <a:xfrm>
            <a:off x="7571231" y="2167128"/>
            <a:ext cx="1499616" cy="237744"/>
          </a:xfrm>
          <a:prstGeom prst="rect">
            <a:avLst/>
          </a:prstGeom>
          <a:noFill/>
        </p:spPr>
        <p:txBody>
          <a:bodyPr wrap="square" anchor="t" lIns="0" rIns="0" tIns="0" bIns="0">
            <a:spAutoFit/>
          </a:bodyPr>
          <a:lstStyle/>
          <a:p>
            <a:pPr algn="l">
              <a:lnSpc>
                <a:spcPct val="120000"/>
              </a:lnSpc>
            </a:pPr>
            <a:r>
              <a:rPr sz="1150" b="1" i="0">
                <a:solidFill>
                  <a:srgbClr val="E8EDF7"/>
                </a:solidFill>
                <a:latin typeface="Helvetica Neue"/>
              </a:rPr>
              <a:t>Datentypen</a:t>
            </a:r>
          </a:p>
        </p:txBody>
      </p:sp>
      <p:sp>
        <p:nvSpPr>
          <p:cNvPr id="27" name="TextBox 26"/>
          <p:cNvSpPr txBox="1"/>
          <p:nvPr/>
        </p:nvSpPr>
        <p:spPr>
          <a:xfrm>
            <a:off x="7571231" y="2450592"/>
            <a:ext cx="1499616" cy="27432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3 Texte, 2 Zahlen?</a:t>
            </a:r>
          </a:p>
        </p:txBody>
      </p:sp>
      <p:cxnSp>
        <p:nvCxnSpPr>
          <p:cNvPr id="28" name="Connector 27"/>
          <p:cNvCxnSpPr/>
          <p:nvPr/>
        </p:nvCxnSpPr>
        <p:spPr>
          <a:xfrm>
            <a:off x="9272015" y="2276856"/>
            <a:ext cx="201168" cy="0"/>
          </a:xfrm>
          <a:prstGeom prst="line">
            <a:avLst/>
          </a:prstGeom>
          <a:ln w="17780">
            <a:solidFill>
              <a:srgbClr val="3A5A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284463" y="2907791"/>
            <a:ext cx="0" cy="338329"/>
          </a:xfrm>
          <a:prstGeom prst="line">
            <a:avLst/>
          </a:prstGeom>
          <a:ln w="13970">
            <a:solidFill>
              <a:srgbClr val="6B3C4A"/>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28048" y="1691640"/>
            <a:ext cx="1865376" cy="1170432"/>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747504" y="1856232"/>
            <a:ext cx="457200" cy="274320"/>
          </a:xfrm>
          <a:prstGeom prst="rect">
            <a:avLst/>
          </a:prstGeom>
          <a:noFill/>
        </p:spPr>
        <p:txBody>
          <a:bodyPr wrap="square" anchor="t" lIns="0" rIns="0" tIns="0" bIns="0">
            <a:spAutoFit/>
          </a:bodyPr>
          <a:lstStyle/>
          <a:p>
            <a:pPr algn="l">
              <a:lnSpc>
                <a:spcPct val="120000"/>
              </a:lnSpc>
            </a:pPr>
            <a:r>
              <a:rPr sz="1300" b="1" i="0">
                <a:solidFill>
                  <a:srgbClr val="38BDF8"/>
                </a:solidFill>
                <a:latin typeface="Helvetica Neue"/>
              </a:rPr>
              <a:t>5</a:t>
            </a:r>
          </a:p>
        </p:txBody>
      </p:sp>
      <p:sp>
        <p:nvSpPr>
          <p:cNvPr id="32" name="TextBox 31"/>
          <p:cNvSpPr txBox="1"/>
          <p:nvPr/>
        </p:nvSpPr>
        <p:spPr>
          <a:xfrm>
            <a:off x="9747504" y="2167128"/>
            <a:ext cx="1499616" cy="237744"/>
          </a:xfrm>
          <a:prstGeom prst="rect">
            <a:avLst/>
          </a:prstGeom>
          <a:noFill/>
        </p:spPr>
        <p:txBody>
          <a:bodyPr wrap="square" anchor="t" lIns="0" rIns="0" tIns="0" bIns="0">
            <a:spAutoFit/>
          </a:bodyPr>
          <a:lstStyle/>
          <a:p>
            <a:pPr algn="l">
              <a:lnSpc>
                <a:spcPct val="120000"/>
              </a:lnSpc>
            </a:pPr>
            <a:r>
              <a:rPr sz="1150" b="1" i="0">
                <a:solidFill>
                  <a:srgbClr val="E8EDF7"/>
                </a:solidFill>
                <a:latin typeface="Helvetica Neue"/>
              </a:rPr>
              <a:t>Wertebereich</a:t>
            </a:r>
          </a:p>
        </p:txBody>
      </p:sp>
      <p:sp>
        <p:nvSpPr>
          <p:cNvPr id="33" name="TextBox 32"/>
          <p:cNvSpPr txBox="1"/>
          <p:nvPr/>
        </p:nvSpPr>
        <p:spPr>
          <a:xfrm>
            <a:off x="9747504" y="2450592"/>
            <a:ext cx="1499616" cy="27432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0,5–9 bar / 200–500 K?</a:t>
            </a:r>
          </a:p>
        </p:txBody>
      </p:sp>
      <p:cxnSp>
        <p:nvCxnSpPr>
          <p:cNvPr id="34" name="Connector 33"/>
          <p:cNvCxnSpPr/>
          <p:nvPr/>
        </p:nvCxnSpPr>
        <p:spPr>
          <a:xfrm>
            <a:off x="10460736" y="2907791"/>
            <a:ext cx="0" cy="338329"/>
          </a:xfrm>
          <a:prstGeom prst="line">
            <a:avLst/>
          </a:prstGeom>
          <a:ln w="13970">
            <a:solidFill>
              <a:srgbClr val="6B3C4A"/>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77240" y="3310128"/>
            <a:ext cx="10637215" cy="237744"/>
          </a:xfrm>
          <a:prstGeom prst="rect">
            <a:avLst/>
          </a:prstGeom>
          <a:noFill/>
        </p:spPr>
        <p:txBody>
          <a:bodyPr wrap="square" anchor="t" lIns="0" rIns="0" tIns="0" bIns="0">
            <a:spAutoFit/>
          </a:bodyPr>
          <a:lstStyle/>
          <a:p>
            <a:pPr algn="l">
              <a:lnSpc>
                <a:spcPct val="120000"/>
              </a:lnSpc>
            </a:pPr>
            <a:r>
              <a:rPr sz="900" b="1" i="0" spc="160">
                <a:solidFill>
                  <a:srgbClr val="F87171"/>
                </a:solidFill>
                <a:latin typeface="Helvetica Neue"/>
              </a:rPr>
              <a:t>AUSSORTIERT – MIT BEGRÜNDUNG IM PROTOKOLL</a:t>
            </a:r>
          </a:p>
        </p:txBody>
      </p:sp>
      <p:sp>
        <p:nvSpPr>
          <p:cNvPr id="36" name="Rounded Rectangle 35"/>
          <p:cNvSpPr/>
          <p:nvPr/>
        </p:nvSpPr>
        <p:spPr>
          <a:xfrm>
            <a:off x="777240" y="3657600"/>
            <a:ext cx="5120640" cy="1481328"/>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78154" y="3822191"/>
            <a:ext cx="50292" cy="115214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33271" y="3840480"/>
            <a:ext cx="4663440"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Was danach passiert</a:t>
            </a:r>
          </a:p>
        </p:txBody>
      </p:sp>
      <p:sp>
        <p:nvSpPr>
          <p:cNvPr id="39" name="TextBox 38"/>
          <p:cNvSpPr txBox="1"/>
          <p:nvPr/>
        </p:nvSpPr>
        <p:spPr>
          <a:xfrm>
            <a:off x="1033271" y="4224528"/>
            <a:ext cx="4663440" cy="749808"/>
          </a:xfrm>
          <a:prstGeom prst="rect">
            <a:avLst/>
          </a:prstGeom>
          <a:noFill/>
        </p:spPr>
        <p:txBody>
          <a:bodyPr wrap="square" anchor="t" lIns="0" rIns="0" tIns="0" bIns="0">
            <a:spAutoFit/>
          </a:bodyPr>
          <a:lstStyle/>
          <a:p>
            <a:pPr algn="l">
              <a:lnSpc>
                <a:spcPct val="130000"/>
              </a:lnSpc>
              <a:spcAft>
                <a:spcPts val="500"/>
              </a:spcAft>
            </a:pPr>
            <a:r>
              <a:rPr sz="1050" b="0" i="0">
                <a:solidFill>
                  <a:srgbClr val="8E9DBB"/>
                </a:solidFill>
                <a:latin typeface="Helvetica Neue"/>
              </a:rPr>
              <a:t>Zeitstempel aus dem Dateinamen wird ISO-Format</a:t>
            </a:r>
          </a:p>
          <a:p>
            <a:pPr algn="l">
              <a:lnSpc>
                <a:spcPct val="130000"/>
              </a:lnSpc>
              <a:spcAft>
                <a:spcPts val="500"/>
              </a:spcAft>
            </a:pPr>
            <a:r>
              <a:rPr sz="1050" b="0" i="0">
                <a:solidFill>
                  <a:srgbClr val="8E9DBB"/>
                </a:solidFill>
                <a:latin typeface="Helvetica Neue"/>
              </a:rPr>
              <a:t>Datensatz geht per HTTP POST an die Verwaltung</a:t>
            </a:r>
          </a:p>
          <a:p>
            <a:pPr algn="l">
              <a:lnSpc>
                <a:spcPct val="130000"/>
              </a:lnSpc>
              <a:spcAft>
                <a:spcPts val="500"/>
              </a:spcAft>
            </a:pPr>
            <a:r>
              <a:rPr sz="1050" b="0" i="0">
                <a:solidFill>
                  <a:srgbClr val="8E9DBB"/>
                </a:solidFill>
                <a:latin typeface="Helvetica Neue"/>
              </a:rPr>
              <a:t>Die Datei wird gelöscht – keine Doppelverarbeitung</a:t>
            </a:r>
          </a:p>
        </p:txBody>
      </p:sp>
      <p:sp>
        <p:nvSpPr>
          <p:cNvPr id="40" name="Rounded Rectangle 39"/>
          <p:cNvSpPr/>
          <p:nvPr/>
        </p:nvSpPr>
        <p:spPr>
          <a:xfrm>
            <a:off x="6172200" y="3657600"/>
            <a:ext cx="5239512" cy="1481328"/>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173114" y="3822191"/>
            <a:ext cx="50292" cy="115214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428232" y="3840480"/>
            <a:ext cx="4782312"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Dauerbetrieb</a:t>
            </a:r>
          </a:p>
        </p:txBody>
      </p:sp>
      <p:sp>
        <p:nvSpPr>
          <p:cNvPr id="43" name="TextBox 42"/>
          <p:cNvSpPr txBox="1"/>
          <p:nvPr/>
        </p:nvSpPr>
        <p:spPr>
          <a:xfrm>
            <a:off x="6428232" y="4224528"/>
            <a:ext cx="4782312" cy="749808"/>
          </a:xfrm>
          <a:prstGeom prst="rect">
            <a:avLst/>
          </a:prstGeom>
          <a:noFill/>
        </p:spPr>
        <p:txBody>
          <a:bodyPr wrap="square" anchor="t" lIns="0" rIns="0" tIns="0" bIns="0">
            <a:spAutoFit/>
          </a:bodyPr>
          <a:lstStyle/>
          <a:p>
            <a:pPr algn="l">
              <a:lnSpc>
                <a:spcPct val="130000"/>
              </a:lnSpc>
              <a:spcAft>
                <a:spcPts val="500"/>
              </a:spcAft>
            </a:pPr>
            <a:r>
              <a:rPr sz="1050" b="0" i="0">
                <a:solidFill>
                  <a:srgbClr val="8E9DBB"/>
                </a:solidFill>
                <a:latin typeface="Helvetica Neue"/>
              </a:rPr>
              <a:t>Endlosschleife, halbe Sekunde Pause wenn nichts da ist</a:t>
            </a:r>
          </a:p>
          <a:p>
            <a:pPr algn="l">
              <a:lnSpc>
                <a:spcPct val="130000"/>
              </a:lnSpc>
              <a:spcAft>
                <a:spcPts val="500"/>
              </a:spcAft>
            </a:pPr>
            <a:r>
              <a:rPr sz="1050" b="0" i="0">
                <a:solidFill>
                  <a:srgbClr val="8E9DBB"/>
                </a:solidFill>
                <a:latin typeface="Helvetica Neue"/>
              </a:rPr>
              <a:t>Dateien werden sortiert gelesen – Namen sind chronologisch</a:t>
            </a:r>
          </a:p>
          <a:p>
            <a:pPr algn="l">
              <a:lnSpc>
                <a:spcPct val="130000"/>
              </a:lnSpc>
              <a:spcAft>
                <a:spcPts val="500"/>
              </a:spcAft>
            </a:pPr>
            <a:r>
              <a:rPr sz="1050" b="0" i="0">
                <a:solidFill>
                  <a:srgbClr val="8E9DBB"/>
                </a:solidFill>
                <a:latin typeface="Helvetica Neue"/>
              </a:rPr>
              <a:t>Eine kaputte Datei stoppt die Schleife nicht</a:t>
            </a:r>
          </a:p>
        </p:txBody>
      </p:sp>
      <p:sp>
        <p:nvSpPr>
          <p:cNvPr id="44" name="TextBox 43"/>
          <p:cNvSpPr txBox="1"/>
          <p:nvPr/>
        </p:nvSpPr>
        <p:spPr>
          <a:xfrm>
            <a:off x="777240" y="5376672"/>
            <a:ext cx="10637215" cy="457200"/>
          </a:xfrm>
          <a:prstGeom prst="rect">
            <a:avLst/>
          </a:prstGeom>
          <a:noFill/>
        </p:spPr>
        <p:txBody>
          <a:bodyPr wrap="square" anchor="t" lIns="0" rIns="0" tIns="0" bIns="0">
            <a:spAutoFit/>
          </a:bodyPr>
          <a:lstStyle/>
          <a:p>
            <a:pPr algn="l">
              <a:lnSpc>
                <a:spcPct val="130000"/>
              </a:lnSpc>
            </a:pPr>
            <a:r>
              <a:rPr sz="1050" b="0" i="0">
                <a:solidFill>
                  <a:srgbClr val="8E9DBB"/>
                </a:solidFill>
                <a:latin typeface="Helvetica Neue"/>
              </a:rPr>
              <a:t>Ergebnis: von 100 eintreffenden Dateien erreichen etwa 60 die Verwaltung – und zwar nur solche, die vollständig und plausibel sind.</a:t>
            </a:r>
          </a:p>
        </p:txBody>
      </p:sp>
      <p:sp>
        <p:nvSpPr>
          <p:cNvPr id="45" name="TextBox 44"/>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46" name="TextBox 45"/>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A78BFA"/>
                </a:solidFill>
                <a:latin typeface="Helvetica Neue"/>
              </a:rPr>
              <a:t>BACKEND · KOMPONENTE 3</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Die Verwaltung</a:t>
            </a:r>
          </a:p>
        </p:txBody>
      </p:sp>
      <p:sp>
        <p:nvSpPr>
          <p:cNvPr id="5" name="Rectangle 4"/>
          <p:cNvSpPr/>
          <p:nvPr/>
        </p:nvSpPr>
        <p:spPr>
          <a:xfrm>
            <a:off x="777240" y="1316736"/>
            <a:ext cx="1371600" cy="25603"/>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64208"/>
            <a:ext cx="941831" cy="237744"/>
          </a:xfrm>
          <a:prstGeom prst="rect">
            <a:avLst/>
          </a:prstGeom>
          <a:noFill/>
        </p:spPr>
        <p:txBody>
          <a:bodyPr wrap="square" anchor="t" lIns="0" rIns="0" tIns="0" bIns="0">
            <a:spAutoFit/>
          </a:bodyPr>
          <a:lstStyle/>
          <a:p>
            <a:pPr algn="l">
              <a:lnSpc>
                <a:spcPct val="120000"/>
              </a:lnSpc>
            </a:pPr>
            <a:r>
              <a:rPr sz="850" b="1" i="0" spc="160">
                <a:solidFill>
                  <a:srgbClr val="A78BFA"/>
                </a:solidFill>
                <a:latin typeface="Helvetica Neue"/>
              </a:rPr>
              <a:t>METHODE</a:t>
            </a:r>
          </a:p>
        </p:txBody>
      </p:sp>
      <p:sp>
        <p:nvSpPr>
          <p:cNvPr id="7" name="TextBox 6"/>
          <p:cNvSpPr txBox="1"/>
          <p:nvPr/>
        </p:nvSpPr>
        <p:spPr>
          <a:xfrm>
            <a:off x="1828800" y="1664208"/>
            <a:ext cx="2907791" cy="237744"/>
          </a:xfrm>
          <a:prstGeom prst="rect">
            <a:avLst/>
          </a:prstGeom>
          <a:noFill/>
        </p:spPr>
        <p:txBody>
          <a:bodyPr wrap="square" anchor="t" lIns="0" rIns="0" tIns="0" bIns="0">
            <a:spAutoFit/>
          </a:bodyPr>
          <a:lstStyle/>
          <a:p>
            <a:pPr algn="l">
              <a:lnSpc>
                <a:spcPct val="120000"/>
              </a:lnSpc>
            </a:pPr>
            <a:r>
              <a:rPr sz="850" b="1" i="0" spc="160">
                <a:solidFill>
                  <a:srgbClr val="A78BFA"/>
                </a:solidFill>
                <a:latin typeface="Helvetica Neue"/>
              </a:rPr>
              <a:t>ROUTE</a:t>
            </a:r>
          </a:p>
        </p:txBody>
      </p:sp>
      <p:sp>
        <p:nvSpPr>
          <p:cNvPr id="8" name="TextBox 7"/>
          <p:cNvSpPr txBox="1"/>
          <p:nvPr/>
        </p:nvSpPr>
        <p:spPr>
          <a:xfrm>
            <a:off x="4846320" y="1664208"/>
            <a:ext cx="3913632" cy="237744"/>
          </a:xfrm>
          <a:prstGeom prst="rect">
            <a:avLst/>
          </a:prstGeom>
          <a:noFill/>
        </p:spPr>
        <p:txBody>
          <a:bodyPr wrap="square" anchor="t" lIns="0" rIns="0" tIns="0" bIns="0">
            <a:spAutoFit/>
          </a:bodyPr>
          <a:lstStyle/>
          <a:p>
            <a:pPr algn="l">
              <a:lnSpc>
                <a:spcPct val="120000"/>
              </a:lnSpc>
            </a:pPr>
            <a:r>
              <a:rPr sz="850" b="1" i="0" spc="160">
                <a:solidFill>
                  <a:srgbClr val="A78BFA"/>
                </a:solidFill>
                <a:latin typeface="Helvetica Neue"/>
              </a:rPr>
              <a:t>ZWECK</a:t>
            </a:r>
          </a:p>
        </p:txBody>
      </p:sp>
      <p:sp>
        <p:nvSpPr>
          <p:cNvPr id="9" name="TextBox 8"/>
          <p:cNvSpPr txBox="1"/>
          <p:nvPr/>
        </p:nvSpPr>
        <p:spPr>
          <a:xfrm>
            <a:off x="8869680" y="1664208"/>
            <a:ext cx="2432303" cy="237744"/>
          </a:xfrm>
          <a:prstGeom prst="rect">
            <a:avLst/>
          </a:prstGeom>
          <a:noFill/>
        </p:spPr>
        <p:txBody>
          <a:bodyPr wrap="square" anchor="t" lIns="0" rIns="0" tIns="0" bIns="0">
            <a:spAutoFit/>
          </a:bodyPr>
          <a:lstStyle/>
          <a:p>
            <a:pPr algn="l">
              <a:lnSpc>
                <a:spcPct val="120000"/>
              </a:lnSpc>
            </a:pPr>
            <a:r>
              <a:rPr sz="850" b="1" i="0" spc="160">
                <a:solidFill>
                  <a:srgbClr val="A78BFA"/>
                </a:solidFill>
                <a:latin typeface="Helvetica Neue"/>
              </a:rPr>
              <a:t>AUFRUFER</a:t>
            </a:r>
          </a:p>
        </p:txBody>
      </p:sp>
      <p:sp>
        <p:nvSpPr>
          <p:cNvPr id="10" name="Rectangle 9"/>
          <p:cNvSpPr/>
          <p:nvPr/>
        </p:nvSpPr>
        <p:spPr>
          <a:xfrm>
            <a:off x="777240" y="1975104"/>
            <a:ext cx="10634472" cy="12801"/>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67512" y="2002536"/>
            <a:ext cx="10853928" cy="420624"/>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2066544"/>
            <a:ext cx="941831" cy="365760"/>
          </a:xfrm>
          <a:prstGeom prst="rect">
            <a:avLst/>
          </a:prstGeom>
          <a:noFill/>
        </p:spPr>
        <p:txBody>
          <a:bodyPr wrap="square" anchor="t" lIns="0" rIns="0" tIns="0" bIns="0">
            <a:spAutoFit/>
          </a:bodyPr>
          <a:lstStyle/>
          <a:p>
            <a:pPr algn="l">
              <a:lnSpc>
                <a:spcPct val="105000"/>
              </a:lnSpc>
            </a:pPr>
            <a:r>
              <a:rPr sz="1050" b="1" i="0">
                <a:solidFill>
                  <a:srgbClr val="34D399"/>
                </a:solidFill>
                <a:latin typeface="Helvetica Neue"/>
              </a:rPr>
              <a:t>POST</a:t>
            </a:r>
          </a:p>
        </p:txBody>
      </p:sp>
      <p:sp>
        <p:nvSpPr>
          <p:cNvPr id="13" name="TextBox 12"/>
          <p:cNvSpPr txBox="1"/>
          <p:nvPr/>
        </p:nvSpPr>
        <p:spPr>
          <a:xfrm>
            <a:off x="1828800" y="2066544"/>
            <a:ext cx="2907791"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/data/</a:t>
            </a:r>
          </a:p>
        </p:txBody>
      </p:sp>
      <p:sp>
        <p:nvSpPr>
          <p:cNvPr id="14" name="TextBox 13"/>
          <p:cNvSpPr txBox="1"/>
          <p:nvPr/>
        </p:nvSpPr>
        <p:spPr>
          <a:xfrm>
            <a:off x="4846320" y="2066544"/>
            <a:ext cx="3913632"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Messwert aufnehmen und speichern</a:t>
            </a:r>
          </a:p>
        </p:txBody>
      </p:sp>
      <p:sp>
        <p:nvSpPr>
          <p:cNvPr id="15" name="TextBox 14"/>
          <p:cNvSpPr txBox="1"/>
          <p:nvPr/>
        </p:nvSpPr>
        <p:spPr>
          <a:xfrm>
            <a:off x="8869680" y="2066544"/>
            <a:ext cx="2432303"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Bodenstation.py</a:t>
            </a:r>
          </a:p>
        </p:txBody>
      </p:sp>
      <p:sp>
        <p:nvSpPr>
          <p:cNvPr id="16" name="TextBox 15"/>
          <p:cNvSpPr txBox="1"/>
          <p:nvPr/>
        </p:nvSpPr>
        <p:spPr>
          <a:xfrm>
            <a:off x="777240" y="2487168"/>
            <a:ext cx="941831" cy="365760"/>
          </a:xfrm>
          <a:prstGeom prst="rect">
            <a:avLst/>
          </a:prstGeom>
          <a:noFill/>
        </p:spPr>
        <p:txBody>
          <a:bodyPr wrap="square" anchor="t" lIns="0" rIns="0" tIns="0" bIns="0">
            <a:spAutoFit/>
          </a:bodyPr>
          <a:lstStyle/>
          <a:p>
            <a:pPr algn="l">
              <a:lnSpc>
                <a:spcPct val="105000"/>
              </a:lnSpc>
            </a:pPr>
            <a:r>
              <a:rPr sz="1050" b="1" i="0">
                <a:solidFill>
                  <a:srgbClr val="A78BFA"/>
                </a:solidFill>
                <a:latin typeface="Helvetica Neue"/>
              </a:rPr>
              <a:t>GET</a:t>
            </a:r>
          </a:p>
        </p:txBody>
      </p:sp>
      <p:sp>
        <p:nvSpPr>
          <p:cNvPr id="17" name="TextBox 16"/>
          <p:cNvSpPr txBox="1"/>
          <p:nvPr/>
        </p:nvSpPr>
        <p:spPr>
          <a:xfrm>
            <a:off x="1828800" y="2487168"/>
            <a:ext cx="2907791"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/data/current</a:t>
            </a:r>
          </a:p>
        </p:txBody>
      </p:sp>
      <p:sp>
        <p:nvSpPr>
          <p:cNvPr id="18" name="TextBox 17"/>
          <p:cNvSpPr txBox="1"/>
          <p:nvPr/>
        </p:nvSpPr>
        <p:spPr>
          <a:xfrm>
            <a:off x="4846320" y="2487168"/>
            <a:ext cx="3913632"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Aktueller Wert aller Sensoren</a:t>
            </a:r>
          </a:p>
        </p:txBody>
      </p:sp>
      <p:sp>
        <p:nvSpPr>
          <p:cNvPr id="19" name="TextBox 18"/>
          <p:cNvSpPr txBox="1"/>
          <p:nvPr/>
        </p:nvSpPr>
        <p:spPr>
          <a:xfrm>
            <a:off x="8869680" y="2487168"/>
            <a:ext cx="2432303"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Startseite</a:t>
            </a:r>
          </a:p>
        </p:txBody>
      </p:sp>
      <p:sp>
        <p:nvSpPr>
          <p:cNvPr id="20" name="Rectangle 19"/>
          <p:cNvSpPr/>
          <p:nvPr/>
        </p:nvSpPr>
        <p:spPr>
          <a:xfrm>
            <a:off x="667512" y="2843784"/>
            <a:ext cx="10853928" cy="420624"/>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7240" y="2907792"/>
            <a:ext cx="941831" cy="365760"/>
          </a:xfrm>
          <a:prstGeom prst="rect">
            <a:avLst/>
          </a:prstGeom>
          <a:noFill/>
        </p:spPr>
        <p:txBody>
          <a:bodyPr wrap="square" anchor="t" lIns="0" rIns="0" tIns="0" bIns="0">
            <a:spAutoFit/>
          </a:bodyPr>
          <a:lstStyle/>
          <a:p>
            <a:pPr algn="l">
              <a:lnSpc>
                <a:spcPct val="105000"/>
              </a:lnSpc>
            </a:pPr>
            <a:r>
              <a:rPr sz="1050" b="1" i="0">
                <a:solidFill>
                  <a:srgbClr val="A78BFA"/>
                </a:solidFill>
                <a:latin typeface="Helvetica Neue"/>
              </a:rPr>
              <a:t>GET</a:t>
            </a:r>
          </a:p>
        </p:txBody>
      </p:sp>
      <p:sp>
        <p:nvSpPr>
          <p:cNvPr id="22" name="TextBox 21"/>
          <p:cNvSpPr txBox="1"/>
          <p:nvPr/>
        </p:nvSpPr>
        <p:spPr>
          <a:xfrm>
            <a:off x="1828800" y="2907792"/>
            <a:ext cx="2907791"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/data_wsi/{name}</a:t>
            </a:r>
          </a:p>
        </p:txBody>
      </p:sp>
      <p:sp>
        <p:nvSpPr>
          <p:cNvPr id="23" name="TextBox 22"/>
          <p:cNvSpPr txBox="1"/>
          <p:nvPr/>
        </p:nvSpPr>
        <p:spPr>
          <a:xfrm>
            <a:off x="4846320" y="2907792"/>
            <a:ext cx="3913632"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Komplette Historie eines Sensors</a:t>
            </a:r>
          </a:p>
        </p:txBody>
      </p:sp>
      <p:sp>
        <p:nvSpPr>
          <p:cNvPr id="24" name="TextBox 23"/>
          <p:cNvSpPr txBox="1"/>
          <p:nvPr/>
        </p:nvSpPr>
        <p:spPr>
          <a:xfrm>
            <a:off x="8869680" y="2907792"/>
            <a:ext cx="2432303"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Detailfenster</a:t>
            </a:r>
          </a:p>
        </p:txBody>
      </p:sp>
      <p:sp>
        <p:nvSpPr>
          <p:cNvPr id="25" name="TextBox 24"/>
          <p:cNvSpPr txBox="1"/>
          <p:nvPr/>
        </p:nvSpPr>
        <p:spPr>
          <a:xfrm>
            <a:off x="777240" y="3328416"/>
            <a:ext cx="941831" cy="365760"/>
          </a:xfrm>
          <a:prstGeom prst="rect">
            <a:avLst/>
          </a:prstGeom>
          <a:noFill/>
        </p:spPr>
        <p:txBody>
          <a:bodyPr wrap="square" anchor="t" lIns="0" rIns="0" tIns="0" bIns="0">
            <a:spAutoFit/>
          </a:bodyPr>
          <a:lstStyle/>
          <a:p>
            <a:pPr algn="l">
              <a:lnSpc>
                <a:spcPct val="105000"/>
              </a:lnSpc>
            </a:pPr>
            <a:r>
              <a:rPr sz="1050" b="1" i="0">
                <a:solidFill>
                  <a:srgbClr val="A78BFA"/>
                </a:solidFill>
                <a:latin typeface="Helvetica Neue"/>
              </a:rPr>
              <a:t>GET</a:t>
            </a:r>
          </a:p>
        </p:txBody>
      </p:sp>
      <p:sp>
        <p:nvSpPr>
          <p:cNvPr id="26" name="TextBox 25"/>
          <p:cNvSpPr txBox="1"/>
          <p:nvPr/>
        </p:nvSpPr>
        <p:spPr>
          <a:xfrm>
            <a:off x="1828800" y="3328416"/>
            <a:ext cx="2907791"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/data_wsi/</a:t>
            </a:r>
          </a:p>
        </p:txBody>
      </p:sp>
      <p:sp>
        <p:nvSpPr>
          <p:cNvPr id="27" name="TextBox 26"/>
          <p:cNvSpPr txBox="1"/>
          <p:nvPr/>
        </p:nvSpPr>
        <p:spPr>
          <a:xfrm>
            <a:off x="4846320" y="3328416"/>
            <a:ext cx="3913632"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Historie aller Sensoren</a:t>
            </a:r>
          </a:p>
        </p:txBody>
      </p:sp>
      <p:sp>
        <p:nvSpPr>
          <p:cNvPr id="28" name="TextBox 27"/>
          <p:cNvSpPr txBox="1"/>
          <p:nvPr/>
        </p:nvSpPr>
        <p:spPr>
          <a:xfrm>
            <a:off x="8869680" y="3328416"/>
            <a:ext cx="2432303" cy="365760"/>
          </a:xfrm>
          <a:prstGeom prst="rect">
            <a:avLst/>
          </a:prstGeom>
          <a:noFill/>
        </p:spPr>
        <p:txBody>
          <a:bodyPr wrap="square" anchor="t" lIns="0" rIns="0" tIns="0" bIns="0">
            <a:spAutoFit/>
          </a:bodyPr>
          <a:lstStyle/>
          <a:p>
            <a:pPr algn="l">
              <a:lnSpc>
                <a:spcPct val="105000"/>
              </a:lnSpc>
            </a:pPr>
            <a:r>
              <a:rPr sz="1050" b="0" i="0">
                <a:solidFill>
                  <a:srgbClr val="8E9DBB"/>
                </a:solidFill>
                <a:latin typeface="Helvetica Neue"/>
              </a:rPr>
              <a:t>Datenansicht</a:t>
            </a:r>
          </a:p>
        </p:txBody>
      </p:sp>
      <p:sp>
        <p:nvSpPr>
          <p:cNvPr id="29" name="Rounded Rectangle 28"/>
          <p:cNvSpPr/>
          <p:nvPr/>
        </p:nvSpPr>
        <p:spPr>
          <a:xfrm>
            <a:off x="777240" y="3675887"/>
            <a:ext cx="5120640" cy="160020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778154" y="3840479"/>
            <a:ext cx="50292" cy="127101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33271" y="3858768"/>
            <a:ext cx="4663440"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Ein POST, zwei Schreibvorgänge</a:t>
            </a:r>
          </a:p>
        </p:txBody>
      </p:sp>
      <p:sp>
        <p:nvSpPr>
          <p:cNvPr id="32" name="TextBox 31"/>
          <p:cNvSpPr txBox="1"/>
          <p:nvPr/>
        </p:nvSpPr>
        <p:spPr>
          <a:xfrm>
            <a:off x="1033271" y="4242816"/>
            <a:ext cx="4663440" cy="86868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Historie: der Messwert wird hinten angehängt</a:t>
            </a:r>
          </a:p>
          <a:p>
            <a:pPr algn="l">
              <a:lnSpc>
                <a:spcPct val="130000"/>
              </a:lnSpc>
              <a:spcAft>
                <a:spcPts val="500"/>
              </a:spcAft>
            </a:pPr>
            <a:r>
              <a:rPr sz="1000" b="0" i="0">
                <a:solidFill>
                  <a:srgbClr val="8E9DBB"/>
                </a:solidFill>
                <a:latin typeface="Helvetica Neue"/>
              </a:rPr>
              <a:t>Aktueller Wert: wird nur ersetzt, wenn der neue</a:t>
            </a:r>
          </a:p>
          <a:p>
            <a:pPr algn="l">
              <a:lnSpc>
                <a:spcPct val="130000"/>
              </a:lnSpc>
              <a:spcAft>
                <a:spcPts val="500"/>
              </a:spcAft>
            </a:pPr>
            <a:r>
              <a:rPr sz="1000" b="0" i="0">
                <a:solidFill>
                  <a:srgbClr val="8E9DBB"/>
                </a:solidFill>
                <a:latin typeface="Helvetica Neue"/>
              </a:rPr>
              <a:t>Messwert tatsächlich jünger ist</a:t>
            </a:r>
          </a:p>
          <a:p>
            <a:pPr algn="l">
              <a:lnSpc>
                <a:spcPct val="130000"/>
              </a:lnSpc>
              <a:spcAft>
                <a:spcPts val="500"/>
              </a:spcAft>
            </a:pPr>
            <a:r>
              <a:rPr sz="1000" b="0" i="0">
                <a:solidFill>
                  <a:srgbClr val="8E9DBB"/>
                </a:solidFill>
                <a:latin typeface="Helvetica Neue"/>
              </a:rPr>
              <a:t>Beides in einem try/except – Fehler wird 503, nicht 500</a:t>
            </a:r>
          </a:p>
        </p:txBody>
      </p:sp>
      <p:sp>
        <p:nvSpPr>
          <p:cNvPr id="33" name="Rounded Rectangle 32"/>
          <p:cNvSpPr/>
          <p:nvPr/>
        </p:nvSpPr>
        <p:spPr>
          <a:xfrm>
            <a:off x="6172200" y="3675887"/>
            <a:ext cx="5239512" cy="160020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173114" y="3840479"/>
            <a:ext cx="50292" cy="127101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28232" y="3858768"/>
            <a:ext cx="4782312" cy="274320"/>
          </a:xfrm>
          <a:prstGeom prst="rect">
            <a:avLst/>
          </a:prstGeom>
          <a:noFill/>
        </p:spPr>
        <p:txBody>
          <a:bodyPr wrap="square" anchor="t" lIns="0" rIns="0" tIns="0" bIns="0">
            <a:spAutoFit/>
          </a:bodyPr>
          <a:lstStyle/>
          <a:p>
            <a:pPr algn="l">
              <a:lnSpc>
                <a:spcPct val="120000"/>
              </a:lnSpc>
            </a:pPr>
            <a:r>
              <a:rPr sz="1300" b="1" i="0">
                <a:solidFill>
                  <a:srgbClr val="E8EDF7"/>
                </a:solidFill>
                <a:latin typeface="Helvetica Neue"/>
              </a:rPr>
              <a:t>Warum FastAPI hier passt</a:t>
            </a:r>
          </a:p>
        </p:txBody>
      </p:sp>
      <p:sp>
        <p:nvSpPr>
          <p:cNvPr id="36" name="TextBox 35"/>
          <p:cNvSpPr txBox="1"/>
          <p:nvPr/>
        </p:nvSpPr>
        <p:spPr>
          <a:xfrm>
            <a:off x="6428232" y="4242816"/>
            <a:ext cx="4782312" cy="86868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Pydantic prüft jeden eingehenden Datensatz automatisch</a:t>
            </a:r>
          </a:p>
          <a:p>
            <a:pPr algn="l">
              <a:lnSpc>
                <a:spcPct val="130000"/>
              </a:lnSpc>
              <a:spcAft>
                <a:spcPts val="500"/>
              </a:spcAft>
            </a:pPr>
            <a:r>
              <a:rPr sz="1000" b="0" i="0">
                <a:solidFill>
                  <a:srgbClr val="8E9DBB"/>
                </a:solidFill>
                <a:latin typeface="Helvetica Neue"/>
              </a:rPr>
              <a:t>Unpassende Daten werden mit 422 abgelehnt, bevor</a:t>
            </a:r>
          </a:p>
          <a:p>
            <a:pPr algn="l">
              <a:lnSpc>
                <a:spcPct val="130000"/>
              </a:lnSpc>
              <a:spcAft>
                <a:spcPts val="500"/>
              </a:spcAft>
            </a:pPr>
            <a:r>
              <a:rPr sz="1000" b="0" i="0">
                <a:solidFill>
                  <a:srgbClr val="8E9DBB"/>
                </a:solidFill>
                <a:latin typeface="Helvetica Neue"/>
              </a:rPr>
              <a:t>sie die Datenbank erreichen</a:t>
            </a:r>
          </a:p>
          <a:p>
            <a:pPr algn="l">
              <a:lnSpc>
                <a:spcPct val="130000"/>
              </a:lnSpc>
              <a:spcAft>
                <a:spcPts val="500"/>
              </a:spcAft>
            </a:pPr>
            <a:r>
              <a:rPr sz="1000" b="0" i="0">
                <a:solidFill>
                  <a:srgbClr val="8E9DBB"/>
                </a:solidFill>
                <a:latin typeface="Helvetica Neue"/>
              </a:rPr>
              <a:t>Swagger-Doku unter /docs entsteht ohne Zusatzarbeit</a:t>
            </a:r>
          </a:p>
        </p:txBody>
      </p:sp>
      <p:sp>
        <p:nvSpPr>
          <p:cNvPr id="37" name="TextBox 36"/>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38" name="TextBox 37"/>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38BDF8"/>
                </a:solidFill>
                <a:latin typeface="Helvetica Neue"/>
              </a:rPr>
              <a:t>BACKEND · SCHNITTSTELLE</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Das Datenmodell</a:t>
            </a:r>
          </a:p>
        </p:txBody>
      </p:sp>
      <p:sp>
        <p:nvSpPr>
          <p:cNvPr id="5" name="Rectangle 4"/>
          <p:cNvSpPr/>
          <p:nvPr/>
        </p:nvSpPr>
        <p:spPr>
          <a:xfrm>
            <a:off x="777240" y="1316736"/>
            <a:ext cx="1371600" cy="25603"/>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77240" y="1664208"/>
            <a:ext cx="5760720" cy="2566225"/>
          </a:xfrm>
          <a:prstGeom prst="roundRect">
            <a:avLst>
              <a:gd name="adj" fmla="val 4500"/>
            </a:avLst>
          </a:prstGeom>
          <a:solidFill>
            <a:srgbClr val="0A1121"/>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8154" y="1792224"/>
            <a:ext cx="41148" cy="2310193"/>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14983" y="1810512"/>
            <a:ext cx="5349240" cy="2291905"/>
          </a:xfrm>
          <a:prstGeom prst="rect">
            <a:avLst/>
          </a:prstGeom>
          <a:noFill/>
        </p:spPr>
        <p:txBody>
          <a:bodyPr wrap="square" anchor="t" lIns="0" rIns="0" tIns="0" bIns="0">
            <a:spAutoFit/>
          </a:bodyPr>
          <a:lstStyle/>
          <a:p>
            <a:pPr algn="l">
              <a:lnSpc>
                <a:spcPct val="135000"/>
              </a:lnSpc>
            </a:pPr>
            <a:r>
              <a:rPr sz="1050" b="0" i="0">
                <a:solidFill>
                  <a:srgbClr val="C7D6EE"/>
                </a:solidFill>
                <a:latin typeface="Menlo"/>
              </a:rPr>
              <a:t>class DataModel(BaseModel):</a:t>
            </a:r>
          </a:p>
          <a:p>
            <a:pPr algn="l">
              <a:lnSpc>
                <a:spcPct val="135000"/>
              </a:lnSpc>
            </a:pPr>
            <a:r>
              <a:rPr sz="1050" b="0" i="0">
                <a:solidFill>
                  <a:srgbClr val="C7D6EE"/>
                </a:solidFill>
                <a:latin typeface="Menlo"/>
              </a:rPr>
              <a:t>    time:        datetime</a:t>
            </a:r>
          </a:p>
          <a:p>
            <a:pPr algn="l">
              <a:lnSpc>
                <a:spcPct val="135000"/>
              </a:lnSpc>
            </a:pPr>
            <a:r>
              <a:rPr sz="1050" b="0" i="0">
                <a:solidFill>
                  <a:srgbClr val="C7D6EE"/>
                </a:solidFill>
                <a:latin typeface="Menlo"/>
              </a:rPr>
              <a:t>    name:        str = Field(min_length=1)</a:t>
            </a:r>
          </a:p>
          <a:p>
            <a:pPr algn="l">
              <a:lnSpc>
                <a:spcPct val="135000"/>
              </a:lnSpc>
            </a:pPr>
            <a:r>
              <a:rPr sz="1050" b="0" i="0">
                <a:solidFill>
                  <a:srgbClr val="C7D6EE"/>
                </a:solidFill>
                <a:latin typeface="Menlo"/>
              </a:rPr>
              <a:t>    type:        str = Field(min_length=1)</a:t>
            </a:r>
          </a:p>
          <a:p>
            <a:pPr algn="l">
              <a:lnSpc>
                <a:spcPct val="135000"/>
              </a:lnSpc>
            </a:pPr>
            <a:r>
              <a:rPr sz="1050" b="0" i="0">
                <a:solidFill>
                  <a:srgbClr val="C7D6EE"/>
                </a:solidFill>
                <a:latin typeface="Menlo"/>
              </a:rPr>
              <a:t>    pressure:    float</a:t>
            </a:r>
          </a:p>
          <a:p>
            <a:pPr algn="l">
              <a:lnSpc>
                <a:spcPct val="135000"/>
              </a:lnSpc>
            </a:pPr>
            <a:r>
              <a:rPr sz="1050" b="0" i="0">
                <a:solidFill>
                  <a:srgbClr val="C7D6EE"/>
                </a:solidFill>
                <a:latin typeface="Menlo"/>
              </a:rPr>
              <a:t>    temperature: float</a:t>
            </a:r>
          </a:p>
          <a:p>
            <a:pPr algn="l">
              <a:lnSpc>
                <a:spcPct val="135000"/>
              </a:lnSpc>
            </a:pPr>
            <a:r>
              <a:rPr sz="1050" b="0" i="0">
                <a:solidFill>
                  <a:srgbClr val="C7D6EE"/>
                </a:solidFill>
                <a:latin typeface="Menlo"/>
              </a:rPr>
              <a:t/>
            </a:r>
          </a:p>
          <a:p>
            <a:pPr algn="l">
              <a:lnSpc>
                <a:spcPct val="135000"/>
              </a:lnSpc>
            </a:pPr>
            <a:r>
              <a:rPr sz="1050" b="0" i="0">
                <a:solidFill>
                  <a:srgbClr val="C7D6EE"/>
                </a:solidFill>
                <a:latin typeface="Menlo"/>
              </a:rPr>
              <a:t>class MeasurementModel(BaseModel):</a:t>
            </a:r>
          </a:p>
          <a:p>
            <a:pPr algn="l">
              <a:lnSpc>
                <a:spcPct val="135000"/>
              </a:lnSpc>
            </a:pPr>
            <a:r>
              <a:rPr sz="1050" b="0" i="0">
                <a:solidFill>
                  <a:srgbClr val="C7D6EE"/>
                </a:solidFill>
                <a:latin typeface="Menlo"/>
              </a:rPr>
              <a:t>    time:        datetime</a:t>
            </a:r>
          </a:p>
          <a:p>
            <a:pPr algn="l">
              <a:lnSpc>
                <a:spcPct val="135000"/>
              </a:lnSpc>
            </a:pPr>
            <a:r>
              <a:rPr sz="1050" b="0" i="0">
                <a:solidFill>
                  <a:srgbClr val="C7D6EE"/>
                </a:solidFill>
                <a:latin typeface="Menlo"/>
              </a:rPr>
              <a:t>    pressure:    float</a:t>
            </a:r>
          </a:p>
          <a:p>
            <a:pPr algn="l">
              <a:lnSpc>
                <a:spcPct val="135000"/>
              </a:lnSpc>
            </a:pPr>
            <a:r>
              <a:rPr sz="1050" b="0" i="0">
                <a:solidFill>
                  <a:srgbClr val="C7D6EE"/>
                </a:solidFill>
                <a:latin typeface="Menlo"/>
              </a:rPr>
              <a:t>    temperature: float</a:t>
            </a:r>
          </a:p>
        </p:txBody>
      </p:sp>
      <p:sp>
        <p:nvSpPr>
          <p:cNvPr id="9" name="Rounded Rectangle 8"/>
          <p:cNvSpPr/>
          <p:nvPr/>
        </p:nvSpPr>
        <p:spPr>
          <a:xfrm>
            <a:off x="6812279" y="1664208"/>
            <a:ext cx="4599432" cy="12344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813194" y="1828800"/>
            <a:ext cx="50292" cy="90525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068312" y="1847088"/>
            <a:ext cx="4142232"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DataModel</a:t>
            </a:r>
          </a:p>
        </p:txBody>
      </p:sp>
      <p:sp>
        <p:nvSpPr>
          <p:cNvPr id="12" name="TextBox 11"/>
          <p:cNvSpPr txBox="1"/>
          <p:nvPr/>
        </p:nvSpPr>
        <p:spPr>
          <a:xfrm>
            <a:off x="7068312" y="2231136"/>
            <a:ext cx="4142232" cy="50292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Was die Bodenstation sendet. Fehlt ein Feld</a:t>
            </a:r>
          </a:p>
          <a:p>
            <a:pPr algn="l">
              <a:lnSpc>
                <a:spcPct val="130000"/>
              </a:lnSpc>
              <a:spcAft>
                <a:spcPts val="500"/>
              </a:spcAft>
            </a:pPr>
            <a:r>
              <a:rPr sz="1000" b="0" i="0">
                <a:solidFill>
                  <a:srgbClr val="8E9DBB"/>
                </a:solidFill>
                <a:latin typeface="Helvetica Neue"/>
              </a:rPr>
              <a:t>oder passt ein Typ nicht, antwortet die</a:t>
            </a:r>
          </a:p>
          <a:p>
            <a:pPr algn="l">
              <a:lnSpc>
                <a:spcPct val="130000"/>
              </a:lnSpc>
              <a:spcAft>
                <a:spcPts val="500"/>
              </a:spcAft>
            </a:pPr>
            <a:r>
              <a:rPr sz="1000" b="0" i="0">
                <a:solidFill>
                  <a:srgbClr val="8E9DBB"/>
                </a:solidFill>
                <a:latin typeface="Helvetica Neue"/>
              </a:rPr>
              <a:t>Verwaltung mit 422.</a:t>
            </a:r>
          </a:p>
        </p:txBody>
      </p:sp>
      <p:sp>
        <p:nvSpPr>
          <p:cNvPr id="13" name="Rounded Rectangle 12"/>
          <p:cNvSpPr/>
          <p:nvPr/>
        </p:nvSpPr>
        <p:spPr>
          <a:xfrm>
            <a:off x="6812279" y="3035808"/>
            <a:ext cx="4599432" cy="12344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813194" y="3200400"/>
            <a:ext cx="50292" cy="90525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068312" y="3218688"/>
            <a:ext cx="4142232"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MeasurementModel</a:t>
            </a:r>
          </a:p>
        </p:txBody>
      </p:sp>
      <p:sp>
        <p:nvSpPr>
          <p:cNvPr id="16" name="TextBox 15"/>
          <p:cNvSpPr txBox="1"/>
          <p:nvPr/>
        </p:nvSpPr>
        <p:spPr>
          <a:xfrm>
            <a:off x="7068312" y="3602736"/>
            <a:ext cx="4142232" cy="50292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Ein Messwert ohne Sensornamen – der steht</a:t>
            </a:r>
          </a:p>
          <a:p>
            <a:pPr algn="l">
              <a:lnSpc>
                <a:spcPct val="130000"/>
              </a:lnSpc>
              <a:spcAft>
                <a:spcPts val="500"/>
              </a:spcAft>
            </a:pPr>
            <a:r>
              <a:rPr sz="1000" b="0" i="0">
                <a:solidFill>
                  <a:srgbClr val="8E9DBB"/>
                </a:solidFill>
                <a:latin typeface="Helvetica Neue"/>
              </a:rPr>
              <a:t>schon im Dokument darüber. Wird für current</a:t>
            </a:r>
          </a:p>
          <a:p>
            <a:pPr algn="l">
              <a:lnSpc>
                <a:spcPct val="130000"/>
              </a:lnSpc>
              <a:spcAft>
                <a:spcPts val="500"/>
              </a:spcAft>
            </a:pPr>
            <a:r>
              <a:rPr sz="1000" b="0" i="0">
                <a:solidFill>
                  <a:srgbClr val="8E9DBB"/>
                </a:solidFill>
                <a:latin typeface="Helvetica Neue"/>
              </a:rPr>
              <a:t>und für die Historie verwendet.</a:t>
            </a:r>
          </a:p>
        </p:txBody>
      </p:sp>
      <p:sp>
        <p:nvSpPr>
          <p:cNvPr id="17" name="Rounded Rectangle 16"/>
          <p:cNvSpPr/>
          <p:nvPr/>
        </p:nvSpPr>
        <p:spPr>
          <a:xfrm>
            <a:off x="6812279" y="4407408"/>
            <a:ext cx="4599432" cy="12344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813194" y="4572000"/>
            <a:ext cx="50292" cy="90525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068312" y="4590288"/>
            <a:ext cx="4142232"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GroupedDataModel</a:t>
            </a:r>
          </a:p>
        </p:txBody>
      </p:sp>
      <p:sp>
        <p:nvSpPr>
          <p:cNvPr id="20" name="TextBox 19"/>
          <p:cNvSpPr txBox="1"/>
          <p:nvPr/>
        </p:nvSpPr>
        <p:spPr>
          <a:xfrm>
            <a:off x="7068312" y="4974336"/>
            <a:ext cx="4142232" cy="50292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Ein Sensor mit seiner Liste von Messwerten –</a:t>
            </a:r>
          </a:p>
          <a:p>
            <a:pPr algn="l">
              <a:lnSpc>
                <a:spcPct val="130000"/>
              </a:lnSpc>
              <a:spcAft>
                <a:spcPts val="500"/>
              </a:spcAft>
            </a:pPr>
            <a:r>
              <a:rPr sz="1000" b="0" i="0">
                <a:solidFill>
                  <a:srgbClr val="8E9DBB"/>
                </a:solidFill>
                <a:latin typeface="Helvetica Neue"/>
              </a:rPr>
              <a:t>genau die Form, in der ein Dokument in der</a:t>
            </a:r>
          </a:p>
          <a:p>
            <a:pPr algn="l">
              <a:lnSpc>
                <a:spcPct val="130000"/>
              </a:lnSpc>
              <a:spcAft>
                <a:spcPts val="500"/>
              </a:spcAft>
            </a:pPr>
            <a:r>
              <a:rPr sz="1000" b="0" i="0">
                <a:solidFill>
                  <a:srgbClr val="8E9DBB"/>
                </a:solidFill>
                <a:latin typeface="Helvetica Neue"/>
              </a:rPr>
              <a:t>Datenbank liegt.</a:t>
            </a:r>
          </a:p>
        </p:txBody>
      </p:sp>
      <p:sp>
        <p:nvSpPr>
          <p:cNvPr id="21" name="Rounded Rectangle 20"/>
          <p:cNvSpPr/>
          <p:nvPr/>
        </p:nvSpPr>
        <p:spPr>
          <a:xfrm>
            <a:off x="777240" y="4407408"/>
            <a:ext cx="5760720" cy="12344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78154" y="4572000"/>
            <a:ext cx="50292" cy="90525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3271" y="4590288"/>
            <a:ext cx="5303520"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time ist ein datetime, kein Text</a:t>
            </a:r>
          </a:p>
        </p:txBody>
      </p:sp>
      <p:sp>
        <p:nvSpPr>
          <p:cNvPr id="24" name="TextBox 23"/>
          <p:cNvSpPr txBox="1"/>
          <p:nvPr/>
        </p:nvSpPr>
        <p:spPr>
          <a:xfrm>
            <a:off x="1033271" y="4974336"/>
            <a:ext cx="5303520" cy="50292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Damit kann die Datenbank Zeitpunkte vergleichen</a:t>
            </a:r>
          </a:p>
          <a:p>
            <a:pPr algn="l">
              <a:lnSpc>
                <a:spcPct val="130000"/>
              </a:lnSpc>
              <a:spcAft>
                <a:spcPts val="500"/>
              </a:spcAft>
            </a:pPr>
            <a:r>
              <a:rPr sz="1000" b="0" i="0">
                <a:solidFill>
                  <a:srgbClr val="8E9DBB"/>
                </a:solidFill>
                <a:latin typeface="Helvetica Neue"/>
              </a:rPr>
              <a:t>und sortieren. Ein Text ließe sich nur alphabetisch</a:t>
            </a:r>
          </a:p>
          <a:p>
            <a:pPr algn="l">
              <a:lnSpc>
                <a:spcPct val="130000"/>
              </a:lnSpc>
              <a:spcAft>
                <a:spcPts val="500"/>
              </a:spcAft>
            </a:pPr>
            <a:r>
              <a:rPr sz="1000" b="0" i="0">
                <a:solidFill>
                  <a:srgbClr val="8E9DBB"/>
                </a:solidFill>
                <a:latin typeface="Helvetica Neue"/>
              </a:rPr>
              <a:t>sortieren.</a:t>
            </a:r>
          </a:p>
        </p:txBody>
      </p:sp>
      <p:sp>
        <p:nvSpPr>
          <p:cNvPr id="25" name="TextBox 24"/>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26" name="TextBox 25"/>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34D399"/>
                </a:solidFill>
                <a:latin typeface="Helvetica Neue"/>
              </a:rPr>
              <a:t>BACKEND · KOMPONENTE 4</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Die Datenbank</a:t>
            </a:r>
          </a:p>
        </p:txBody>
      </p:sp>
      <p:sp>
        <p:nvSpPr>
          <p:cNvPr id="5" name="Rectangle 4"/>
          <p:cNvSpPr/>
          <p:nvPr/>
        </p:nvSpPr>
        <p:spPr>
          <a:xfrm>
            <a:off x="777240" y="1316736"/>
            <a:ext cx="1371600" cy="25603"/>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77240" y="1645920"/>
            <a:ext cx="5120640" cy="228600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8154" y="1810512"/>
            <a:ext cx="50292" cy="195681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1" y="1792224"/>
            <a:ext cx="2743200" cy="274320"/>
          </a:xfrm>
          <a:prstGeom prst="rect">
            <a:avLst/>
          </a:prstGeom>
          <a:noFill/>
        </p:spPr>
        <p:txBody>
          <a:bodyPr wrap="square" anchor="t" lIns="0" rIns="0" tIns="0" bIns="0">
            <a:spAutoFit/>
          </a:bodyPr>
          <a:lstStyle/>
          <a:p>
            <a:pPr algn="l">
              <a:lnSpc>
                <a:spcPct val="120000"/>
              </a:lnSpc>
            </a:pPr>
            <a:r>
              <a:rPr sz="1350" b="1" i="0">
                <a:solidFill>
                  <a:srgbClr val="E8EDF7"/>
                </a:solidFill>
                <a:latin typeface="Menlo"/>
              </a:rPr>
              <a:t>Collection  data</a:t>
            </a:r>
          </a:p>
        </p:txBody>
      </p:sp>
      <p:sp>
        <p:nvSpPr>
          <p:cNvPr id="9" name="TextBox 8"/>
          <p:cNvSpPr txBox="1"/>
          <p:nvPr/>
        </p:nvSpPr>
        <p:spPr>
          <a:xfrm>
            <a:off x="1033271" y="2121408"/>
            <a:ext cx="4572000" cy="237744"/>
          </a:xfrm>
          <a:prstGeom prst="rect">
            <a:avLst/>
          </a:prstGeom>
          <a:noFill/>
        </p:spPr>
        <p:txBody>
          <a:bodyPr wrap="square" anchor="t" lIns="0" rIns="0" tIns="0" bIns="0">
            <a:spAutoFit/>
          </a:bodyPr>
          <a:lstStyle/>
          <a:p>
            <a:pPr algn="l">
              <a:lnSpc>
                <a:spcPct val="120000"/>
              </a:lnSpc>
            </a:pPr>
            <a:r>
              <a:rPr sz="1000" b="1" i="0" spc="160">
                <a:solidFill>
                  <a:srgbClr val="38BDF8"/>
                </a:solidFill>
                <a:latin typeface="Helvetica Neue"/>
              </a:rPr>
              <a:t>NUR DER AKTUELLE ZUSTAND</a:t>
            </a:r>
          </a:p>
        </p:txBody>
      </p:sp>
      <p:sp>
        <p:nvSpPr>
          <p:cNvPr id="10" name="TextBox 9"/>
          <p:cNvSpPr txBox="1"/>
          <p:nvPr/>
        </p:nvSpPr>
        <p:spPr>
          <a:xfrm>
            <a:off x="1033271" y="2450592"/>
            <a:ext cx="4617720" cy="1371600"/>
          </a:xfrm>
          <a:prstGeom prst="rect">
            <a:avLst/>
          </a:prstGeom>
          <a:noFill/>
        </p:spPr>
        <p:txBody>
          <a:bodyPr wrap="square" anchor="t" lIns="0" rIns="0" tIns="0" bIns="0">
            <a:spAutoFit/>
          </a:bodyPr>
          <a:lstStyle/>
          <a:p>
            <a:pPr algn="l">
              <a:lnSpc>
                <a:spcPct val="135000"/>
              </a:lnSpc>
              <a:spcAft>
                <a:spcPts val="400"/>
              </a:spcAft>
            </a:pPr>
            <a:r>
              <a:rPr sz="1000" b="0" i="0">
                <a:solidFill>
                  <a:srgbClr val="8E9DBB"/>
                </a:solidFill>
                <a:latin typeface="Helvetica Neue"/>
              </a:rPr>
              <a:t>Ein Dokument pro Sensor – immer 13.</a:t>
            </a:r>
          </a:p>
          <a:p>
            <a:pPr algn="l">
              <a:lnSpc>
                <a:spcPct val="135000"/>
              </a:lnSpc>
              <a:spcAft>
                <a:spcPts val="400"/>
              </a:spcAft>
            </a:pPr>
            <a:r>
              <a:rPr sz="1000" b="0" i="0">
                <a:solidFill>
                  <a:srgbClr val="8E9DBB"/>
                </a:solidFill>
                <a:latin typeface="Helvetica Neue"/>
              </a:rPr>
              <a:t>Ein neuer Messwert ersetzt den alten vollständig.</a:t>
            </a:r>
          </a:p>
          <a:p>
            <a:pPr algn="l">
              <a:lnSpc>
                <a:spcPct val="135000"/>
              </a:lnSpc>
              <a:spcAft>
                <a:spcPts val="400"/>
              </a:spcAft>
            </a:pPr>
            <a:r>
              <a:rPr sz="1000" b="0" i="0">
                <a:solidFill>
                  <a:srgbClr val="8E9DBB"/>
                </a:solidFill>
                <a:latin typeface="Helvetica Neue"/>
              </a:rPr>
              <a:t>Bleibt dadurch dauerhaft klein und schnell.</a:t>
            </a:r>
          </a:p>
          <a:p>
            <a:pPr algn="l">
              <a:lnSpc>
                <a:spcPct val="135000"/>
              </a:lnSpc>
              <a:spcAft>
                <a:spcPts val="400"/>
              </a:spcAft>
            </a:pPr>
            <a:r>
              <a:rPr sz="1000" b="0" i="0">
                <a:solidFill>
                  <a:srgbClr val="8E9DBB"/>
                </a:solidFill>
                <a:latin typeface="Helvetica Neue"/>
              </a:rPr>
              <a:t>Beantwortet: „Wie geht es dem Satelliten gerade?“</a:t>
            </a:r>
          </a:p>
        </p:txBody>
      </p:sp>
      <p:sp>
        <p:nvSpPr>
          <p:cNvPr id="11" name="Rounded Rectangle 10"/>
          <p:cNvSpPr/>
          <p:nvPr/>
        </p:nvSpPr>
        <p:spPr>
          <a:xfrm>
            <a:off x="6172200" y="1645920"/>
            <a:ext cx="5239512" cy="228600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73114" y="1810512"/>
            <a:ext cx="50292" cy="195681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28231" y="1792224"/>
            <a:ext cx="2926080" cy="274320"/>
          </a:xfrm>
          <a:prstGeom prst="rect">
            <a:avLst/>
          </a:prstGeom>
          <a:noFill/>
        </p:spPr>
        <p:txBody>
          <a:bodyPr wrap="square" anchor="t" lIns="0" rIns="0" tIns="0" bIns="0">
            <a:spAutoFit/>
          </a:bodyPr>
          <a:lstStyle/>
          <a:p>
            <a:pPr algn="l">
              <a:lnSpc>
                <a:spcPct val="120000"/>
              </a:lnSpc>
            </a:pPr>
            <a:r>
              <a:rPr sz="1350" b="1" i="0">
                <a:solidFill>
                  <a:srgbClr val="E8EDF7"/>
                </a:solidFill>
                <a:latin typeface="Menlo"/>
              </a:rPr>
              <a:t>Collection  data_wsi</a:t>
            </a:r>
          </a:p>
        </p:txBody>
      </p:sp>
      <p:sp>
        <p:nvSpPr>
          <p:cNvPr id="14" name="TextBox 13"/>
          <p:cNvSpPr txBox="1"/>
          <p:nvPr/>
        </p:nvSpPr>
        <p:spPr>
          <a:xfrm>
            <a:off x="6428231" y="2121408"/>
            <a:ext cx="4572000" cy="237744"/>
          </a:xfrm>
          <a:prstGeom prst="rect">
            <a:avLst/>
          </a:prstGeom>
          <a:noFill/>
        </p:spPr>
        <p:txBody>
          <a:bodyPr wrap="square" anchor="t" lIns="0" rIns="0" tIns="0" bIns="0">
            <a:spAutoFit/>
          </a:bodyPr>
          <a:lstStyle/>
          <a:p>
            <a:pPr algn="l">
              <a:lnSpc>
                <a:spcPct val="120000"/>
              </a:lnSpc>
            </a:pPr>
            <a:r>
              <a:rPr sz="1000" b="1" i="0" spc="160">
                <a:solidFill>
                  <a:srgbClr val="34D399"/>
                </a:solidFill>
                <a:latin typeface="Helvetica Neue"/>
              </a:rPr>
              <a:t>DIE KOMPLETTE HISTORIE</a:t>
            </a:r>
          </a:p>
        </p:txBody>
      </p:sp>
      <p:sp>
        <p:nvSpPr>
          <p:cNvPr id="15" name="TextBox 14"/>
          <p:cNvSpPr txBox="1"/>
          <p:nvPr/>
        </p:nvSpPr>
        <p:spPr>
          <a:xfrm>
            <a:off x="6428231" y="2450592"/>
            <a:ext cx="4754880" cy="1371600"/>
          </a:xfrm>
          <a:prstGeom prst="rect">
            <a:avLst/>
          </a:prstGeom>
          <a:noFill/>
        </p:spPr>
        <p:txBody>
          <a:bodyPr wrap="square" anchor="t" lIns="0" rIns="0" tIns="0" bIns="0">
            <a:spAutoFit/>
          </a:bodyPr>
          <a:lstStyle/>
          <a:p>
            <a:pPr algn="l">
              <a:lnSpc>
                <a:spcPct val="135000"/>
              </a:lnSpc>
              <a:spcAft>
                <a:spcPts val="400"/>
              </a:spcAft>
            </a:pPr>
            <a:r>
              <a:rPr sz="1000" b="0" i="0">
                <a:solidFill>
                  <a:srgbClr val="8E9DBB"/>
                </a:solidFill>
                <a:latin typeface="Helvetica Neue"/>
              </a:rPr>
              <a:t>Ein Dokument pro Sensor mit einer Liste aller Messwerte.</a:t>
            </a:r>
          </a:p>
          <a:p>
            <a:pPr algn="l">
              <a:lnSpc>
                <a:spcPct val="135000"/>
              </a:lnSpc>
              <a:spcAft>
                <a:spcPts val="400"/>
              </a:spcAft>
            </a:pPr>
            <a:r>
              <a:rPr sz="1000" b="0" i="0">
                <a:solidFill>
                  <a:srgbClr val="8E9DBB"/>
                </a:solidFill>
                <a:latin typeface="Helvetica Neue"/>
              </a:rPr>
              <a:t>Es wird nur angehängt, nie gelöscht.</a:t>
            </a:r>
          </a:p>
          <a:p>
            <a:pPr algn="l">
              <a:lnSpc>
                <a:spcPct val="135000"/>
              </a:lnSpc>
              <a:spcAft>
                <a:spcPts val="400"/>
              </a:spcAft>
            </a:pPr>
            <a:r>
              <a:rPr sz="1000" b="0" i="0">
                <a:solidFill>
                  <a:srgbClr val="8E9DBB"/>
                </a:solidFill>
                <a:latin typeface="Helvetica Neue"/>
              </a:rPr>
              <a:t>Wächst mit jeder Meldung weiter.</a:t>
            </a:r>
          </a:p>
          <a:p>
            <a:pPr algn="l">
              <a:lnSpc>
                <a:spcPct val="135000"/>
              </a:lnSpc>
              <a:spcAft>
                <a:spcPts val="400"/>
              </a:spcAft>
            </a:pPr>
            <a:r>
              <a:rPr sz="1000" b="0" i="0">
                <a:solidFill>
                  <a:srgbClr val="8E9DBB"/>
                </a:solidFill>
                <a:latin typeface="Helvetica Neue"/>
              </a:rPr>
              <a:t>Beantwortet: „Wie war der Verlauf?“</a:t>
            </a:r>
          </a:p>
        </p:txBody>
      </p:sp>
      <p:sp>
        <p:nvSpPr>
          <p:cNvPr id="16" name="TextBox 15"/>
          <p:cNvSpPr txBox="1"/>
          <p:nvPr/>
        </p:nvSpPr>
        <p:spPr>
          <a:xfrm>
            <a:off x="777240" y="4133087"/>
            <a:ext cx="10637215" cy="256032"/>
          </a:xfrm>
          <a:prstGeom prst="rect">
            <a:avLst/>
          </a:prstGeom>
          <a:noFill/>
        </p:spPr>
        <p:txBody>
          <a:bodyPr wrap="square" anchor="t" lIns="0" rIns="0" tIns="0" bIns="0">
            <a:spAutoFit/>
          </a:bodyPr>
          <a:lstStyle/>
          <a:p>
            <a:pPr algn="l">
              <a:lnSpc>
                <a:spcPct val="120000"/>
              </a:lnSpc>
            </a:pPr>
            <a:r>
              <a:rPr sz="950" b="1" i="0" spc="160">
                <a:solidFill>
                  <a:srgbClr val="5A6A89"/>
                </a:solidFill>
                <a:latin typeface="Helvetica Neue"/>
              </a:rPr>
              <a:t>STAND DER DATENBANK</a:t>
            </a:r>
          </a:p>
        </p:txBody>
      </p:sp>
      <p:sp>
        <p:nvSpPr>
          <p:cNvPr id="17" name="Rounded Rectangle 16"/>
          <p:cNvSpPr/>
          <p:nvPr/>
        </p:nvSpPr>
        <p:spPr>
          <a:xfrm>
            <a:off x="777240" y="4443984"/>
            <a:ext cx="2487168" cy="105156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77240" y="4590288"/>
            <a:ext cx="2487168" cy="457200"/>
          </a:xfrm>
          <a:prstGeom prst="rect">
            <a:avLst/>
          </a:prstGeom>
          <a:noFill/>
        </p:spPr>
        <p:txBody>
          <a:bodyPr wrap="square" anchor="t" lIns="0" rIns="0" tIns="0" bIns="0">
            <a:spAutoFit/>
          </a:bodyPr>
          <a:lstStyle/>
          <a:p>
            <a:pPr algn="ctr">
              <a:lnSpc>
                <a:spcPct val="120000"/>
              </a:lnSpc>
            </a:pPr>
            <a:r>
              <a:rPr sz="2600" b="1" i="0">
                <a:solidFill>
                  <a:srgbClr val="38BDF8"/>
                </a:solidFill>
                <a:latin typeface="Helvetica Neue"/>
              </a:rPr>
              <a:t>13</a:t>
            </a:r>
          </a:p>
        </p:txBody>
      </p:sp>
      <p:sp>
        <p:nvSpPr>
          <p:cNvPr id="19" name="TextBox 18"/>
          <p:cNvSpPr txBox="1"/>
          <p:nvPr/>
        </p:nvSpPr>
        <p:spPr>
          <a:xfrm>
            <a:off x="777240" y="5102352"/>
            <a:ext cx="2487168" cy="274320"/>
          </a:xfrm>
          <a:prstGeom prst="rect">
            <a:avLst/>
          </a:prstGeom>
          <a:noFill/>
        </p:spPr>
        <p:txBody>
          <a:bodyPr wrap="square" anchor="t" lIns="0" rIns="0" tIns="0" bIns="0">
            <a:spAutoFit/>
          </a:bodyPr>
          <a:lstStyle/>
          <a:p>
            <a:pPr algn="ctr">
              <a:lnSpc>
                <a:spcPct val="120000"/>
              </a:lnSpc>
            </a:pPr>
            <a:r>
              <a:rPr sz="900" b="0" i="0" spc="160">
                <a:solidFill>
                  <a:srgbClr val="8E9DBB"/>
                </a:solidFill>
                <a:latin typeface="Helvetica Neue"/>
              </a:rPr>
              <a:t>SENSOREN IN DATA</a:t>
            </a:r>
          </a:p>
        </p:txBody>
      </p:sp>
      <p:sp>
        <p:nvSpPr>
          <p:cNvPr id="20" name="Rounded Rectangle 19"/>
          <p:cNvSpPr/>
          <p:nvPr/>
        </p:nvSpPr>
        <p:spPr>
          <a:xfrm>
            <a:off x="3493008" y="4443984"/>
            <a:ext cx="2487168" cy="105156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93008" y="4590288"/>
            <a:ext cx="2487168" cy="457200"/>
          </a:xfrm>
          <a:prstGeom prst="rect">
            <a:avLst/>
          </a:prstGeom>
          <a:noFill/>
        </p:spPr>
        <p:txBody>
          <a:bodyPr wrap="square" anchor="t" lIns="0" rIns="0" tIns="0" bIns="0">
            <a:spAutoFit/>
          </a:bodyPr>
          <a:lstStyle/>
          <a:p>
            <a:pPr algn="ctr">
              <a:lnSpc>
                <a:spcPct val="120000"/>
              </a:lnSpc>
            </a:pPr>
            <a:r>
              <a:rPr sz="2600" b="1" i="0">
                <a:solidFill>
                  <a:srgbClr val="34D399"/>
                </a:solidFill>
                <a:latin typeface="Helvetica Neue"/>
              </a:rPr>
              <a:t>13</a:t>
            </a:r>
          </a:p>
        </p:txBody>
      </p:sp>
      <p:sp>
        <p:nvSpPr>
          <p:cNvPr id="22" name="TextBox 21"/>
          <p:cNvSpPr txBox="1"/>
          <p:nvPr/>
        </p:nvSpPr>
        <p:spPr>
          <a:xfrm>
            <a:off x="3493008" y="5102352"/>
            <a:ext cx="2487168" cy="274320"/>
          </a:xfrm>
          <a:prstGeom prst="rect">
            <a:avLst/>
          </a:prstGeom>
          <a:noFill/>
        </p:spPr>
        <p:txBody>
          <a:bodyPr wrap="square" anchor="t" lIns="0" rIns="0" tIns="0" bIns="0">
            <a:spAutoFit/>
          </a:bodyPr>
          <a:lstStyle/>
          <a:p>
            <a:pPr algn="ctr">
              <a:lnSpc>
                <a:spcPct val="120000"/>
              </a:lnSpc>
            </a:pPr>
            <a:r>
              <a:rPr sz="900" b="0" i="0" spc="160">
                <a:solidFill>
                  <a:srgbClr val="8E9DBB"/>
                </a:solidFill>
                <a:latin typeface="Helvetica Neue"/>
              </a:rPr>
              <a:t>DOKUMENTE IN DATA_WSI</a:t>
            </a:r>
          </a:p>
        </p:txBody>
      </p:sp>
      <p:sp>
        <p:nvSpPr>
          <p:cNvPr id="23" name="Rounded Rectangle 22"/>
          <p:cNvSpPr/>
          <p:nvPr/>
        </p:nvSpPr>
        <p:spPr>
          <a:xfrm>
            <a:off x="6208776" y="4443984"/>
            <a:ext cx="2487168" cy="105156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08776" y="4590288"/>
            <a:ext cx="2487168" cy="457200"/>
          </a:xfrm>
          <a:prstGeom prst="rect">
            <a:avLst/>
          </a:prstGeom>
          <a:noFill/>
        </p:spPr>
        <p:txBody>
          <a:bodyPr wrap="square" anchor="t" lIns="0" rIns="0" tIns="0" bIns="0">
            <a:spAutoFit/>
          </a:bodyPr>
          <a:lstStyle/>
          <a:p>
            <a:pPr algn="ctr">
              <a:lnSpc>
                <a:spcPct val="120000"/>
              </a:lnSpc>
            </a:pPr>
            <a:r>
              <a:rPr sz="2600" b="1" i="0">
                <a:solidFill>
                  <a:srgbClr val="34D399"/>
                </a:solidFill>
                <a:latin typeface="Helvetica Neue"/>
              </a:rPr>
              <a:t>2 315</a:t>
            </a:r>
          </a:p>
        </p:txBody>
      </p:sp>
      <p:sp>
        <p:nvSpPr>
          <p:cNvPr id="25" name="TextBox 24"/>
          <p:cNvSpPr txBox="1"/>
          <p:nvPr/>
        </p:nvSpPr>
        <p:spPr>
          <a:xfrm>
            <a:off x="6208776" y="5102352"/>
            <a:ext cx="2487168" cy="274320"/>
          </a:xfrm>
          <a:prstGeom prst="rect">
            <a:avLst/>
          </a:prstGeom>
          <a:noFill/>
        </p:spPr>
        <p:txBody>
          <a:bodyPr wrap="square" anchor="t" lIns="0" rIns="0" tIns="0" bIns="0">
            <a:spAutoFit/>
          </a:bodyPr>
          <a:lstStyle/>
          <a:p>
            <a:pPr algn="ctr">
              <a:lnSpc>
                <a:spcPct val="120000"/>
              </a:lnSpc>
            </a:pPr>
            <a:r>
              <a:rPr sz="900" b="0" i="0" spc="160">
                <a:solidFill>
                  <a:srgbClr val="8E9DBB"/>
                </a:solidFill>
                <a:latin typeface="Helvetica Neue"/>
              </a:rPr>
              <a:t>MESSWERTE IN DER HISTORIE</a:t>
            </a:r>
          </a:p>
        </p:txBody>
      </p:sp>
      <p:sp>
        <p:nvSpPr>
          <p:cNvPr id="26" name="Rounded Rectangle 25"/>
          <p:cNvSpPr/>
          <p:nvPr/>
        </p:nvSpPr>
        <p:spPr>
          <a:xfrm>
            <a:off x="8924544" y="4443984"/>
            <a:ext cx="2487168" cy="105156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924544" y="4590288"/>
            <a:ext cx="2487168" cy="457200"/>
          </a:xfrm>
          <a:prstGeom prst="rect">
            <a:avLst/>
          </a:prstGeom>
          <a:noFill/>
        </p:spPr>
        <p:txBody>
          <a:bodyPr wrap="square" anchor="t" lIns="0" rIns="0" tIns="0" bIns="0">
            <a:spAutoFit/>
          </a:bodyPr>
          <a:lstStyle/>
          <a:p>
            <a:pPr algn="ctr">
              <a:lnSpc>
                <a:spcPct val="120000"/>
              </a:lnSpc>
            </a:pPr>
            <a:r>
              <a:rPr sz="2600" b="1" i="0">
                <a:solidFill>
                  <a:srgbClr val="A78BFA"/>
                </a:solidFill>
                <a:latin typeface="Helvetica Neue"/>
              </a:rPr>
              <a:t>1</a:t>
            </a:r>
          </a:p>
        </p:txBody>
      </p:sp>
      <p:sp>
        <p:nvSpPr>
          <p:cNvPr id="28" name="TextBox 27"/>
          <p:cNvSpPr txBox="1"/>
          <p:nvPr/>
        </p:nvSpPr>
        <p:spPr>
          <a:xfrm>
            <a:off x="8924544" y="5102352"/>
            <a:ext cx="2487168" cy="274320"/>
          </a:xfrm>
          <a:prstGeom prst="rect">
            <a:avLst/>
          </a:prstGeom>
          <a:noFill/>
        </p:spPr>
        <p:txBody>
          <a:bodyPr wrap="square" anchor="t" lIns="0" rIns="0" tIns="0" bIns="0">
            <a:spAutoFit/>
          </a:bodyPr>
          <a:lstStyle/>
          <a:p>
            <a:pPr algn="ctr">
              <a:lnSpc>
                <a:spcPct val="120000"/>
              </a:lnSpc>
            </a:pPr>
            <a:r>
              <a:rPr sz="900" b="0" i="0" spc="160">
                <a:solidFill>
                  <a:srgbClr val="8E9DBB"/>
                </a:solidFill>
                <a:latin typeface="Helvetica Neue"/>
              </a:rPr>
              <a:t>DATENBANK IN DOCKER</a:t>
            </a:r>
          </a:p>
        </p:txBody>
      </p:sp>
      <p:sp>
        <p:nvSpPr>
          <p:cNvPr id="29" name="TextBox 28"/>
          <p:cNvSpPr txBox="1"/>
          <p:nvPr/>
        </p:nvSpPr>
        <p:spPr>
          <a:xfrm>
            <a:off x="777240" y="5687568"/>
            <a:ext cx="10637215" cy="365760"/>
          </a:xfrm>
          <a:prstGeom prst="rect">
            <a:avLst/>
          </a:prstGeom>
          <a:noFill/>
        </p:spPr>
        <p:txBody>
          <a:bodyPr wrap="square" anchor="t" lIns="0" rIns="0" tIns="0" bIns="0">
            <a:spAutoFit/>
          </a:bodyPr>
          <a:lstStyle/>
          <a:p>
            <a:pPr algn="l">
              <a:lnSpc>
                <a:spcPct val="130000"/>
              </a:lnSpc>
            </a:pPr>
            <a:r>
              <a:rPr sz="1050" b="0" i="0">
                <a:solidFill>
                  <a:srgbClr val="8E9DBB"/>
                </a:solidFill>
                <a:latin typeface="Helvetica Neue"/>
              </a:rPr>
              <a:t>Dieselbe Frage zweimal getrennt beantwortet: die eine Collection bleibt klein, weil sie vergisst – die andere wächst, weil sie sich alles merkt.</a:t>
            </a:r>
          </a:p>
        </p:txBody>
      </p:sp>
      <p:sp>
        <p:nvSpPr>
          <p:cNvPr id="30" name="TextBox 29"/>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31" name="TextBox 30"/>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FRONTEND · ÜBERBLICK</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Zwei Ansichten, ein Umschalter</a:t>
            </a:r>
          </a:p>
        </p:txBody>
      </p:sp>
      <p:sp>
        <p:nvSpPr>
          <p:cNvPr id="5" name="Rectangle 4"/>
          <p:cNvSpPr/>
          <p:nvPr/>
        </p:nvSpPr>
        <p:spPr>
          <a:xfrm>
            <a:off x="777240" y="1316736"/>
            <a:ext cx="1371600" cy="2560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77240" y="1645920"/>
            <a:ext cx="4709160" cy="4023360"/>
          </a:xfrm>
          <a:prstGeom prst="roundRect">
            <a:avLst>
              <a:gd name="adj" fmla="val 2800"/>
            </a:avLst>
          </a:prstGeom>
          <a:solidFill>
            <a:srgbClr val="DDE4EE"/>
          </a:solidFill>
          <a:ln w="12700">
            <a:solidFill>
              <a:srgbClr val="2E3E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905256" y="1769364"/>
            <a:ext cx="86868" cy="86868"/>
          </a:xfrm>
          <a:prstGeom prst="ellipse">
            <a:avLst/>
          </a:prstGeom>
          <a:solidFill>
            <a:srgbClr val="F28B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1046988" y="1769364"/>
            <a:ext cx="86868" cy="86868"/>
          </a:xfrm>
          <a:prstGeom prst="ellipse">
            <a:avLst/>
          </a:prstGeom>
          <a:solidFill>
            <a:srgbClr val="F5C2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188720" y="1769364"/>
            <a:ext cx="86868" cy="86868"/>
          </a:xfrm>
          <a:prstGeom prst="ellipse">
            <a:avLst/>
          </a:prstGeom>
          <a:solidFill>
            <a:srgbClr val="86C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1380744" y="1732788"/>
            <a:ext cx="3959352" cy="16916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99616" y="1757476"/>
            <a:ext cx="3758184" cy="146304"/>
          </a:xfrm>
          <a:prstGeom prst="rect">
            <a:avLst/>
          </a:prstGeom>
          <a:noFill/>
        </p:spPr>
        <p:txBody>
          <a:bodyPr wrap="square" anchor="t" lIns="0" rIns="0" tIns="0" bIns="0">
            <a:spAutoFit/>
          </a:bodyPr>
          <a:lstStyle/>
          <a:p>
            <a:pPr algn="l">
              <a:lnSpc>
                <a:spcPct val="120000"/>
              </a:lnSpc>
            </a:pPr>
            <a:r>
              <a:rPr sz="700" b="0" i="0">
                <a:solidFill>
                  <a:srgbClr val="64748B"/>
                </a:solidFill>
                <a:latin typeface="Menlo"/>
              </a:rPr>
              <a:t>localhost:5173</a:t>
            </a:r>
          </a:p>
        </p:txBody>
      </p:sp>
      <p:sp>
        <p:nvSpPr>
          <p:cNvPr id="12" name="Rectangle 11"/>
          <p:cNvSpPr/>
          <p:nvPr/>
        </p:nvSpPr>
        <p:spPr>
          <a:xfrm>
            <a:off x="841247" y="1975104"/>
            <a:ext cx="4581144" cy="363016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rot="19800000">
            <a:off x="2820924" y="2084831"/>
            <a:ext cx="621792" cy="274320"/>
          </a:xfrm>
          <a:prstGeom prst="ellipse">
            <a:avLst/>
          </a:prstGeom>
          <a:no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3054096" y="2153412"/>
            <a:ext cx="155448" cy="15544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41247" y="2377440"/>
            <a:ext cx="4581144" cy="256032"/>
          </a:xfrm>
          <a:prstGeom prst="rect">
            <a:avLst/>
          </a:prstGeom>
          <a:noFill/>
        </p:spPr>
        <p:txBody>
          <a:bodyPr wrap="square" anchor="t" lIns="0" rIns="0" tIns="0" bIns="0">
            <a:spAutoFit/>
          </a:bodyPr>
          <a:lstStyle/>
          <a:p>
            <a:pPr algn="ctr">
              <a:lnSpc>
                <a:spcPct val="120000"/>
              </a:lnSpc>
            </a:pPr>
            <a:r>
              <a:rPr sz="1300" b="1" i="0">
                <a:solidFill>
                  <a:srgbClr val="0F172A"/>
                </a:solidFill>
                <a:latin typeface="Helvetica Neue"/>
              </a:rPr>
              <a:t>Satelliten Daten</a:t>
            </a:r>
          </a:p>
        </p:txBody>
      </p:sp>
      <p:sp>
        <p:nvSpPr>
          <p:cNvPr id="16" name="TextBox 15"/>
          <p:cNvSpPr txBox="1"/>
          <p:nvPr/>
        </p:nvSpPr>
        <p:spPr>
          <a:xfrm>
            <a:off x="841247" y="2606040"/>
            <a:ext cx="4581144" cy="182880"/>
          </a:xfrm>
          <a:prstGeom prst="rect">
            <a:avLst/>
          </a:prstGeom>
          <a:noFill/>
        </p:spPr>
        <p:txBody>
          <a:bodyPr wrap="square" anchor="t" lIns="0" rIns="0" tIns="0" bIns="0">
            <a:spAutoFit/>
          </a:bodyPr>
          <a:lstStyle/>
          <a:p>
            <a:pPr algn="ctr">
              <a:lnSpc>
                <a:spcPct val="120000"/>
              </a:lnSpc>
            </a:pPr>
            <a:r>
              <a:rPr sz="750" b="0" i="0">
                <a:solidFill>
                  <a:srgbClr val="64748B"/>
                </a:solidFill>
                <a:latin typeface="Helvetica Neue"/>
              </a:rPr>
              <a:t>Live-Telemetrie der Bodenstation</a:t>
            </a:r>
          </a:p>
        </p:txBody>
      </p:sp>
      <p:sp>
        <p:nvSpPr>
          <p:cNvPr id="17" name="Rounded Rectangle 16"/>
          <p:cNvSpPr/>
          <p:nvPr/>
        </p:nvSpPr>
        <p:spPr>
          <a:xfrm>
            <a:off x="1499616" y="2798064"/>
            <a:ext cx="3264408" cy="292608"/>
          </a:xfrm>
          <a:prstGeom prst="roundRect">
            <a:avLst>
              <a:gd name="adj" fmla="val 14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1572768" y="2852928"/>
            <a:ext cx="182880" cy="182880"/>
          </a:xfrm>
          <a:prstGeom prst="roundRect">
            <a:avLst>
              <a:gd name="adj" fmla="val 3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632204" y="2903220"/>
            <a:ext cx="96012" cy="96012"/>
          </a:xfrm>
          <a:prstGeom prst="ellipse">
            <a:avLst/>
          </a:prstGeom>
          <a:noFill/>
          <a:ln w="1143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717243" y="2988259"/>
            <a:ext cx="50292"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828800" y="2894076"/>
            <a:ext cx="2148840" cy="182880"/>
          </a:xfrm>
          <a:prstGeom prst="rect">
            <a:avLst/>
          </a:prstGeom>
          <a:noFill/>
        </p:spPr>
        <p:txBody>
          <a:bodyPr wrap="square" anchor="t" lIns="0" rIns="0" tIns="0" bIns="0">
            <a:spAutoFit/>
          </a:bodyPr>
          <a:lstStyle/>
          <a:p>
            <a:pPr algn="l">
              <a:lnSpc>
                <a:spcPct val="120000"/>
              </a:lnSpc>
            </a:pPr>
            <a:r>
              <a:rPr sz="850" b="0" i="0">
                <a:solidFill>
                  <a:srgbClr val="94A3B8"/>
                </a:solidFill>
                <a:latin typeface="Helvetica Neue"/>
              </a:rPr>
              <a:t>Daten durchsuchen…</a:t>
            </a:r>
          </a:p>
        </p:txBody>
      </p:sp>
      <p:sp>
        <p:nvSpPr>
          <p:cNvPr id="22" name="Rounded Rectangle 21"/>
          <p:cNvSpPr/>
          <p:nvPr/>
        </p:nvSpPr>
        <p:spPr>
          <a:xfrm>
            <a:off x="4288536" y="2875788"/>
            <a:ext cx="384048" cy="137160"/>
          </a:xfrm>
          <a:prstGeom prst="roundRect">
            <a:avLst>
              <a:gd name="adj" fmla="val 20000"/>
            </a:avLst>
          </a:prstGeom>
          <a:solidFill>
            <a:srgbClr val="F8FAFC"/>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288536" y="2912364"/>
            <a:ext cx="384048" cy="146304"/>
          </a:xfrm>
          <a:prstGeom prst="rect">
            <a:avLst/>
          </a:prstGeom>
          <a:noFill/>
        </p:spPr>
        <p:txBody>
          <a:bodyPr wrap="square" anchor="t" lIns="0" rIns="0" tIns="0" bIns="0">
            <a:spAutoFit/>
          </a:bodyPr>
          <a:lstStyle/>
          <a:p>
            <a:pPr algn="ctr">
              <a:lnSpc>
                <a:spcPct val="120000"/>
              </a:lnSpc>
            </a:pPr>
            <a:r>
              <a:rPr sz="700" b="0" i="0">
                <a:solidFill>
                  <a:srgbClr val="64748B"/>
                </a:solidFill>
                <a:latin typeface="Helvetica Neue"/>
              </a:rPr>
              <a:t>⌘K</a:t>
            </a:r>
          </a:p>
        </p:txBody>
      </p:sp>
      <p:sp>
        <p:nvSpPr>
          <p:cNvPr id="24" name="TextBox 23"/>
          <p:cNvSpPr txBox="1"/>
          <p:nvPr/>
        </p:nvSpPr>
        <p:spPr>
          <a:xfrm>
            <a:off x="987551" y="3255264"/>
            <a:ext cx="2194560" cy="164592"/>
          </a:xfrm>
          <a:prstGeom prst="rect">
            <a:avLst/>
          </a:prstGeom>
          <a:noFill/>
        </p:spPr>
        <p:txBody>
          <a:bodyPr wrap="square" anchor="t" lIns="0" rIns="0" tIns="0" bIns="0">
            <a:spAutoFit/>
          </a:bodyPr>
          <a:lstStyle/>
          <a:p>
            <a:pPr algn="l">
              <a:lnSpc>
                <a:spcPct val="120000"/>
              </a:lnSpc>
            </a:pPr>
            <a:r>
              <a:rPr sz="800" b="1" i="0">
                <a:solidFill>
                  <a:srgbClr val="0F172A"/>
                </a:solidFill>
                <a:latin typeface="Helvetica Neue"/>
              </a:rPr>
              <a:t>Thruster</a:t>
            </a:r>
          </a:p>
        </p:txBody>
      </p:sp>
      <p:sp>
        <p:nvSpPr>
          <p:cNvPr id="25" name="Rounded Rectangle 24"/>
          <p:cNvSpPr/>
          <p:nvPr/>
        </p:nvSpPr>
        <p:spPr>
          <a:xfrm>
            <a:off x="987551" y="3447288"/>
            <a:ext cx="4288536" cy="493776"/>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97280" y="3502152"/>
            <a:ext cx="1828800" cy="155448"/>
          </a:xfrm>
          <a:prstGeom prst="rect">
            <a:avLst/>
          </a:prstGeom>
          <a:noFill/>
        </p:spPr>
        <p:txBody>
          <a:bodyPr wrap="square" anchor="t" lIns="0" rIns="0" tIns="0" bIns="0">
            <a:spAutoFit/>
          </a:bodyPr>
          <a:lstStyle/>
          <a:p>
            <a:pPr algn="l">
              <a:lnSpc>
                <a:spcPct val="120000"/>
              </a:lnSpc>
            </a:pPr>
            <a:r>
              <a:rPr sz="700" b="0" i="0">
                <a:solidFill>
                  <a:srgbClr val="2563EB"/>
                </a:solidFill>
                <a:latin typeface="Menlo"/>
              </a:rPr>
              <a:t>thruster_1.a</a:t>
            </a:r>
          </a:p>
        </p:txBody>
      </p:sp>
      <p:sp>
        <p:nvSpPr>
          <p:cNvPr id="27" name="TextBox 26"/>
          <p:cNvSpPr txBox="1"/>
          <p:nvPr/>
        </p:nvSpPr>
        <p:spPr>
          <a:xfrm>
            <a:off x="2944368" y="3502152"/>
            <a:ext cx="91440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3,35</a:t>
            </a:r>
          </a:p>
        </p:txBody>
      </p:sp>
      <p:sp>
        <p:nvSpPr>
          <p:cNvPr id="28" name="TextBox 27"/>
          <p:cNvSpPr txBox="1"/>
          <p:nvPr/>
        </p:nvSpPr>
        <p:spPr>
          <a:xfrm>
            <a:off x="3995928" y="3502152"/>
            <a:ext cx="109728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432,2</a:t>
            </a:r>
          </a:p>
        </p:txBody>
      </p:sp>
      <p:sp>
        <p:nvSpPr>
          <p:cNvPr id="29" name="TextBox 28"/>
          <p:cNvSpPr txBox="1"/>
          <p:nvPr/>
        </p:nvSpPr>
        <p:spPr>
          <a:xfrm>
            <a:off x="1097280" y="3712464"/>
            <a:ext cx="1828800" cy="155448"/>
          </a:xfrm>
          <a:prstGeom prst="rect">
            <a:avLst/>
          </a:prstGeom>
          <a:noFill/>
        </p:spPr>
        <p:txBody>
          <a:bodyPr wrap="square" anchor="t" lIns="0" rIns="0" tIns="0" bIns="0">
            <a:spAutoFit/>
          </a:bodyPr>
          <a:lstStyle/>
          <a:p>
            <a:pPr algn="l">
              <a:lnSpc>
                <a:spcPct val="120000"/>
              </a:lnSpc>
            </a:pPr>
            <a:r>
              <a:rPr sz="700" b="0" i="0">
                <a:solidFill>
                  <a:srgbClr val="2563EB"/>
                </a:solidFill>
                <a:latin typeface="Menlo"/>
              </a:rPr>
              <a:t>thruster_1.b</a:t>
            </a:r>
          </a:p>
        </p:txBody>
      </p:sp>
      <p:sp>
        <p:nvSpPr>
          <p:cNvPr id="30" name="TextBox 29"/>
          <p:cNvSpPr txBox="1"/>
          <p:nvPr/>
        </p:nvSpPr>
        <p:spPr>
          <a:xfrm>
            <a:off x="2944368" y="3712464"/>
            <a:ext cx="91440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3,12</a:t>
            </a:r>
          </a:p>
        </p:txBody>
      </p:sp>
      <p:sp>
        <p:nvSpPr>
          <p:cNvPr id="31" name="TextBox 30"/>
          <p:cNvSpPr txBox="1"/>
          <p:nvPr/>
        </p:nvSpPr>
        <p:spPr>
          <a:xfrm>
            <a:off x="3995928" y="3712464"/>
            <a:ext cx="109728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441,7</a:t>
            </a:r>
          </a:p>
        </p:txBody>
      </p:sp>
      <p:sp>
        <p:nvSpPr>
          <p:cNvPr id="32" name="TextBox 31"/>
          <p:cNvSpPr txBox="1"/>
          <p:nvPr/>
        </p:nvSpPr>
        <p:spPr>
          <a:xfrm>
            <a:off x="987551" y="4041648"/>
            <a:ext cx="2194560" cy="164592"/>
          </a:xfrm>
          <a:prstGeom prst="rect">
            <a:avLst/>
          </a:prstGeom>
          <a:noFill/>
        </p:spPr>
        <p:txBody>
          <a:bodyPr wrap="square" anchor="t" lIns="0" rIns="0" tIns="0" bIns="0">
            <a:spAutoFit/>
          </a:bodyPr>
          <a:lstStyle/>
          <a:p>
            <a:pPr algn="l">
              <a:lnSpc>
                <a:spcPct val="120000"/>
              </a:lnSpc>
            </a:pPr>
            <a:r>
              <a:rPr sz="800" b="1" i="0">
                <a:solidFill>
                  <a:srgbClr val="0F172A"/>
                </a:solidFill>
                <a:latin typeface="Helvetica Neue"/>
              </a:rPr>
              <a:t>Oxygen Tanks</a:t>
            </a:r>
          </a:p>
        </p:txBody>
      </p:sp>
      <p:sp>
        <p:nvSpPr>
          <p:cNvPr id="33" name="Rounded Rectangle 32"/>
          <p:cNvSpPr/>
          <p:nvPr/>
        </p:nvSpPr>
        <p:spPr>
          <a:xfrm>
            <a:off x="987551" y="4233672"/>
            <a:ext cx="4288536" cy="493776"/>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097280" y="4288536"/>
            <a:ext cx="1828800" cy="155448"/>
          </a:xfrm>
          <a:prstGeom prst="rect">
            <a:avLst/>
          </a:prstGeom>
          <a:noFill/>
        </p:spPr>
        <p:txBody>
          <a:bodyPr wrap="square" anchor="t" lIns="0" rIns="0" tIns="0" bIns="0">
            <a:spAutoFit/>
          </a:bodyPr>
          <a:lstStyle/>
          <a:p>
            <a:pPr algn="l">
              <a:lnSpc>
                <a:spcPct val="120000"/>
              </a:lnSpc>
            </a:pPr>
            <a:r>
              <a:rPr sz="700" b="0" i="0">
                <a:solidFill>
                  <a:srgbClr val="2563EB"/>
                </a:solidFill>
                <a:latin typeface="Menlo"/>
              </a:rPr>
              <a:t>o_tank_1</a:t>
            </a:r>
          </a:p>
        </p:txBody>
      </p:sp>
      <p:sp>
        <p:nvSpPr>
          <p:cNvPr id="35" name="TextBox 34"/>
          <p:cNvSpPr txBox="1"/>
          <p:nvPr/>
        </p:nvSpPr>
        <p:spPr>
          <a:xfrm>
            <a:off x="2944368" y="4288536"/>
            <a:ext cx="91440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5,10</a:t>
            </a:r>
          </a:p>
        </p:txBody>
      </p:sp>
      <p:sp>
        <p:nvSpPr>
          <p:cNvPr id="36" name="TextBox 35"/>
          <p:cNvSpPr txBox="1"/>
          <p:nvPr/>
        </p:nvSpPr>
        <p:spPr>
          <a:xfrm>
            <a:off x="3995928" y="4288536"/>
            <a:ext cx="109728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268,4</a:t>
            </a:r>
          </a:p>
        </p:txBody>
      </p:sp>
      <p:sp>
        <p:nvSpPr>
          <p:cNvPr id="37" name="TextBox 36"/>
          <p:cNvSpPr txBox="1"/>
          <p:nvPr/>
        </p:nvSpPr>
        <p:spPr>
          <a:xfrm>
            <a:off x="1097280" y="4498848"/>
            <a:ext cx="1828800" cy="155448"/>
          </a:xfrm>
          <a:prstGeom prst="rect">
            <a:avLst/>
          </a:prstGeom>
          <a:noFill/>
        </p:spPr>
        <p:txBody>
          <a:bodyPr wrap="square" anchor="t" lIns="0" rIns="0" tIns="0" bIns="0">
            <a:spAutoFit/>
          </a:bodyPr>
          <a:lstStyle/>
          <a:p>
            <a:pPr algn="l">
              <a:lnSpc>
                <a:spcPct val="120000"/>
              </a:lnSpc>
            </a:pPr>
            <a:r>
              <a:rPr sz="700" b="0" i="0">
                <a:solidFill>
                  <a:srgbClr val="2563EB"/>
                </a:solidFill>
                <a:latin typeface="Menlo"/>
              </a:rPr>
              <a:t>o_tank_2</a:t>
            </a:r>
          </a:p>
        </p:txBody>
      </p:sp>
      <p:sp>
        <p:nvSpPr>
          <p:cNvPr id="38" name="TextBox 37"/>
          <p:cNvSpPr txBox="1"/>
          <p:nvPr/>
        </p:nvSpPr>
        <p:spPr>
          <a:xfrm>
            <a:off x="2944368" y="4498848"/>
            <a:ext cx="91440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4,87</a:t>
            </a:r>
          </a:p>
        </p:txBody>
      </p:sp>
      <p:sp>
        <p:nvSpPr>
          <p:cNvPr id="39" name="TextBox 38"/>
          <p:cNvSpPr txBox="1"/>
          <p:nvPr/>
        </p:nvSpPr>
        <p:spPr>
          <a:xfrm>
            <a:off x="3995928" y="4498848"/>
            <a:ext cx="109728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271,9</a:t>
            </a:r>
          </a:p>
        </p:txBody>
      </p:sp>
      <p:sp>
        <p:nvSpPr>
          <p:cNvPr id="40" name="TextBox 39"/>
          <p:cNvSpPr txBox="1"/>
          <p:nvPr/>
        </p:nvSpPr>
        <p:spPr>
          <a:xfrm>
            <a:off x="987551" y="4828032"/>
            <a:ext cx="2194560" cy="164592"/>
          </a:xfrm>
          <a:prstGeom prst="rect">
            <a:avLst/>
          </a:prstGeom>
          <a:noFill/>
        </p:spPr>
        <p:txBody>
          <a:bodyPr wrap="square" anchor="t" lIns="0" rIns="0" tIns="0" bIns="0">
            <a:spAutoFit/>
          </a:bodyPr>
          <a:lstStyle/>
          <a:p>
            <a:pPr algn="l">
              <a:lnSpc>
                <a:spcPct val="120000"/>
              </a:lnSpc>
            </a:pPr>
            <a:r>
              <a:rPr sz="800" b="1" i="0">
                <a:solidFill>
                  <a:srgbClr val="0F172A"/>
                </a:solidFill>
                <a:latin typeface="Helvetica Neue"/>
              </a:rPr>
              <a:t>Hydrogen Tanks</a:t>
            </a:r>
          </a:p>
        </p:txBody>
      </p:sp>
      <p:sp>
        <p:nvSpPr>
          <p:cNvPr id="41" name="Rounded Rectangle 40"/>
          <p:cNvSpPr/>
          <p:nvPr/>
        </p:nvSpPr>
        <p:spPr>
          <a:xfrm>
            <a:off x="987551" y="5020056"/>
            <a:ext cx="4288536" cy="493776"/>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97280" y="5074920"/>
            <a:ext cx="1828800" cy="155448"/>
          </a:xfrm>
          <a:prstGeom prst="rect">
            <a:avLst/>
          </a:prstGeom>
          <a:noFill/>
        </p:spPr>
        <p:txBody>
          <a:bodyPr wrap="square" anchor="t" lIns="0" rIns="0" tIns="0" bIns="0">
            <a:spAutoFit/>
          </a:bodyPr>
          <a:lstStyle/>
          <a:p>
            <a:pPr algn="l">
              <a:lnSpc>
                <a:spcPct val="120000"/>
              </a:lnSpc>
            </a:pPr>
            <a:r>
              <a:rPr sz="700" b="0" i="0">
                <a:solidFill>
                  <a:srgbClr val="2563EB"/>
                </a:solidFill>
                <a:latin typeface="Menlo"/>
              </a:rPr>
              <a:t>h_tank_1</a:t>
            </a:r>
          </a:p>
        </p:txBody>
      </p:sp>
      <p:sp>
        <p:nvSpPr>
          <p:cNvPr id="43" name="TextBox 42"/>
          <p:cNvSpPr txBox="1"/>
          <p:nvPr/>
        </p:nvSpPr>
        <p:spPr>
          <a:xfrm>
            <a:off x="2944368" y="5074920"/>
            <a:ext cx="91440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6,02</a:t>
            </a:r>
          </a:p>
        </p:txBody>
      </p:sp>
      <p:sp>
        <p:nvSpPr>
          <p:cNvPr id="44" name="TextBox 43"/>
          <p:cNvSpPr txBox="1"/>
          <p:nvPr/>
        </p:nvSpPr>
        <p:spPr>
          <a:xfrm>
            <a:off x="3995928" y="5074920"/>
            <a:ext cx="109728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240,1</a:t>
            </a:r>
          </a:p>
        </p:txBody>
      </p:sp>
      <p:sp>
        <p:nvSpPr>
          <p:cNvPr id="45" name="TextBox 44"/>
          <p:cNvSpPr txBox="1"/>
          <p:nvPr/>
        </p:nvSpPr>
        <p:spPr>
          <a:xfrm>
            <a:off x="1097280" y="5285232"/>
            <a:ext cx="1828800" cy="155448"/>
          </a:xfrm>
          <a:prstGeom prst="rect">
            <a:avLst/>
          </a:prstGeom>
          <a:noFill/>
        </p:spPr>
        <p:txBody>
          <a:bodyPr wrap="square" anchor="t" lIns="0" rIns="0" tIns="0" bIns="0">
            <a:spAutoFit/>
          </a:bodyPr>
          <a:lstStyle/>
          <a:p>
            <a:pPr algn="l">
              <a:lnSpc>
                <a:spcPct val="120000"/>
              </a:lnSpc>
            </a:pPr>
            <a:r>
              <a:rPr sz="700" b="0" i="0">
                <a:solidFill>
                  <a:srgbClr val="2563EB"/>
                </a:solidFill>
                <a:latin typeface="Menlo"/>
              </a:rPr>
              <a:t>h_tank_2</a:t>
            </a:r>
          </a:p>
        </p:txBody>
      </p:sp>
      <p:sp>
        <p:nvSpPr>
          <p:cNvPr id="46" name="TextBox 45"/>
          <p:cNvSpPr txBox="1"/>
          <p:nvPr/>
        </p:nvSpPr>
        <p:spPr>
          <a:xfrm>
            <a:off x="2944368" y="5285232"/>
            <a:ext cx="91440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5,74</a:t>
            </a:r>
          </a:p>
        </p:txBody>
      </p:sp>
      <p:sp>
        <p:nvSpPr>
          <p:cNvPr id="47" name="TextBox 46"/>
          <p:cNvSpPr txBox="1"/>
          <p:nvPr/>
        </p:nvSpPr>
        <p:spPr>
          <a:xfrm>
            <a:off x="3995928" y="5285232"/>
            <a:ext cx="1097280" cy="155448"/>
          </a:xfrm>
          <a:prstGeom prst="rect">
            <a:avLst/>
          </a:prstGeom>
          <a:noFill/>
        </p:spPr>
        <p:txBody>
          <a:bodyPr wrap="square" anchor="t" lIns="0" rIns="0" tIns="0" bIns="0">
            <a:spAutoFit/>
          </a:bodyPr>
          <a:lstStyle/>
          <a:p>
            <a:pPr algn="r">
              <a:lnSpc>
                <a:spcPct val="120000"/>
              </a:lnSpc>
            </a:pPr>
            <a:r>
              <a:rPr sz="700" b="0" i="0">
                <a:solidFill>
                  <a:srgbClr val="0F172A"/>
                </a:solidFill>
                <a:latin typeface="Menlo"/>
              </a:rPr>
              <a:t>236,8</a:t>
            </a:r>
          </a:p>
        </p:txBody>
      </p:sp>
      <p:sp>
        <p:nvSpPr>
          <p:cNvPr id="48" name="TextBox 47"/>
          <p:cNvSpPr txBox="1"/>
          <p:nvPr/>
        </p:nvSpPr>
        <p:spPr>
          <a:xfrm>
            <a:off x="777240" y="5779008"/>
            <a:ext cx="4709160" cy="182880"/>
          </a:xfrm>
          <a:prstGeom prst="rect">
            <a:avLst/>
          </a:prstGeom>
          <a:noFill/>
        </p:spPr>
        <p:txBody>
          <a:bodyPr wrap="square" anchor="t" lIns="0" rIns="0" tIns="0" bIns="0">
            <a:spAutoFit/>
          </a:bodyPr>
          <a:lstStyle/>
          <a:p>
            <a:pPr algn="ctr">
              <a:lnSpc>
                <a:spcPct val="120000"/>
              </a:lnSpc>
            </a:pPr>
            <a:r>
              <a:rPr sz="1100" b="1" i="0">
                <a:solidFill>
                  <a:srgbClr val="E8EDF7"/>
                </a:solidFill>
                <a:latin typeface="Helvetica Neue"/>
              </a:rPr>
              <a:t>Startseite</a:t>
            </a:r>
          </a:p>
        </p:txBody>
      </p:sp>
      <p:sp>
        <p:nvSpPr>
          <p:cNvPr id="49" name="TextBox 48"/>
          <p:cNvSpPr txBox="1"/>
          <p:nvPr/>
        </p:nvSpPr>
        <p:spPr>
          <a:xfrm>
            <a:off x="777240" y="5998464"/>
            <a:ext cx="4709160"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Menlo"/>
              </a:rPr>
              <a:t>Startseite.jsx + AlteTable.jsx  ·  GET /data/current</a:t>
            </a:r>
          </a:p>
        </p:txBody>
      </p:sp>
      <p:sp>
        <p:nvSpPr>
          <p:cNvPr id="50" name="Rounded Rectangle 49"/>
          <p:cNvSpPr/>
          <p:nvPr/>
        </p:nvSpPr>
        <p:spPr>
          <a:xfrm>
            <a:off x="6705295" y="1645920"/>
            <a:ext cx="4709160" cy="4023360"/>
          </a:xfrm>
          <a:prstGeom prst="roundRect">
            <a:avLst>
              <a:gd name="adj" fmla="val 2800"/>
            </a:avLst>
          </a:prstGeom>
          <a:solidFill>
            <a:srgbClr val="DDE4EE"/>
          </a:solidFill>
          <a:ln w="12700">
            <a:solidFill>
              <a:srgbClr val="2E3E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6833311" y="1769364"/>
            <a:ext cx="86868" cy="86868"/>
          </a:xfrm>
          <a:prstGeom prst="ellipse">
            <a:avLst/>
          </a:prstGeom>
          <a:solidFill>
            <a:srgbClr val="F28B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6975043" y="1769364"/>
            <a:ext cx="86868" cy="86868"/>
          </a:xfrm>
          <a:prstGeom prst="ellipse">
            <a:avLst/>
          </a:prstGeom>
          <a:solidFill>
            <a:srgbClr val="F5C2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7116775" y="1769364"/>
            <a:ext cx="86868" cy="86868"/>
          </a:xfrm>
          <a:prstGeom prst="ellipse">
            <a:avLst/>
          </a:prstGeom>
          <a:solidFill>
            <a:srgbClr val="86C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7308799" y="1732788"/>
            <a:ext cx="3959352" cy="16916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427671" y="1757476"/>
            <a:ext cx="3758184" cy="146304"/>
          </a:xfrm>
          <a:prstGeom prst="rect">
            <a:avLst/>
          </a:prstGeom>
          <a:noFill/>
        </p:spPr>
        <p:txBody>
          <a:bodyPr wrap="square" anchor="t" lIns="0" rIns="0" tIns="0" bIns="0">
            <a:spAutoFit/>
          </a:bodyPr>
          <a:lstStyle/>
          <a:p>
            <a:pPr algn="l">
              <a:lnSpc>
                <a:spcPct val="120000"/>
              </a:lnSpc>
            </a:pPr>
            <a:r>
              <a:rPr sz="700" b="0" i="0">
                <a:solidFill>
                  <a:srgbClr val="64748B"/>
                </a:solidFill>
                <a:latin typeface="Menlo"/>
              </a:rPr>
              <a:t>localhost:5173</a:t>
            </a:r>
          </a:p>
        </p:txBody>
      </p:sp>
      <p:sp>
        <p:nvSpPr>
          <p:cNvPr id="56" name="Rectangle 55"/>
          <p:cNvSpPr/>
          <p:nvPr/>
        </p:nvSpPr>
        <p:spPr>
          <a:xfrm>
            <a:off x="6769303" y="1975104"/>
            <a:ext cx="4581144" cy="363016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6769303" y="1975104"/>
            <a:ext cx="4581144"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6769303" y="2340864"/>
            <a:ext cx="4581144" cy="7315"/>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rot="19800000">
            <a:off x="6897319" y="2093976"/>
            <a:ext cx="201168" cy="128016"/>
          </a:xfrm>
          <a:prstGeom prst="ellipse">
            <a:avLst/>
          </a:prstGeom>
          <a:no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153351" y="2084832"/>
            <a:ext cx="1463040" cy="164592"/>
          </a:xfrm>
          <a:prstGeom prst="rect">
            <a:avLst/>
          </a:prstGeom>
          <a:noFill/>
        </p:spPr>
        <p:txBody>
          <a:bodyPr wrap="square" anchor="t" lIns="0" rIns="0" tIns="0" bIns="0">
            <a:spAutoFit/>
          </a:bodyPr>
          <a:lstStyle/>
          <a:p>
            <a:pPr algn="l">
              <a:lnSpc>
                <a:spcPct val="120000"/>
              </a:lnSpc>
            </a:pPr>
            <a:r>
              <a:rPr sz="800" b="1" i="0">
                <a:solidFill>
                  <a:srgbClr val="0F172A"/>
                </a:solidFill>
                <a:latin typeface="Helvetica Neue"/>
              </a:rPr>
              <a:t>Satelliten Daten</a:t>
            </a:r>
          </a:p>
        </p:txBody>
      </p:sp>
      <p:sp>
        <p:nvSpPr>
          <p:cNvPr id="61" name="TextBox 60"/>
          <p:cNvSpPr txBox="1"/>
          <p:nvPr/>
        </p:nvSpPr>
        <p:spPr>
          <a:xfrm>
            <a:off x="9475927" y="2098548"/>
            <a:ext cx="777240" cy="146304"/>
          </a:xfrm>
          <a:prstGeom prst="rect">
            <a:avLst/>
          </a:prstGeom>
          <a:noFill/>
        </p:spPr>
        <p:txBody>
          <a:bodyPr wrap="square" anchor="t" lIns="0" rIns="0" tIns="0" bIns="0">
            <a:spAutoFit/>
          </a:bodyPr>
          <a:lstStyle/>
          <a:p>
            <a:pPr algn="r">
              <a:lnSpc>
                <a:spcPct val="120000"/>
              </a:lnSpc>
            </a:pPr>
            <a:r>
              <a:rPr sz="700" b="0" i="0">
                <a:solidFill>
                  <a:srgbClr val="94A3B8"/>
                </a:solidFill>
                <a:latin typeface="Helvetica Neue"/>
              </a:rPr>
              <a:t>vor 3 s</a:t>
            </a:r>
          </a:p>
        </p:txBody>
      </p:sp>
      <p:sp>
        <p:nvSpPr>
          <p:cNvPr id="62" name="Rounded Rectangle 61"/>
          <p:cNvSpPr/>
          <p:nvPr/>
        </p:nvSpPr>
        <p:spPr>
          <a:xfrm>
            <a:off x="10326319" y="2057400"/>
            <a:ext cx="914400" cy="210312"/>
          </a:xfrm>
          <a:prstGeom prst="roundRect">
            <a:avLst>
              <a:gd name="adj" fmla="val 18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10326319" y="2089404"/>
            <a:ext cx="914400" cy="164592"/>
          </a:xfrm>
          <a:prstGeom prst="rect">
            <a:avLst/>
          </a:prstGeom>
          <a:noFill/>
        </p:spPr>
        <p:txBody>
          <a:bodyPr wrap="square" anchor="t" lIns="0" rIns="0" tIns="0" bIns="0">
            <a:spAutoFit/>
          </a:bodyPr>
          <a:lstStyle/>
          <a:p>
            <a:pPr algn="ctr">
              <a:lnSpc>
                <a:spcPct val="120000"/>
              </a:lnSpc>
            </a:pPr>
            <a:r>
              <a:rPr sz="750" b="0" i="0">
                <a:solidFill>
                  <a:srgbClr val="64748B"/>
                </a:solidFill>
                <a:latin typeface="Helvetica Neue"/>
              </a:rPr>
              <a:t>Aktualisieren</a:t>
            </a:r>
          </a:p>
        </p:txBody>
      </p:sp>
      <p:sp>
        <p:nvSpPr>
          <p:cNvPr id="64" name="TextBox 63"/>
          <p:cNvSpPr txBox="1"/>
          <p:nvPr/>
        </p:nvSpPr>
        <p:spPr>
          <a:xfrm>
            <a:off x="6915607" y="2432304"/>
            <a:ext cx="2194560" cy="237744"/>
          </a:xfrm>
          <a:prstGeom prst="rect">
            <a:avLst/>
          </a:prstGeom>
          <a:noFill/>
        </p:spPr>
        <p:txBody>
          <a:bodyPr wrap="square" anchor="t" lIns="0" rIns="0" tIns="0" bIns="0">
            <a:spAutoFit/>
          </a:bodyPr>
          <a:lstStyle/>
          <a:p>
            <a:pPr algn="l">
              <a:lnSpc>
                <a:spcPct val="120000"/>
              </a:lnSpc>
            </a:pPr>
            <a:r>
              <a:rPr sz="1250" b="1" i="0">
                <a:solidFill>
                  <a:srgbClr val="0F172A"/>
                </a:solidFill>
                <a:latin typeface="Helvetica Neue"/>
              </a:rPr>
              <a:t>Telemetrie</a:t>
            </a:r>
          </a:p>
        </p:txBody>
      </p:sp>
      <p:sp>
        <p:nvSpPr>
          <p:cNvPr id="65" name="TextBox 64"/>
          <p:cNvSpPr txBox="1"/>
          <p:nvPr/>
        </p:nvSpPr>
        <p:spPr>
          <a:xfrm>
            <a:off x="6915607" y="2670048"/>
            <a:ext cx="4023360" cy="164592"/>
          </a:xfrm>
          <a:prstGeom prst="rect">
            <a:avLst/>
          </a:prstGeom>
          <a:noFill/>
        </p:spPr>
        <p:txBody>
          <a:bodyPr wrap="square" anchor="t" lIns="0" rIns="0" tIns="0" bIns="0">
            <a:spAutoFit/>
          </a:bodyPr>
          <a:lstStyle/>
          <a:p>
            <a:pPr algn="l">
              <a:lnSpc>
                <a:spcPct val="120000"/>
              </a:lnSpc>
            </a:pPr>
            <a:r>
              <a:rPr sz="750" b="0" i="0">
                <a:solidFill>
                  <a:srgbClr val="64748B"/>
                </a:solidFill>
                <a:latin typeface="Helvetica Neue"/>
              </a:rPr>
              <a:t>Live-Sensordaten der Bodenstation</a:t>
            </a:r>
          </a:p>
        </p:txBody>
      </p:sp>
      <p:sp>
        <p:nvSpPr>
          <p:cNvPr id="66" name="Rounded Rectangle 65"/>
          <p:cNvSpPr/>
          <p:nvPr/>
        </p:nvSpPr>
        <p:spPr>
          <a:xfrm>
            <a:off x="6915607" y="2871216"/>
            <a:ext cx="1338072" cy="566928"/>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7043623" y="2971800"/>
            <a:ext cx="1082040" cy="146304"/>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DATENSÄTZE</a:t>
            </a:r>
          </a:p>
        </p:txBody>
      </p:sp>
      <p:sp>
        <p:nvSpPr>
          <p:cNvPr id="68" name="TextBox 67"/>
          <p:cNvSpPr txBox="1"/>
          <p:nvPr/>
        </p:nvSpPr>
        <p:spPr>
          <a:xfrm>
            <a:off x="7043623" y="3127248"/>
            <a:ext cx="1082040" cy="256032"/>
          </a:xfrm>
          <a:prstGeom prst="rect">
            <a:avLst/>
          </a:prstGeom>
          <a:noFill/>
        </p:spPr>
        <p:txBody>
          <a:bodyPr wrap="square" anchor="t" lIns="0" rIns="0" tIns="0" bIns="0">
            <a:spAutoFit/>
          </a:bodyPr>
          <a:lstStyle/>
          <a:p>
            <a:pPr algn="l">
              <a:lnSpc>
                <a:spcPct val="120000"/>
              </a:lnSpc>
            </a:pPr>
            <a:r>
              <a:rPr sz="1400" b="1" i="0">
                <a:solidFill>
                  <a:srgbClr val="0F172A"/>
                </a:solidFill>
                <a:latin typeface="Helvetica Neue"/>
              </a:rPr>
              <a:t>2 315</a:t>
            </a:r>
          </a:p>
        </p:txBody>
      </p:sp>
      <p:sp>
        <p:nvSpPr>
          <p:cNvPr id="69" name="Rounded Rectangle 68"/>
          <p:cNvSpPr/>
          <p:nvPr/>
        </p:nvSpPr>
        <p:spPr>
          <a:xfrm>
            <a:off x="8390839" y="2871216"/>
            <a:ext cx="1338072" cy="566928"/>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8518855" y="2971800"/>
            <a:ext cx="1082040" cy="146304"/>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Ø DRUCK</a:t>
            </a:r>
          </a:p>
        </p:txBody>
      </p:sp>
      <p:sp>
        <p:nvSpPr>
          <p:cNvPr id="71" name="TextBox 70"/>
          <p:cNvSpPr txBox="1"/>
          <p:nvPr/>
        </p:nvSpPr>
        <p:spPr>
          <a:xfrm>
            <a:off x="8518855" y="3127248"/>
            <a:ext cx="1082040" cy="256032"/>
          </a:xfrm>
          <a:prstGeom prst="rect">
            <a:avLst/>
          </a:prstGeom>
          <a:noFill/>
        </p:spPr>
        <p:txBody>
          <a:bodyPr wrap="square" anchor="t" lIns="0" rIns="0" tIns="0" bIns="0">
            <a:spAutoFit/>
          </a:bodyPr>
          <a:lstStyle/>
          <a:p>
            <a:pPr algn="l">
              <a:lnSpc>
                <a:spcPct val="120000"/>
              </a:lnSpc>
            </a:pPr>
            <a:r>
              <a:rPr sz="1400" b="1" i="0">
                <a:solidFill>
                  <a:srgbClr val="0F172A"/>
                </a:solidFill>
                <a:latin typeface="Helvetica Neue"/>
              </a:rPr>
              <a:t>4,71</a:t>
            </a:r>
          </a:p>
        </p:txBody>
      </p:sp>
      <p:sp>
        <p:nvSpPr>
          <p:cNvPr id="72" name="TextBox 71"/>
          <p:cNvSpPr txBox="1"/>
          <p:nvPr/>
        </p:nvSpPr>
        <p:spPr>
          <a:xfrm>
            <a:off x="8950452" y="3204972"/>
            <a:ext cx="548640" cy="146304"/>
          </a:xfrm>
          <a:prstGeom prst="rect">
            <a:avLst/>
          </a:prstGeom>
          <a:noFill/>
        </p:spPr>
        <p:txBody>
          <a:bodyPr wrap="square" anchor="t" lIns="0" rIns="0" tIns="0" bIns="0">
            <a:spAutoFit/>
          </a:bodyPr>
          <a:lstStyle/>
          <a:p>
            <a:pPr algn="l">
              <a:lnSpc>
                <a:spcPct val="120000"/>
              </a:lnSpc>
            </a:pPr>
            <a:r>
              <a:rPr sz="700" b="0" i="0">
                <a:solidFill>
                  <a:srgbClr val="94A3B8"/>
                </a:solidFill>
                <a:latin typeface="Helvetica Neue"/>
              </a:rPr>
              <a:t>bar</a:t>
            </a:r>
          </a:p>
        </p:txBody>
      </p:sp>
      <p:sp>
        <p:nvSpPr>
          <p:cNvPr id="73" name="Rounded Rectangle 72"/>
          <p:cNvSpPr/>
          <p:nvPr/>
        </p:nvSpPr>
        <p:spPr>
          <a:xfrm>
            <a:off x="9866071" y="2871216"/>
            <a:ext cx="1338072" cy="566928"/>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9994087" y="2971800"/>
            <a:ext cx="1082040" cy="146304"/>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Ø TEMPERATUR</a:t>
            </a:r>
          </a:p>
        </p:txBody>
      </p:sp>
      <p:sp>
        <p:nvSpPr>
          <p:cNvPr id="75" name="TextBox 74"/>
          <p:cNvSpPr txBox="1"/>
          <p:nvPr/>
        </p:nvSpPr>
        <p:spPr>
          <a:xfrm>
            <a:off x="9994087" y="3127248"/>
            <a:ext cx="1082040" cy="256032"/>
          </a:xfrm>
          <a:prstGeom prst="rect">
            <a:avLst/>
          </a:prstGeom>
          <a:noFill/>
        </p:spPr>
        <p:txBody>
          <a:bodyPr wrap="square" anchor="t" lIns="0" rIns="0" tIns="0" bIns="0">
            <a:spAutoFit/>
          </a:bodyPr>
          <a:lstStyle/>
          <a:p>
            <a:pPr algn="l">
              <a:lnSpc>
                <a:spcPct val="120000"/>
              </a:lnSpc>
            </a:pPr>
            <a:r>
              <a:rPr sz="1400" b="1" i="0">
                <a:solidFill>
                  <a:srgbClr val="0F172A"/>
                </a:solidFill>
                <a:latin typeface="Helvetica Neue"/>
              </a:rPr>
              <a:t>351,8</a:t>
            </a:r>
          </a:p>
        </p:txBody>
      </p:sp>
      <p:sp>
        <p:nvSpPr>
          <p:cNvPr id="76" name="TextBox 75"/>
          <p:cNvSpPr txBox="1"/>
          <p:nvPr/>
        </p:nvSpPr>
        <p:spPr>
          <a:xfrm>
            <a:off x="10524439" y="3204972"/>
            <a:ext cx="548640" cy="146304"/>
          </a:xfrm>
          <a:prstGeom prst="rect">
            <a:avLst/>
          </a:prstGeom>
          <a:noFill/>
        </p:spPr>
        <p:txBody>
          <a:bodyPr wrap="square" anchor="t" lIns="0" rIns="0" tIns="0" bIns="0">
            <a:spAutoFit/>
          </a:bodyPr>
          <a:lstStyle/>
          <a:p>
            <a:pPr algn="l">
              <a:lnSpc>
                <a:spcPct val="120000"/>
              </a:lnSpc>
            </a:pPr>
            <a:r>
              <a:rPr sz="700" b="0" i="0">
                <a:solidFill>
                  <a:srgbClr val="94A3B8"/>
                </a:solidFill>
                <a:latin typeface="Helvetica Neue"/>
              </a:rPr>
              <a:t>K</a:t>
            </a:r>
          </a:p>
        </p:txBody>
      </p:sp>
      <p:sp>
        <p:nvSpPr>
          <p:cNvPr id="77" name="Rounded Rectangle 76"/>
          <p:cNvSpPr/>
          <p:nvPr/>
        </p:nvSpPr>
        <p:spPr>
          <a:xfrm>
            <a:off x="6915607" y="3584448"/>
            <a:ext cx="4288536" cy="292608"/>
          </a:xfrm>
          <a:prstGeom prst="roundRect">
            <a:avLst>
              <a:gd name="adj" fmla="val 14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ounded Rectangle 77"/>
          <p:cNvSpPr/>
          <p:nvPr/>
        </p:nvSpPr>
        <p:spPr>
          <a:xfrm>
            <a:off x="6988759" y="3639312"/>
            <a:ext cx="182880" cy="182880"/>
          </a:xfrm>
          <a:prstGeom prst="roundRect">
            <a:avLst>
              <a:gd name="adj" fmla="val 3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Oval 78"/>
          <p:cNvSpPr/>
          <p:nvPr/>
        </p:nvSpPr>
        <p:spPr>
          <a:xfrm>
            <a:off x="7048195" y="3689604"/>
            <a:ext cx="96012" cy="96012"/>
          </a:xfrm>
          <a:prstGeom prst="ellipse">
            <a:avLst/>
          </a:prstGeom>
          <a:noFill/>
          <a:ln w="1143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ectangle 79"/>
          <p:cNvSpPr/>
          <p:nvPr/>
        </p:nvSpPr>
        <p:spPr>
          <a:xfrm>
            <a:off x="7133234" y="3774643"/>
            <a:ext cx="50292"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7244791" y="3680460"/>
            <a:ext cx="3172968" cy="182880"/>
          </a:xfrm>
          <a:prstGeom prst="rect">
            <a:avLst/>
          </a:prstGeom>
          <a:noFill/>
        </p:spPr>
        <p:txBody>
          <a:bodyPr wrap="square" anchor="t" lIns="0" rIns="0" tIns="0" bIns="0">
            <a:spAutoFit/>
          </a:bodyPr>
          <a:lstStyle/>
          <a:p>
            <a:pPr algn="l">
              <a:lnSpc>
                <a:spcPct val="120000"/>
              </a:lnSpc>
            </a:pPr>
            <a:r>
              <a:rPr sz="850" b="0" i="0">
                <a:solidFill>
                  <a:srgbClr val="94A3B8"/>
                </a:solidFill>
                <a:latin typeface="Helvetica Neue"/>
              </a:rPr>
              <a:t>Sensor, Typ oder Zeitstempel suchen…</a:t>
            </a:r>
          </a:p>
        </p:txBody>
      </p:sp>
      <p:sp>
        <p:nvSpPr>
          <p:cNvPr id="82" name="Rounded Rectangle 81"/>
          <p:cNvSpPr/>
          <p:nvPr/>
        </p:nvSpPr>
        <p:spPr>
          <a:xfrm>
            <a:off x="10728655" y="3662172"/>
            <a:ext cx="384048" cy="137160"/>
          </a:xfrm>
          <a:prstGeom prst="roundRect">
            <a:avLst>
              <a:gd name="adj" fmla="val 20000"/>
            </a:avLst>
          </a:prstGeom>
          <a:solidFill>
            <a:srgbClr val="F8FAFC"/>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10728655" y="3698748"/>
            <a:ext cx="384048" cy="146304"/>
          </a:xfrm>
          <a:prstGeom prst="rect">
            <a:avLst/>
          </a:prstGeom>
          <a:noFill/>
        </p:spPr>
        <p:txBody>
          <a:bodyPr wrap="square" anchor="t" lIns="0" rIns="0" tIns="0" bIns="0">
            <a:spAutoFit/>
          </a:bodyPr>
          <a:lstStyle/>
          <a:p>
            <a:pPr algn="ctr">
              <a:lnSpc>
                <a:spcPct val="120000"/>
              </a:lnSpc>
            </a:pPr>
            <a:r>
              <a:rPr sz="700" b="0" i="0">
                <a:solidFill>
                  <a:srgbClr val="64748B"/>
                </a:solidFill>
                <a:latin typeface="Helvetica Neue"/>
              </a:rPr>
              <a:t>⌘K</a:t>
            </a:r>
          </a:p>
        </p:txBody>
      </p:sp>
      <p:sp>
        <p:nvSpPr>
          <p:cNvPr id="84" name="Rounded Rectangle 83"/>
          <p:cNvSpPr/>
          <p:nvPr/>
        </p:nvSpPr>
        <p:spPr>
          <a:xfrm>
            <a:off x="6915607" y="4023360"/>
            <a:ext cx="4288536" cy="1536192"/>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7025335" y="4114800"/>
            <a:ext cx="937808" cy="164592"/>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NAME  ↕</a:t>
            </a:r>
          </a:p>
        </p:txBody>
      </p:sp>
      <p:sp>
        <p:nvSpPr>
          <p:cNvPr id="86" name="TextBox 85"/>
          <p:cNvSpPr txBox="1"/>
          <p:nvPr/>
        </p:nvSpPr>
        <p:spPr>
          <a:xfrm>
            <a:off x="8054583" y="4114800"/>
            <a:ext cx="530397" cy="164592"/>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TYP  ↕</a:t>
            </a:r>
          </a:p>
        </p:txBody>
      </p:sp>
      <p:sp>
        <p:nvSpPr>
          <p:cNvPr id="87" name="TextBox 86"/>
          <p:cNvSpPr txBox="1"/>
          <p:nvPr/>
        </p:nvSpPr>
        <p:spPr>
          <a:xfrm>
            <a:off x="8676421" y="4114800"/>
            <a:ext cx="766267" cy="164592"/>
          </a:xfrm>
          <a:prstGeom prst="rect">
            <a:avLst/>
          </a:prstGeom>
          <a:noFill/>
        </p:spPr>
        <p:txBody>
          <a:bodyPr wrap="square" anchor="t" lIns="0" rIns="0" tIns="0" bIns="0">
            <a:spAutoFit/>
          </a:bodyPr>
          <a:lstStyle/>
          <a:p>
            <a:pPr algn="r">
              <a:lnSpc>
                <a:spcPct val="120000"/>
              </a:lnSpc>
            </a:pPr>
            <a:r>
              <a:rPr sz="650" b="1" i="0" spc="160">
                <a:solidFill>
                  <a:srgbClr val="94A3B8"/>
                </a:solidFill>
                <a:latin typeface="Helvetica Neue"/>
              </a:rPr>
              <a:t>DRUCK (BAR)  ↕</a:t>
            </a:r>
          </a:p>
        </p:txBody>
      </p:sp>
      <p:sp>
        <p:nvSpPr>
          <p:cNvPr id="88" name="TextBox 87"/>
          <p:cNvSpPr txBox="1"/>
          <p:nvPr/>
        </p:nvSpPr>
        <p:spPr>
          <a:xfrm>
            <a:off x="9534128" y="4114800"/>
            <a:ext cx="787709" cy="164592"/>
          </a:xfrm>
          <a:prstGeom prst="rect">
            <a:avLst/>
          </a:prstGeom>
          <a:noFill/>
        </p:spPr>
        <p:txBody>
          <a:bodyPr wrap="square" anchor="t" lIns="0" rIns="0" tIns="0" bIns="0">
            <a:spAutoFit/>
          </a:bodyPr>
          <a:lstStyle/>
          <a:p>
            <a:pPr algn="r">
              <a:lnSpc>
                <a:spcPct val="120000"/>
              </a:lnSpc>
            </a:pPr>
            <a:r>
              <a:rPr sz="650" b="1" i="0" spc="160">
                <a:solidFill>
                  <a:srgbClr val="94A3B8"/>
                </a:solidFill>
                <a:latin typeface="Helvetica Neue"/>
              </a:rPr>
              <a:t>TEMPERATUR (K)  ↕</a:t>
            </a:r>
          </a:p>
        </p:txBody>
      </p:sp>
      <p:sp>
        <p:nvSpPr>
          <p:cNvPr id="89" name="TextBox 88"/>
          <p:cNvSpPr txBox="1"/>
          <p:nvPr/>
        </p:nvSpPr>
        <p:spPr>
          <a:xfrm>
            <a:off x="10413278" y="4114800"/>
            <a:ext cx="809152" cy="164592"/>
          </a:xfrm>
          <a:prstGeom prst="rect">
            <a:avLst/>
          </a:prstGeom>
          <a:noFill/>
        </p:spPr>
        <p:txBody>
          <a:bodyPr wrap="square" anchor="t" lIns="0" rIns="0" tIns="0" bIns="0">
            <a:spAutoFit/>
          </a:bodyPr>
          <a:lstStyle/>
          <a:p>
            <a:pPr algn="l">
              <a:lnSpc>
                <a:spcPct val="120000"/>
              </a:lnSpc>
            </a:pPr>
            <a:r>
              <a:rPr sz="650" b="1" i="0" spc="160">
                <a:solidFill>
                  <a:srgbClr val="2563EB"/>
                </a:solidFill>
                <a:latin typeface="Helvetica Neue"/>
              </a:rPr>
              <a:t>ZEITPUNKT  ↓</a:t>
            </a:r>
          </a:p>
        </p:txBody>
      </p:sp>
      <p:sp>
        <p:nvSpPr>
          <p:cNvPr id="90" name="Rectangle 89"/>
          <p:cNvSpPr/>
          <p:nvPr/>
        </p:nvSpPr>
        <p:spPr>
          <a:xfrm>
            <a:off x="7025335" y="4297680"/>
            <a:ext cx="4069080" cy="7315"/>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7025335" y="4416552"/>
            <a:ext cx="937808" cy="182880"/>
          </a:xfrm>
          <a:prstGeom prst="rect">
            <a:avLst/>
          </a:prstGeom>
          <a:noFill/>
        </p:spPr>
        <p:txBody>
          <a:bodyPr wrap="square" anchor="t" lIns="0" rIns="0" tIns="0" bIns="0">
            <a:spAutoFit/>
          </a:bodyPr>
          <a:lstStyle/>
          <a:p>
            <a:pPr algn="l">
              <a:lnSpc>
                <a:spcPct val="120000"/>
              </a:lnSpc>
            </a:pPr>
            <a:r>
              <a:rPr sz="750" b="0" i="0">
                <a:solidFill>
                  <a:srgbClr val="0F172A"/>
                </a:solidFill>
                <a:latin typeface="Menlo"/>
              </a:rPr>
              <a:t>thruster_1.a</a:t>
            </a:r>
          </a:p>
        </p:txBody>
      </p:sp>
      <p:sp>
        <p:nvSpPr>
          <p:cNvPr id="92" name="Rounded Rectangle 91"/>
          <p:cNvSpPr/>
          <p:nvPr/>
        </p:nvSpPr>
        <p:spPr>
          <a:xfrm>
            <a:off x="8054583" y="4389120"/>
            <a:ext cx="475533"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8109447" y="4411980"/>
            <a:ext cx="438957"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94" name="TextBox 93"/>
          <p:cNvSpPr txBox="1"/>
          <p:nvPr/>
        </p:nvSpPr>
        <p:spPr>
          <a:xfrm>
            <a:off x="8676421" y="4379976"/>
            <a:ext cx="729691" cy="164592"/>
          </a:xfrm>
          <a:prstGeom prst="rect">
            <a:avLst/>
          </a:prstGeom>
          <a:noFill/>
        </p:spPr>
        <p:txBody>
          <a:bodyPr wrap="square" anchor="t" lIns="0" rIns="0" tIns="0" bIns="0">
            <a:spAutoFit/>
          </a:bodyPr>
          <a:lstStyle/>
          <a:p>
            <a:pPr algn="r">
              <a:lnSpc>
                <a:spcPct val="120000"/>
              </a:lnSpc>
            </a:pPr>
            <a:r>
              <a:rPr sz="750" b="0" i="0">
                <a:solidFill>
                  <a:srgbClr val="0F172A"/>
                </a:solidFill>
                <a:latin typeface="Menlo"/>
              </a:rPr>
              <a:t>3,35</a:t>
            </a:r>
          </a:p>
        </p:txBody>
      </p:sp>
      <p:sp>
        <p:nvSpPr>
          <p:cNvPr id="95" name="Rounded Rectangle 94"/>
          <p:cNvSpPr/>
          <p:nvPr/>
        </p:nvSpPr>
        <p:spPr>
          <a:xfrm>
            <a:off x="8839184" y="4549140"/>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ounded Rectangle 95"/>
          <p:cNvSpPr/>
          <p:nvPr/>
        </p:nvSpPr>
        <p:spPr>
          <a:xfrm>
            <a:off x="8839184" y="4549140"/>
            <a:ext cx="190087"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9534128" y="4379976"/>
            <a:ext cx="751133" cy="164592"/>
          </a:xfrm>
          <a:prstGeom prst="rect">
            <a:avLst/>
          </a:prstGeom>
          <a:noFill/>
        </p:spPr>
        <p:txBody>
          <a:bodyPr wrap="square" anchor="t" lIns="0" rIns="0" tIns="0" bIns="0">
            <a:spAutoFit/>
          </a:bodyPr>
          <a:lstStyle/>
          <a:p>
            <a:pPr algn="r">
              <a:lnSpc>
                <a:spcPct val="120000"/>
              </a:lnSpc>
            </a:pPr>
            <a:r>
              <a:rPr sz="750" b="0" i="0">
                <a:solidFill>
                  <a:srgbClr val="0F172A"/>
                </a:solidFill>
                <a:latin typeface="Menlo"/>
              </a:rPr>
              <a:t>432,2</a:t>
            </a:r>
          </a:p>
        </p:txBody>
      </p:sp>
      <p:sp>
        <p:nvSpPr>
          <p:cNvPr id="98" name="Rounded Rectangle 97"/>
          <p:cNvSpPr/>
          <p:nvPr/>
        </p:nvSpPr>
        <p:spPr>
          <a:xfrm>
            <a:off x="9718334" y="4549140"/>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ounded Rectangle 98"/>
          <p:cNvSpPr/>
          <p:nvPr/>
        </p:nvSpPr>
        <p:spPr>
          <a:xfrm>
            <a:off x="9718334" y="4549140"/>
            <a:ext cx="438802"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TextBox 99"/>
          <p:cNvSpPr txBox="1"/>
          <p:nvPr/>
        </p:nvSpPr>
        <p:spPr>
          <a:xfrm>
            <a:off x="10413278" y="4416552"/>
            <a:ext cx="809152" cy="182880"/>
          </a:xfrm>
          <a:prstGeom prst="rect">
            <a:avLst/>
          </a:prstGeom>
          <a:noFill/>
        </p:spPr>
        <p:txBody>
          <a:bodyPr wrap="square" anchor="t" lIns="0" rIns="0" tIns="0" bIns="0">
            <a:spAutoFit/>
          </a:bodyPr>
          <a:lstStyle/>
          <a:p>
            <a:pPr algn="l">
              <a:lnSpc>
                <a:spcPct val="120000"/>
              </a:lnSpc>
            </a:pPr>
            <a:r>
              <a:rPr sz="750" b="0" i="0">
                <a:solidFill>
                  <a:srgbClr val="64748B"/>
                </a:solidFill>
                <a:latin typeface="Helvetica Neue"/>
              </a:rPr>
              <a:t>14:31:02</a:t>
            </a:r>
          </a:p>
        </p:txBody>
      </p:sp>
      <p:sp>
        <p:nvSpPr>
          <p:cNvPr id="101" name="Rectangle 100"/>
          <p:cNvSpPr/>
          <p:nvPr/>
        </p:nvSpPr>
        <p:spPr>
          <a:xfrm>
            <a:off x="7025335" y="4608576"/>
            <a:ext cx="4069080"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7025335" y="4709160"/>
            <a:ext cx="937808" cy="182880"/>
          </a:xfrm>
          <a:prstGeom prst="rect">
            <a:avLst/>
          </a:prstGeom>
          <a:noFill/>
        </p:spPr>
        <p:txBody>
          <a:bodyPr wrap="square" anchor="t" lIns="0" rIns="0" tIns="0" bIns="0">
            <a:spAutoFit/>
          </a:bodyPr>
          <a:lstStyle/>
          <a:p>
            <a:pPr algn="l">
              <a:lnSpc>
                <a:spcPct val="120000"/>
              </a:lnSpc>
            </a:pPr>
            <a:r>
              <a:rPr sz="750" b="0" i="0">
                <a:solidFill>
                  <a:srgbClr val="0F172A"/>
                </a:solidFill>
                <a:latin typeface="Menlo"/>
              </a:rPr>
              <a:t>o_tank_1</a:t>
            </a:r>
          </a:p>
        </p:txBody>
      </p:sp>
      <p:sp>
        <p:nvSpPr>
          <p:cNvPr id="103" name="Rounded Rectangle 102"/>
          <p:cNvSpPr/>
          <p:nvPr/>
        </p:nvSpPr>
        <p:spPr>
          <a:xfrm>
            <a:off x="8054583" y="4681728"/>
            <a:ext cx="475533"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TextBox 103"/>
          <p:cNvSpPr txBox="1"/>
          <p:nvPr/>
        </p:nvSpPr>
        <p:spPr>
          <a:xfrm>
            <a:off x="8109447" y="4704588"/>
            <a:ext cx="438957"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gas_valve</a:t>
            </a:r>
          </a:p>
        </p:txBody>
      </p:sp>
      <p:sp>
        <p:nvSpPr>
          <p:cNvPr id="105" name="TextBox 104"/>
          <p:cNvSpPr txBox="1"/>
          <p:nvPr/>
        </p:nvSpPr>
        <p:spPr>
          <a:xfrm>
            <a:off x="8676421" y="4672584"/>
            <a:ext cx="729691" cy="164592"/>
          </a:xfrm>
          <a:prstGeom prst="rect">
            <a:avLst/>
          </a:prstGeom>
          <a:noFill/>
        </p:spPr>
        <p:txBody>
          <a:bodyPr wrap="square" anchor="t" lIns="0" rIns="0" tIns="0" bIns="0">
            <a:spAutoFit/>
          </a:bodyPr>
          <a:lstStyle/>
          <a:p>
            <a:pPr algn="r">
              <a:lnSpc>
                <a:spcPct val="120000"/>
              </a:lnSpc>
            </a:pPr>
            <a:r>
              <a:rPr sz="750" b="0" i="0">
                <a:solidFill>
                  <a:srgbClr val="0F172A"/>
                </a:solidFill>
                <a:latin typeface="Menlo"/>
              </a:rPr>
              <a:t>5,10</a:t>
            </a:r>
          </a:p>
        </p:txBody>
      </p:sp>
      <p:sp>
        <p:nvSpPr>
          <p:cNvPr id="106" name="Rounded Rectangle 105"/>
          <p:cNvSpPr/>
          <p:nvPr/>
        </p:nvSpPr>
        <p:spPr>
          <a:xfrm>
            <a:off x="8839184" y="4841748"/>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ounded Rectangle 106"/>
          <p:cNvSpPr/>
          <p:nvPr/>
        </p:nvSpPr>
        <p:spPr>
          <a:xfrm>
            <a:off x="8839184" y="4841748"/>
            <a:ext cx="306808"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TextBox 107"/>
          <p:cNvSpPr txBox="1"/>
          <p:nvPr/>
        </p:nvSpPr>
        <p:spPr>
          <a:xfrm>
            <a:off x="9534128" y="4672584"/>
            <a:ext cx="751133" cy="164592"/>
          </a:xfrm>
          <a:prstGeom prst="rect">
            <a:avLst/>
          </a:prstGeom>
          <a:noFill/>
        </p:spPr>
        <p:txBody>
          <a:bodyPr wrap="square" anchor="t" lIns="0" rIns="0" tIns="0" bIns="0">
            <a:spAutoFit/>
          </a:bodyPr>
          <a:lstStyle/>
          <a:p>
            <a:pPr algn="r">
              <a:lnSpc>
                <a:spcPct val="120000"/>
              </a:lnSpc>
            </a:pPr>
            <a:r>
              <a:rPr sz="750" b="0" i="0">
                <a:solidFill>
                  <a:srgbClr val="0F172A"/>
                </a:solidFill>
                <a:latin typeface="Menlo"/>
              </a:rPr>
              <a:t>268,4</a:t>
            </a:r>
          </a:p>
        </p:txBody>
      </p:sp>
      <p:sp>
        <p:nvSpPr>
          <p:cNvPr id="109" name="Rounded Rectangle 108"/>
          <p:cNvSpPr/>
          <p:nvPr/>
        </p:nvSpPr>
        <p:spPr>
          <a:xfrm>
            <a:off x="9718334" y="4841748"/>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ounded Rectangle 109"/>
          <p:cNvSpPr/>
          <p:nvPr/>
        </p:nvSpPr>
        <p:spPr>
          <a:xfrm>
            <a:off x="9718334" y="4841748"/>
            <a:ext cx="12925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TextBox 110"/>
          <p:cNvSpPr txBox="1"/>
          <p:nvPr/>
        </p:nvSpPr>
        <p:spPr>
          <a:xfrm>
            <a:off x="10413278" y="4709160"/>
            <a:ext cx="809152" cy="182880"/>
          </a:xfrm>
          <a:prstGeom prst="rect">
            <a:avLst/>
          </a:prstGeom>
          <a:noFill/>
        </p:spPr>
        <p:txBody>
          <a:bodyPr wrap="square" anchor="t" lIns="0" rIns="0" tIns="0" bIns="0">
            <a:spAutoFit/>
          </a:bodyPr>
          <a:lstStyle/>
          <a:p>
            <a:pPr algn="l">
              <a:lnSpc>
                <a:spcPct val="120000"/>
              </a:lnSpc>
            </a:pPr>
            <a:r>
              <a:rPr sz="750" b="0" i="0">
                <a:solidFill>
                  <a:srgbClr val="64748B"/>
                </a:solidFill>
                <a:latin typeface="Helvetica Neue"/>
              </a:rPr>
              <a:t>14:30:53</a:t>
            </a:r>
          </a:p>
        </p:txBody>
      </p:sp>
      <p:sp>
        <p:nvSpPr>
          <p:cNvPr id="112" name="Rectangle 111"/>
          <p:cNvSpPr/>
          <p:nvPr/>
        </p:nvSpPr>
        <p:spPr>
          <a:xfrm>
            <a:off x="7025335" y="4901184"/>
            <a:ext cx="4069080"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TextBox 112"/>
          <p:cNvSpPr txBox="1"/>
          <p:nvPr/>
        </p:nvSpPr>
        <p:spPr>
          <a:xfrm>
            <a:off x="7025335" y="5001768"/>
            <a:ext cx="937808" cy="182880"/>
          </a:xfrm>
          <a:prstGeom prst="rect">
            <a:avLst/>
          </a:prstGeom>
          <a:noFill/>
        </p:spPr>
        <p:txBody>
          <a:bodyPr wrap="square" anchor="t" lIns="0" rIns="0" tIns="0" bIns="0">
            <a:spAutoFit/>
          </a:bodyPr>
          <a:lstStyle/>
          <a:p>
            <a:pPr algn="l">
              <a:lnSpc>
                <a:spcPct val="120000"/>
              </a:lnSpc>
            </a:pPr>
            <a:r>
              <a:rPr sz="750" b="0" i="0">
                <a:solidFill>
                  <a:srgbClr val="0F172A"/>
                </a:solidFill>
                <a:latin typeface="Menlo"/>
              </a:rPr>
              <a:t>thruster_2.b</a:t>
            </a:r>
          </a:p>
        </p:txBody>
      </p:sp>
      <p:sp>
        <p:nvSpPr>
          <p:cNvPr id="114" name="Rounded Rectangle 113"/>
          <p:cNvSpPr/>
          <p:nvPr/>
        </p:nvSpPr>
        <p:spPr>
          <a:xfrm>
            <a:off x="8054583" y="4974336"/>
            <a:ext cx="475533"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TextBox 114"/>
          <p:cNvSpPr txBox="1"/>
          <p:nvPr/>
        </p:nvSpPr>
        <p:spPr>
          <a:xfrm>
            <a:off x="8109447" y="4997196"/>
            <a:ext cx="438957"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116" name="TextBox 115"/>
          <p:cNvSpPr txBox="1"/>
          <p:nvPr/>
        </p:nvSpPr>
        <p:spPr>
          <a:xfrm>
            <a:off x="8676421" y="4965192"/>
            <a:ext cx="729691" cy="164592"/>
          </a:xfrm>
          <a:prstGeom prst="rect">
            <a:avLst/>
          </a:prstGeom>
          <a:noFill/>
        </p:spPr>
        <p:txBody>
          <a:bodyPr wrap="square" anchor="t" lIns="0" rIns="0" tIns="0" bIns="0">
            <a:spAutoFit/>
          </a:bodyPr>
          <a:lstStyle/>
          <a:p>
            <a:pPr algn="r">
              <a:lnSpc>
                <a:spcPct val="120000"/>
              </a:lnSpc>
            </a:pPr>
            <a:r>
              <a:rPr sz="750" b="0" i="0">
                <a:solidFill>
                  <a:srgbClr val="0F172A"/>
                </a:solidFill>
                <a:latin typeface="Menlo"/>
              </a:rPr>
              <a:t>2,88</a:t>
            </a:r>
          </a:p>
        </p:txBody>
      </p:sp>
      <p:sp>
        <p:nvSpPr>
          <p:cNvPr id="117" name="Rounded Rectangle 116"/>
          <p:cNvSpPr/>
          <p:nvPr/>
        </p:nvSpPr>
        <p:spPr>
          <a:xfrm>
            <a:off x="8839184" y="5134356"/>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ounded Rectangle 117"/>
          <p:cNvSpPr/>
          <p:nvPr/>
        </p:nvSpPr>
        <p:spPr>
          <a:xfrm>
            <a:off x="8839184" y="5134356"/>
            <a:ext cx="15873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TextBox 118"/>
          <p:cNvSpPr txBox="1"/>
          <p:nvPr/>
        </p:nvSpPr>
        <p:spPr>
          <a:xfrm>
            <a:off x="9534128" y="4965192"/>
            <a:ext cx="751133" cy="164592"/>
          </a:xfrm>
          <a:prstGeom prst="rect">
            <a:avLst/>
          </a:prstGeom>
          <a:noFill/>
        </p:spPr>
        <p:txBody>
          <a:bodyPr wrap="square" anchor="t" lIns="0" rIns="0" tIns="0" bIns="0">
            <a:spAutoFit/>
          </a:bodyPr>
          <a:lstStyle/>
          <a:p>
            <a:pPr algn="r">
              <a:lnSpc>
                <a:spcPct val="120000"/>
              </a:lnSpc>
            </a:pPr>
            <a:r>
              <a:rPr sz="750" b="0" i="0">
                <a:solidFill>
                  <a:srgbClr val="0F172A"/>
                </a:solidFill>
                <a:latin typeface="Menlo"/>
              </a:rPr>
              <a:t>455,7</a:t>
            </a:r>
          </a:p>
        </p:txBody>
      </p:sp>
      <p:sp>
        <p:nvSpPr>
          <p:cNvPr id="120" name="Rounded Rectangle 119"/>
          <p:cNvSpPr/>
          <p:nvPr/>
        </p:nvSpPr>
        <p:spPr>
          <a:xfrm>
            <a:off x="9718334" y="5134356"/>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ounded Rectangle 120"/>
          <p:cNvSpPr/>
          <p:nvPr/>
        </p:nvSpPr>
        <p:spPr>
          <a:xfrm>
            <a:off x="9718334" y="5134356"/>
            <a:ext cx="483211"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10413278" y="5001768"/>
            <a:ext cx="809152" cy="182880"/>
          </a:xfrm>
          <a:prstGeom prst="rect">
            <a:avLst/>
          </a:prstGeom>
          <a:noFill/>
        </p:spPr>
        <p:txBody>
          <a:bodyPr wrap="square" anchor="t" lIns="0" rIns="0" tIns="0" bIns="0">
            <a:spAutoFit/>
          </a:bodyPr>
          <a:lstStyle/>
          <a:p>
            <a:pPr algn="l">
              <a:lnSpc>
                <a:spcPct val="120000"/>
              </a:lnSpc>
            </a:pPr>
            <a:r>
              <a:rPr sz="750" b="0" i="0">
                <a:solidFill>
                  <a:srgbClr val="64748B"/>
                </a:solidFill>
                <a:latin typeface="Helvetica Neue"/>
              </a:rPr>
              <a:t>14:30:44</a:t>
            </a:r>
          </a:p>
        </p:txBody>
      </p:sp>
      <p:sp>
        <p:nvSpPr>
          <p:cNvPr id="123" name="Rectangle 122"/>
          <p:cNvSpPr/>
          <p:nvPr/>
        </p:nvSpPr>
        <p:spPr>
          <a:xfrm>
            <a:off x="7025335" y="5193792"/>
            <a:ext cx="4069080"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TextBox 123"/>
          <p:cNvSpPr txBox="1"/>
          <p:nvPr/>
        </p:nvSpPr>
        <p:spPr>
          <a:xfrm>
            <a:off x="7025335" y="5294376"/>
            <a:ext cx="937808" cy="182880"/>
          </a:xfrm>
          <a:prstGeom prst="rect">
            <a:avLst/>
          </a:prstGeom>
          <a:noFill/>
        </p:spPr>
        <p:txBody>
          <a:bodyPr wrap="square" anchor="t" lIns="0" rIns="0" tIns="0" bIns="0">
            <a:spAutoFit/>
          </a:bodyPr>
          <a:lstStyle/>
          <a:p>
            <a:pPr algn="l">
              <a:lnSpc>
                <a:spcPct val="120000"/>
              </a:lnSpc>
            </a:pPr>
            <a:r>
              <a:rPr sz="750" b="0" i="0">
                <a:solidFill>
                  <a:srgbClr val="0F172A"/>
                </a:solidFill>
                <a:latin typeface="Menlo"/>
              </a:rPr>
              <a:t>h_tank_2</a:t>
            </a:r>
          </a:p>
        </p:txBody>
      </p:sp>
      <p:sp>
        <p:nvSpPr>
          <p:cNvPr id="125" name="Rounded Rectangle 124"/>
          <p:cNvSpPr/>
          <p:nvPr/>
        </p:nvSpPr>
        <p:spPr>
          <a:xfrm>
            <a:off x="8054583" y="5266944"/>
            <a:ext cx="475533"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TextBox 125"/>
          <p:cNvSpPr txBox="1"/>
          <p:nvPr/>
        </p:nvSpPr>
        <p:spPr>
          <a:xfrm>
            <a:off x="8109447" y="5289804"/>
            <a:ext cx="438957"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gas_valve</a:t>
            </a:r>
          </a:p>
        </p:txBody>
      </p:sp>
      <p:sp>
        <p:nvSpPr>
          <p:cNvPr id="127" name="TextBox 126"/>
          <p:cNvSpPr txBox="1"/>
          <p:nvPr/>
        </p:nvSpPr>
        <p:spPr>
          <a:xfrm>
            <a:off x="8676421" y="5257800"/>
            <a:ext cx="729691" cy="164592"/>
          </a:xfrm>
          <a:prstGeom prst="rect">
            <a:avLst/>
          </a:prstGeom>
          <a:noFill/>
        </p:spPr>
        <p:txBody>
          <a:bodyPr wrap="square" anchor="t" lIns="0" rIns="0" tIns="0" bIns="0">
            <a:spAutoFit/>
          </a:bodyPr>
          <a:lstStyle/>
          <a:p>
            <a:pPr algn="r">
              <a:lnSpc>
                <a:spcPct val="120000"/>
              </a:lnSpc>
            </a:pPr>
            <a:r>
              <a:rPr sz="750" b="0" i="0">
                <a:solidFill>
                  <a:srgbClr val="0F172A"/>
                </a:solidFill>
                <a:latin typeface="Menlo"/>
              </a:rPr>
              <a:t>6,02</a:t>
            </a:r>
          </a:p>
        </p:txBody>
      </p:sp>
      <p:sp>
        <p:nvSpPr>
          <p:cNvPr id="128" name="Rounded Rectangle 127"/>
          <p:cNvSpPr/>
          <p:nvPr/>
        </p:nvSpPr>
        <p:spPr>
          <a:xfrm>
            <a:off x="8839184" y="5426964"/>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ounded Rectangle 128"/>
          <p:cNvSpPr/>
          <p:nvPr/>
        </p:nvSpPr>
        <p:spPr>
          <a:xfrm>
            <a:off x="8839184" y="5426964"/>
            <a:ext cx="36816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TextBox 129"/>
          <p:cNvSpPr txBox="1"/>
          <p:nvPr/>
        </p:nvSpPr>
        <p:spPr>
          <a:xfrm>
            <a:off x="9534128" y="5257800"/>
            <a:ext cx="751133" cy="164592"/>
          </a:xfrm>
          <a:prstGeom prst="rect">
            <a:avLst/>
          </a:prstGeom>
          <a:noFill/>
        </p:spPr>
        <p:txBody>
          <a:bodyPr wrap="square" anchor="t" lIns="0" rIns="0" tIns="0" bIns="0">
            <a:spAutoFit/>
          </a:bodyPr>
          <a:lstStyle/>
          <a:p>
            <a:pPr algn="r">
              <a:lnSpc>
                <a:spcPct val="120000"/>
              </a:lnSpc>
            </a:pPr>
            <a:r>
              <a:rPr sz="750" b="0" i="0">
                <a:solidFill>
                  <a:srgbClr val="0F172A"/>
                </a:solidFill>
                <a:latin typeface="Menlo"/>
              </a:rPr>
              <a:t>240,1</a:t>
            </a:r>
          </a:p>
        </p:txBody>
      </p:sp>
      <p:sp>
        <p:nvSpPr>
          <p:cNvPr id="131" name="Rounded Rectangle 130"/>
          <p:cNvSpPr/>
          <p:nvPr/>
        </p:nvSpPr>
        <p:spPr>
          <a:xfrm>
            <a:off x="9718334" y="5426964"/>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ounded Rectangle 131"/>
          <p:cNvSpPr/>
          <p:nvPr/>
        </p:nvSpPr>
        <p:spPr>
          <a:xfrm>
            <a:off x="9718334" y="5426964"/>
            <a:ext cx="7577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TextBox 132"/>
          <p:cNvSpPr txBox="1"/>
          <p:nvPr/>
        </p:nvSpPr>
        <p:spPr>
          <a:xfrm>
            <a:off x="10413278" y="5294376"/>
            <a:ext cx="809152" cy="182880"/>
          </a:xfrm>
          <a:prstGeom prst="rect">
            <a:avLst/>
          </a:prstGeom>
          <a:noFill/>
        </p:spPr>
        <p:txBody>
          <a:bodyPr wrap="square" anchor="t" lIns="0" rIns="0" tIns="0" bIns="0">
            <a:spAutoFit/>
          </a:bodyPr>
          <a:lstStyle/>
          <a:p>
            <a:pPr algn="l">
              <a:lnSpc>
                <a:spcPct val="120000"/>
              </a:lnSpc>
            </a:pPr>
            <a:r>
              <a:rPr sz="750" b="0" i="0">
                <a:solidFill>
                  <a:srgbClr val="64748B"/>
                </a:solidFill>
                <a:latin typeface="Helvetica Neue"/>
              </a:rPr>
              <a:t>14:30:35</a:t>
            </a:r>
          </a:p>
        </p:txBody>
      </p:sp>
      <p:sp>
        <p:nvSpPr>
          <p:cNvPr id="134" name="TextBox 133"/>
          <p:cNvSpPr txBox="1"/>
          <p:nvPr/>
        </p:nvSpPr>
        <p:spPr>
          <a:xfrm>
            <a:off x="6705295" y="5779008"/>
            <a:ext cx="4709160" cy="182880"/>
          </a:xfrm>
          <a:prstGeom prst="rect">
            <a:avLst/>
          </a:prstGeom>
          <a:noFill/>
        </p:spPr>
        <p:txBody>
          <a:bodyPr wrap="square" anchor="t" lIns="0" rIns="0" tIns="0" bIns="0">
            <a:spAutoFit/>
          </a:bodyPr>
          <a:lstStyle/>
          <a:p>
            <a:pPr algn="ctr">
              <a:lnSpc>
                <a:spcPct val="120000"/>
              </a:lnSpc>
            </a:pPr>
            <a:r>
              <a:rPr sz="1100" b="1" i="0">
                <a:solidFill>
                  <a:srgbClr val="E8EDF7"/>
                </a:solidFill>
                <a:latin typeface="Helvetica Neue"/>
              </a:rPr>
              <a:t>Datenansicht</a:t>
            </a:r>
          </a:p>
        </p:txBody>
      </p:sp>
      <p:sp>
        <p:nvSpPr>
          <p:cNvPr id="135" name="TextBox 134"/>
          <p:cNvSpPr txBox="1"/>
          <p:nvPr/>
        </p:nvSpPr>
        <p:spPr>
          <a:xfrm>
            <a:off x="6705295" y="5998464"/>
            <a:ext cx="4709160"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Menlo"/>
              </a:rPr>
              <a:t>App.jsx + Suche.jsx + SensorTable.jsx  ·  GET /data_wsi/</a:t>
            </a:r>
          </a:p>
        </p:txBody>
      </p:sp>
      <p:cxnSp>
        <p:nvCxnSpPr>
          <p:cNvPr id="136" name="Connector 135"/>
          <p:cNvCxnSpPr/>
          <p:nvPr/>
        </p:nvCxnSpPr>
        <p:spPr>
          <a:xfrm>
            <a:off x="5596128" y="3310128"/>
            <a:ext cx="999439" cy="0"/>
          </a:xfrm>
          <a:prstGeom prst="line">
            <a:avLst/>
          </a:prstGeom>
          <a:ln w="22225">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5486400" y="2962656"/>
            <a:ext cx="1218895" cy="182880"/>
          </a:xfrm>
          <a:prstGeom prst="rect">
            <a:avLst/>
          </a:prstGeom>
          <a:noFill/>
        </p:spPr>
        <p:txBody>
          <a:bodyPr wrap="square" anchor="t" lIns="0" rIns="0" tIns="0" bIns="0">
            <a:spAutoFit/>
          </a:bodyPr>
          <a:lstStyle/>
          <a:p>
            <a:pPr algn="ctr">
              <a:lnSpc>
                <a:spcPct val="120000"/>
              </a:lnSpc>
            </a:pPr>
            <a:r>
              <a:rPr sz="800" b="0" i="0">
                <a:solidFill>
                  <a:srgbClr val="38BDF8"/>
                </a:solidFill>
                <a:latin typeface="Helvetica Neue"/>
              </a:rPr>
              <a:t>⌘K · Enter · Klick</a:t>
            </a:r>
          </a:p>
        </p:txBody>
      </p:sp>
      <p:cxnSp>
        <p:nvCxnSpPr>
          <p:cNvPr id="138" name="Connector 137"/>
          <p:cNvCxnSpPr/>
          <p:nvPr/>
        </p:nvCxnSpPr>
        <p:spPr>
          <a:xfrm flipH="1">
            <a:off x="5596128" y="3968496"/>
            <a:ext cx="999439" cy="0"/>
          </a:xfrm>
          <a:prstGeom prst="line">
            <a:avLst/>
          </a:prstGeom>
          <a:ln w="15875">
            <a:solidFill>
              <a:srgbClr val="8E9DBB"/>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5486400" y="4059936"/>
            <a:ext cx="1218895" cy="182880"/>
          </a:xfrm>
          <a:prstGeom prst="rect">
            <a:avLst/>
          </a:prstGeom>
          <a:noFill/>
        </p:spPr>
        <p:txBody>
          <a:bodyPr wrap="square" anchor="t" lIns="0" rIns="0" tIns="0" bIns="0">
            <a:spAutoFit/>
          </a:bodyPr>
          <a:lstStyle/>
          <a:p>
            <a:pPr algn="ctr">
              <a:lnSpc>
                <a:spcPct val="120000"/>
              </a:lnSpc>
            </a:pPr>
            <a:r>
              <a:rPr sz="800" b="0" i="0">
                <a:solidFill>
                  <a:srgbClr val="8E9DBB"/>
                </a:solidFill>
                <a:latin typeface="Helvetica Neue"/>
              </a:rPr>
              <a:t>Escape</a:t>
            </a:r>
          </a:p>
        </p:txBody>
      </p:sp>
      <p:sp>
        <p:nvSpPr>
          <p:cNvPr id="140" name="Rounded Rectangle 139"/>
          <p:cNvSpPr/>
          <p:nvPr/>
        </p:nvSpPr>
        <p:spPr>
          <a:xfrm>
            <a:off x="5528919" y="2395728"/>
            <a:ext cx="598017" cy="219456"/>
          </a:xfrm>
          <a:prstGeom prst="roundRect">
            <a:avLst>
              <a:gd name="adj" fmla="val 30000"/>
            </a:avLst>
          </a:prstGeom>
          <a:solidFill>
            <a:srgbClr val="141D33"/>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TextBox 140"/>
          <p:cNvSpPr txBox="1"/>
          <p:nvPr/>
        </p:nvSpPr>
        <p:spPr>
          <a:xfrm>
            <a:off x="5528919" y="2436876"/>
            <a:ext cx="598017" cy="164592"/>
          </a:xfrm>
          <a:prstGeom prst="rect">
            <a:avLst/>
          </a:prstGeom>
          <a:noFill/>
        </p:spPr>
        <p:txBody>
          <a:bodyPr wrap="square" anchor="t" lIns="0" rIns="0" tIns="0" bIns="0">
            <a:spAutoFit/>
          </a:bodyPr>
          <a:lstStyle/>
          <a:p>
            <a:pPr algn="ctr">
              <a:lnSpc>
                <a:spcPct val="120000"/>
              </a:lnSpc>
            </a:pPr>
            <a:r>
              <a:rPr sz="800" b="0" i="0">
                <a:solidFill>
                  <a:srgbClr val="FBBF24"/>
                </a:solidFill>
                <a:latin typeface="Menlo"/>
              </a:rPr>
              <a:t>ansicht</a:t>
            </a:r>
          </a:p>
        </p:txBody>
      </p:sp>
      <p:sp>
        <p:nvSpPr>
          <p:cNvPr id="142" name="TextBox 141"/>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143" name="TextBox 142"/>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FRONTEND · AUFBAU</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Der Komponentenbaum</a:t>
            </a:r>
          </a:p>
        </p:txBody>
      </p:sp>
      <p:sp>
        <p:nvSpPr>
          <p:cNvPr id="5" name="Rectangle 4"/>
          <p:cNvSpPr/>
          <p:nvPr/>
        </p:nvSpPr>
        <p:spPr>
          <a:xfrm>
            <a:off x="777240" y="1316736"/>
            <a:ext cx="1371600" cy="2560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77240" y="2606040"/>
            <a:ext cx="1417320" cy="548640"/>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8154" y="2697480"/>
            <a:ext cx="41148" cy="365759"/>
          </a:xfrm>
          <a:prstGeom prst="rect">
            <a:avLst/>
          </a:prstGeom>
          <a:solidFill>
            <a:srgbClr val="5A6A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0120" y="2697480"/>
            <a:ext cx="114300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main.jsx</a:t>
            </a:r>
          </a:p>
        </p:txBody>
      </p:sp>
      <p:sp>
        <p:nvSpPr>
          <p:cNvPr id="9" name="TextBox 8"/>
          <p:cNvSpPr txBox="1"/>
          <p:nvPr/>
        </p:nvSpPr>
        <p:spPr>
          <a:xfrm>
            <a:off x="960120" y="2907792"/>
            <a:ext cx="1143000" cy="329184"/>
          </a:xfrm>
          <a:prstGeom prst="rect">
            <a:avLst/>
          </a:prstGeom>
          <a:noFill/>
        </p:spPr>
        <p:txBody>
          <a:bodyPr wrap="square" anchor="t" lIns="0" rIns="0" tIns="0" bIns="0">
            <a:spAutoFit/>
          </a:bodyPr>
          <a:lstStyle/>
          <a:p>
            <a:pPr algn="l">
              <a:lnSpc>
                <a:spcPct val="115000"/>
              </a:lnSpc>
            </a:pPr>
            <a:r>
              <a:rPr sz="750" b="0" i="0">
                <a:solidFill>
                  <a:srgbClr val="8E9DBB"/>
                </a:solidFill>
                <a:latin typeface="Helvetica Neue"/>
              </a:rPr>
              <a:t>StrictMode</a:t>
            </a:r>
          </a:p>
        </p:txBody>
      </p:sp>
      <p:sp>
        <p:nvSpPr>
          <p:cNvPr id="10" name="Rounded Rectangle 9"/>
          <p:cNvSpPr/>
          <p:nvPr/>
        </p:nvSpPr>
        <p:spPr>
          <a:xfrm>
            <a:off x="2395728" y="2487168"/>
            <a:ext cx="1874519" cy="777240"/>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2396642" y="2578608"/>
            <a:ext cx="41148" cy="594359"/>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578608" y="2578608"/>
            <a:ext cx="1600199"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App.jsx</a:t>
            </a:r>
          </a:p>
        </p:txBody>
      </p:sp>
      <p:sp>
        <p:nvSpPr>
          <p:cNvPr id="13" name="TextBox 12"/>
          <p:cNvSpPr txBox="1"/>
          <p:nvPr/>
        </p:nvSpPr>
        <p:spPr>
          <a:xfrm>
            <a:off x="2578608" y="2788920"/>
            <a:ext cx="1600199" cy="329184"/>
          </a:xfrm>
          <a:prstGeom prst="rect">
            <a:avLst/>
          </a:prstGeom>
          <a:noFill/>
        </p:spPr>
        <p:txBody>
          <a:bodyPr wrap="square" anchor="t" lIns="0" rIns="0" tIns="0" bIns="0">
            <a:spAutoFit/>
          </a:bodyPr>
          <a:lstStyle/>
          <a:p>
            <a:pPr algn="l">
              <a:lnSpc>
                <a:spcPct val="115000"/>
              </a:lnSpc>
            </a:pPr>
            <a:r>
              <a:rPr sz="750" b="0" i="0">
                <a:solidFill>
                  <a:srgbClr val="8E9DBB"/>
                </a:solidFill>
                <a:latin typeface="Helvetica Neue"/>
              </a:rPr>
              <a:t>hält ansicht und suchbegriff</a:t>
            </a:r>
          </a:p>
        </p:txBody>
      </p:sp>
      <p:cxnSp>
        <p:nvCxnSpPr>
          <p:cNvPr id="14" name="Connector 13"/>
          <p:cNvCxnSpPr/>
          <p:nvPr/>
        </p:nvCxnSpPr>
        <p:spPr>
          <a:xfrm>
            <a:off x="2231136" y="2880360"/>
            <a:ext cx="128016" cy="0"/>
          </a:xfrm>
          <a:prstGeom prst="line">
            <a:avLst/>
          </a:prstGeom>
          <a:ln w="15875">
            <a:solidFill>
              <a:srgbClr val="2230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343400" y="2093976"/>
            <a:ext cx="10058" cy="2295144"/>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343400" y="2093976"/>
            <a:ext cx="137160"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343400" y="3218688"/>
            <a:ext cx="137160"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43400" y="3803904"/>
            <a:ext cx="137160"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343400" y="4389120"/>
            <a:ext cx="137160"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270248" y="2871216"/>
            <a:ext cx="73152"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4480560" y="1389888"/>
            <a:ext cx="1164945" cy="219456"/>
          </a:xfrm>
          <a:prstGeom prst="roundRect">
            <a:avLst>
              <a:gd name="adj" fmla="val 30000"/>
            </a:avLst>
          </a:prstGeom>
          <a:solidFill>
            <a:srgbClr val="141D33"/>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80560" y="1431036"/>
            <a:ext cx="1164945" cy="164592"/>
          </a:xfrm>
          <a:prstGeom prst="rect">
            <a:avLst/>
          </a:prstGeom>
          <a:noFill/>
        </p:spPr>
        <p:txBody>
          <a:bodyPr wrap="square" anchor="t" lIns="0" rIns="0" tIns="0" bIns="0">
            <a:spAutoFit/>
          </a:bodyPr>
          <a:lstStyle/>
          <a:p>
            <a:pPr algn="ctr">
              <a:lnSpc>
                <a:spcPct val="120000"/>
              </a:lnSpc>
            </a:pPr>
            <a:r>
              <a:rPr sz="750" b="0" i="0">
                <a:solidFill>
                  <a:srgbClr val="38BDF8"/>
                </a:solidFill>
                <a:latin typeface="Menlo"/>
              </a:rPr>
              <a:t>ansicht = "start"</a:t>
            </a:r>
          </a:p>
        </p:txBody>
      </p:sp>
      <p:sp>
        <p:nvSpPr>
          <p:cNvPr id="23" name="Rounded Rectangle 22"/>
          <p:cNvSpPr/>
          <p:nvPr/>
        </p:nvSpPr>
        <p:spPr>
          <a:xfrm>
            <a:off x="4480560" y="1645920"/>
            <a:ext cx="2057400" cy="896112"/>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481474" y="1737360"/>
            <a:ext cx="4114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663440" y="1737360"/>
            <a:ext cx="178308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Startseite.jsx</a:t>
            </a:r>
          </a:p>
        </p:txBody>
      </p:sp>
      <p:sp>
        <p:nvSpPr>
          <p:cNvPr id="26" name="TextBox 25"/>
          <p:cNvSpPr txBox="1"/>
          <p:nvPr/>
        </p:nvSpPr>
        <p:spPr>
          <a:xfrm>
            <a:off x="4663440" y="1947672"/>
            <a:ext cx="1783080" cy="329184"/>
          </a:xfrm>
          <a:prstGeom prst="rect">
            <a:avLst/>
          </a:prstGeom>
          <a:noFill/>
        </p:spPr>
        <p:txBody>
          <a:bodyPr wrap="square" anchor="t" lIns="0" rIns="0" tIns="0" bIns="0">
            <a:spAutoFit/>
          </a:bodyPr>
          <a:lstStyle/>
          <a:p>
            <a:pPr algn="l">
              <a:lnSpc>
                <a:spcPct val="115000"/>
              </a:lnSpc>
            </a:pPr>
            <a:r>
              <a:rPr sz="750" b="0" i="0">
                <a:solidFill>
                  <a:srgbClr val="8E9DBB"/>
                </a:solidFill>
                <a:latin typeface="Helvetica Neue"/>
              </a:rPr>
              <a:t>Umlaufbahn-Animation,
⌘K und Enter führen weiter</a:t>
            </a:r>
          </a:p>
        </p:txBody>
      </p:sp>
      <p:sp>
        <p:nvSpPr>
          <p:cNvPr id="27" name="Rounded Rectangle 26"/>
          <p:cNvSpPr/>
          <p:nvPr/>
        </p:nvSpPr>
        <p:spPr>
          <a:xfrm>
            <a:off x="6748272" y="1645920"/>
            <a:ext cx="2057400" cy="896112"/>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749186" y="1737360"/>
            <a:ext cx="4114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931152" y="1737360"/>
            <a:ext cx="178308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AlteTable.jsx</a:t>
            </a:r>
          </a:p>
        </p:txBody>
      </p:sp>
      <p:sp>
        <p:nvSpPr>
          <p:cNvPr id="30" name="TextBox 29"/>
          <p:cNvSpPr txBox="1"/>
          <p:nvPr/>
        </p:nvSpPr>
        <p:spPr>
          <a:xfrm>
            <a:off x="6931152" y="1947672"/>
            <a:ext cx="1783080" cy="329184"/>
          </a:xfrm>
          <a:prstGeom prst="rect">
            <a:avLst/>
          </a:prstGeom>
          <a:noFill/>
        </p:spPr>
        <p:txBody>
          <a:bodyPr wrap="square" anchor="t" lIns="0" rIns="0" tIns="0" bIns="0">
            <a:spAutoFit/>
          </a:bodyPr>
          <a:lstStyle/>
          <a:p>
            <a:pPr algn="l">
              <a:lnSpc>
                <a:spcPct val="115000"/>
              </a:lnSpc>
            </a:pPr>
            <a:r>
              <a:rPr sz="750" b="0" i="0">
                <a:solidFill>
                  <a:srgbClr val="8E9DBB"/>
                </a:solidFill>
                <a:latin typeface="Helvetica Neue"/>
              </a:rPr>
              <a:t>3 Gruppen: Thruster,
Oxygen, Hydrogen</a:t>
            </a:r>
          </a:p>
        </p:txBody>
      </p:sp>
      <p:sp>
        <p:nvSpPr>
          <p:cNvPr id="31" name="TextBox 30"/>
          <p:cNvSpPr txBox="1"/>
          <p:nvPr/>
        </p:nvSpPr>
        <p:spPr>
          <a:xfrm>
            <a:off x="6931152" y="2286000"/>
            <a:ext cx="1783080" cy="182880"/>
          </a:xfrm>
          <a:prstGeom prst="rect">
            <a:avLst/>
          </a:prstGeom>
          <a:noFill/>
        </p:spPr>
        <p:txBody>
          <a:bodyPr wrap="square" anchor="t" lIns="0" rIns="0" tIns="0" bIns="0">
            <a:spAutoFit/>
          </a:bodyPr>
          <a:lstStyle/>
          <a:p>
            <a:pPr algn="l">
              <a:lnSpc>
                <a:spcPct val="120000"/>
              </a:lnSpc>
            </a:pPr>
            <a:r>
              <a:rPr sz="700" b="0" i="0">
                <a:solidFill>
                  <a:srgbClr val="38BDF8"/>
                </a:solidFill>
                <a:latin typeface="Menlo"/>
              </a:rPr>
              <a:t>GET /data/current</a:t>
            </a:r>
          </a:p>
        </p:txBody>
      </p:sp>
      <p:sp>
        <p:nvSpPr>
          <p:cNvPr id="32" name="Rounded Rectangle 31"/>
          <p:cNvSpPr/>
          <p:nvPr/>
        </p:nvSpPr>
        <p:spPr>
          <a:xfrm>
            <a:off x="9015984" y="1645920"/>
            <a:ext cx="2395728" cy="896112"/>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016898" y="1737360"/>
            <a:ext cx="4114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98863" y="1737360"/>
            <a:ext cx="2121408"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SensorDetail</a:t>
            </a:r>
          </a:p>
        </p:txBody>
      </p:sp>
      <p:sp>
        <p:nvSpPr>
          <p:cNvPr id="35" name="TextBox 34"/>
          <p:cNvSpPr txBox="1"/>
          <p:nvPr/>
        </p:nvSpPr>
        <p:spPr>
          <a:xfrm>
            <a:off x="9198863" y="1947672"/>
            <a:ext cx="2121408" cy="329184"/>
          </a:xfrm>
          <a:prstGeom prst="rect">
            <a:avLst/>
          </a:prstGeom>
          <a:noFill/>
        </p:spPr>
        <p:txBody>
          <a:bodyPr wrap="square" anchor="t" lIns="0" rIns="0" tIns="0" bIns="0">
            <a:spAutoFit/>
          </a:bodyPr>
          <a:lstStyle/>
          <a:p>
            <a:pPr algn="l">
              <a:lnSpc>
                <a:spcPct val="115000"/>
              </a:lnSpc>
            </a:pPr>
            <a:r>
              <a:rPr sz="750" b="0" i="0">
                <a:solidFill>
                  <a:srgbClr val="8E9DBB"/>
                </a:solidFill>
                <a:latin typeface="Helvetica Neue"/>
              </a:rPr>
              <a:t>Modal mit der Historie
eines Sensors</a:t>
            </a:r>
          </a:p>
        </p:txBody>
      </p:sp>
      <p:sp>
        <p:nvSpPr>
          <p:cNvPr id="36" name="TextBox 35"/>
          <p:cNvSpPr txBox="1"/>
          <p:nvPr/>
        </p:nvSpPr>
        <p:spPr>
          <a:xfrm>
            <a:off x="9198863" y="2286000"/>
            <a:ext cx="2121408" cy="182880"/>
          </a:xfrm>
          <a:prstGeom prst="rect">
            <a:avLst/>
          </a:prstGeom>
          <a:noFill/>
        </p:spPr>
        <p:txBody>
          <a:bodyPr wrap="square" anchor="t" lIns="0" rIns="0" tIns="0" bIns="0">
            <a:spAutoFit/>
          </a:bodyPr>
          <a:lstStyle/>
          <a:p>
            <a:pPr algn="l">
              <a:lnSpc>
                <a:spcPct val="120000"/>
              </a:lnSpc>
            </a:pPr>
            <a:r>
              <a:rPr sz="700" b="0" i="0">
                <a:solidFill>
                  <a:srgbClr val="A78BFA"/>
                </a:solidFill>
                <a:latin typeface="Menlo"/>
              </a:rPr>
              <a:t>GET /data_wsi/{name}</a:t>
            </a:r>
          </a:p>
        </p:txBody>
      </p:sp>
      <p:cxnSp>
        <p:nvCxnSpPr>
          <p:cNvPr id="37" name="Connector 36"/>
          <p:cNvCxnSpPr/>
          <p:nvPr/>
        </p:nvCxnSpPr>
        <p:spPr>
          <a:xfrm>
            <a:off x="6574536" y="2093976"/>
            <a:ext cx="137160" cy="0"/>
          </a:xfrm>
          <a:prstGeom prst="line">
            <a:avLst/>
          </a:prstGeom>
          <a:ln w="15875">
            <a:solidFill>
              <a:srgbClr val="22304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842247" y="2093976"/>
            <a:ext cx="137161" cy="0"/>
          </a:xfrm>
          <a:prstGeom prst="line">
            <a:avLst/>
          </a:prstGeom>
          <a:ln w="15875">
            <a:solidFill>
              <a:srgbClr val="2230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823959" y="1856231"/>
            <a:ext cx="502920" cy="182880"/>
          </a:xfrm>
          <a:prstGeom prst="rect">
            <a:avLst/>
          </a:prstGeom>
          <a:noFill/>
        </p:spPr>
        <p:txBody>
          <a:bodyPr wrap="square" anchor="t" lIns="0" rIns="0" tIns="0" bIns="0">
            <a:spAutoFit/>
          </a:bodyPr>
          <a:lstStyle/>
          <a:p>
            <a:pPr algn="ctr">
              <a:lnSpc>
                <a:spcPct val="120000"/>
              </a:lnSpc>
            </a:pPr>
            <a:r>
              <a:rPr sz="700" b="0" i="0">
                <a:solidFill>
                  <a:srgbClr val="5A6A89"/>
                </a:solidFill>
                <a:latin typeface="Helvetica Neue"/>
              </a:rPr>
              <a:t>Klick</a:t>
            </a:r>
          </a:p>
        </p:txBody>
      </p:sp>
      <p:sp>
        <p:nvSpPr>
          <p:cNvPr id="40" name="Rounded Rectangle 39"/>
          <p:cNvSpPr/>
          <p:nvPr/>
        </p:nvSpPr>
        <p:spPr>
          <a:xfrm>
            <a:off x="4480560" y="2724912"/>
            <a:ext cx="1164945" cy="219456"/>
          </a:xfrm>
          <a:prstGeom prst="roundRect">
            <a:avLst>
              <a:gd name="adj" fmla="val 30000"/>
            </a:avLst>
          </a:prstGeom>
          <a:solidFill>
            <a:srgbClr val="141D33"/>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480560" y="2766060"/>
            <a:ext cx="1164945" cy="164592"/>
          </a:xfrm>
          <a:prstGeom prst="rect">
            <a:avLst/>
          </a:prstGeom>
          <a:noFill/>
        </p:spPr>
        <p:txBody>
          <a:bodyPr wrap="square" anchor="t" lIns="0" rIns="0" tIns="0" bIns="0">
            <a:spAutoFit/>
          </a:bodyPr>
          <a:lstStyle/>
          <a:p>
            <a:pPr algn="ctr">
              <a:lnSpc>
                <a:spcPct val="120000"/>
              </a:lnSpc>
            </a:pPr>
            <a:r>
              <a:rPr sz="750" b="0" i="0">
                <a:solidFill>
                  <a:srgbClr val="FBBF24"/>
                </a:solidFill>
                <a:latin typeface="Menlo"/>
              </a:rPr>
              <a:t>ansicht = "daten"</a:t>
            </a:r>
          </a:p>
        </p:txBody>
      </p:sp>
      <p:sp>
        <p:nvSpPr>
          <p:cNvPr id="42" name="Rounded Rectangle 41"/>
          <p:cNvSpPr/>
          <p:nvPr/>
        </p:nvSpPr>
        <p:spPr>
          <a:xfrm>
            <a:off x="4480560" y="2980944"/>
            <a:ext cx="2057400" cy="475488"/>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4481474" y="3072384"/>
            <a:ext cx="41148" cy="2926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663440" y="3072384"/>
            <a:ext cx="178308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Kennzahl ×3</a:t>
            </a:r>
          </a:p>
        </p:txBody>
      </p:sp>
      <p:sp>
        <p:nvSpPr>
          <p:cNvPr id="45" name="Rounded Rectangle 44"/>
          <p:cNvSpPr/>
          <p:nvPr/>
        </p:nvSpPr>
        <p:spPr>
          <a:xfrm>
            <a:off x="4480560" y="3566160"/>
            <a:ext cx="2057400" cy="475488"/>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481474" y="3657600"/>
            <a:ext cx="41148" cy="2926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663440" y="3657600"/>
            <a:ext cx="178308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Suche.jsx</a:t>
            </a:r>
          </a:p>
        </p:txBody>
      </p:sp>
      <p:sp>
        <p:nvSpPr>
          <p:cNvPr id="48" name="Rounded Rectangle 47"/>
          <p:cNvSpPr/>
          <p:nvPr/>
        </p:nvSpPr>
        <p:spPr>
          <a:xfrm>
            <a:off x="4480560" y="4151376"/>
            <a:ext cx="2057400" cy="475488"/>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4481474" y="4242816"/>
            <a:ext cx="41148" cy="2926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663440" y="4242816"/>
            <a:ext cx="178308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SensorTable.jsx</a:t>
            </a:r>
          </a:p>
        </p:txBody>
      </p:sp>
      <p:sp>
        <p:nvSpPr>
          <p:cNvPr id="51" name="TextBox 50"/>
          <p:cNvSpPr txBox="1"/>
          <p:nvPr/>
        </p:nvSpPr>
        <p:spPr>
          <a:xfrm>
            <a:off x="6748272" y="3017520"/>
            <a:ext cx="3108960" cy="182880"/>
          </a:xfrm>
          <a:prstGeom prst="rect">
            <a:avLst/>
          </a:prstGeom>
          <a:noFill/>
        </p:spPr>
        <p:txBody>
          <a:bodyPr wrap="square" anchor="t" lIns="0" rIns="0" tIns="0" bIns="0">
            <a:spAutoFit/>
          </a:bodyPr>
          <a:lstStyle/>
          <a:p>
            <a:pPr algn="l">
              <a:lnSpc>
                <a:spcPct val="120000"/>
              </a:lnSpc>
            </a:pPr>
            <a:r>
              <a:rPr sz="800" b="0" i="0">
                <a:solidFill>
                  <a:srgbClr val="8E9DBB"/>
                </a:solidFill>
                <a:latin typeface="Helvetica Neue"/>
              </a:rPr>
              <a:t>Ø Druck, Ø Temperatur, Anzahl</a:t>
            </a:r>
          </a:p>
        </p:txBody>
      </p:sp>
      <p:sp>
        <p:nvSpPr>
          <p:cNvPr id="52" name="TextBox 51"/>
          <p:cNvSpPr txBox="1"/>
          <p:nvPr/>
        </p:nvSpPr>
        <p:spPr>
          <a:xfrm>
            <a:off x="6748272" y="3602736"/>
            <a:ext cx="3108960" cy="182880"/>
          </a:xfrm>
          <a:prstGeom prst="rect">
            <a:avLst/>
          </a:prstGeom>
          <a:noFill/>
        </p:spPr>
        <p:txBody>
          <a:bodyPr wrap="square" anchor="t" lIns="0" rIns="0" tIns="0" bIns="0">
            <a:spAutoFit/>
          </a:bodyPr>
          <a:lstStyle/>
          <a:p>
            <a:pPr algn="l">
              <a:lnSpc>
                <a:spcPct val="120000"/>
              </a:lnSpc>
            </a:pPr>
            <a:r>
              <a:rPr sz="800" b="0" i="0">
                <a:solidFill>
                  <a:srgbClr val="8E9DBB"/>
                </a:solidFill>
                <a:latin typeface="Helvetica Neue"/>
              </a:rPr>
              <a:t>⌘K, Escape, Trefferzähler</a:t>
            </a:r>
          </a:p>
        </p:txBody>
      </p:sp>
      <p:sp>
        <p:nvSpPr>
          <p:cNvPr id="53" name="TextBox 52"/>
          <p:cNvSpPr txBox="1"/>
          <p:nvPr/>
        </p:nvSpPr>
        <p:spPr>
          <a:xfrm>
            <a:off x="6748272" y="4187952"/>
            <a:ext cx="3840480" cy="182880"/>
          </a:xfrm>
          <a:prstGeom prst="rect">
            <a:avLst/>
          </a:prstGeom>
          <a:noFill/>
        </p:spPr>
        <p:txBody>
          <a:bodyPr wrap="square" anchor="t" lIns="0" rIns="0" tIns="0" bIns="0">
            <a:spAutoFit/>
          </a:bodyPr>
          <a:lstStyle/>
          <a:p>
            <a:pPr algn="l">
              <a:lnSpc>
                <a:spcPct val="120000"/>
              </a:lnSpc>
            </a:pPr>
            <a:r>
              <a:rPr sz="800" b="0" i="0">
                <a:solidFill>
                  <a:srgbClr val="8E9DBB"/>
                </a:solidFill>
                <a:latin typeface="Helvetica Neue"/>
              </a:rPr>
              <a:t>5 Spalten sortierbar, Mini-Balken, Treffer</a:t>
            </a:r>
          </a:p>
        </p:txBody>
      </p:sp>
      <p:sp>
        <p:nvSpPr>
          <p:cNvPr id="54" name="Rounded Rectangle 53"/>
          <p:cNvSpPr/>
          <p:nvPr/>
        </p:nvSpPr>
        <p:spPr>
          <a:xfrm>
            <a:off x="2395728" y="4892040"/>
            <a:ext cx="1874519" cy="841248"/>
          </a:xfrm>
          <a:prstGeom prst="roundRect">
            <a:avLst>
              <a:gd name="adj" fmla="val 4500"/>
            </a:avLst>
          </a:prstGeom>
          <a:solidFill>
            <a:srgbClr val="141D33"/>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2396642" y="4983479"/>
            <a:ext cx="4114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2578608" y="4983479"/>
            <a:ext cx="1600199"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useSensorData</a:t>
            </a:r>
          </a:p>
        </p:txBody>
      </p:sp>
      <p:sp>
        <p:nvSpPr>
          <p:cNvPr id="57" name="TextBox 56"/>
          <p:cNvSpPr txBox="1"/>
          <p:nvPr/>
        </p:nvSpPr>
        <p:spPr>
          <a:xfrm>
            <a:off x="2578608" y="5193792"/>
            <a:ext cx="1600199" cy="329184"/>
          </a:xfrm>
          <a:prstGeom prst="rect">
            <a:avLst/>
          </a:prstGeom>
          <a:noFill/>
        </p:spPr>
        <p:txBody>
          <a:bodyPr wrap="square" anchor="t" lIns="0" rIns="0" tIns="0" bIns="0">
            <a:spAutoFit/>
          </a:bodyPr>
          <a:lstStyle/>
          <a:p>
            <a:pPr algn="l">
              <a:lnSpc>
                <a:spcPct val="115000"/>
              </a:lnSpc>
            </a:pPr>
            <a:r>
              <a:rPr sz="750" b="0" i="0">
                <a:solidFill>
                  <a:srgbClr val="8E9DBB"/>
                </a:solidFill>
                <a:latin typeface="Helvetica Neue"/>
              </a:rPr>
              <a:t>eigener Hook,
kapselt das Laden</a:t>
            </a:r>
          </a:p>
        </p:txBody>
      </p:sp>
      <p:sp>
        <p:nvSpPr>
          <p:cNvPr id="58" name="TextBox 57"/>
          <p:cNvSpPr txBox="1"/>
          <p:nvPr/>
        </p:nvSpPr>
        <p:spPr>
          <a:xfrm>
            <a:off x="2578608" y="5477255"/>
            <a:ext cx="1600199" cy="182880"/>
          </a:xfrm>
          <a:prstGeom prst="rect">
            <a:avLst/>
          </a:prstGeom>
          <a:noFill/>
        </p:spPr>
        <p:txBody>
          <a:bodyPr wrap="square" anchor="t" lIns="0" rIns="0" tIns="0" bIns="0">
            <a:spAutoFit/>
          </a:bodyPr>
          <a:lstStyle/>
          <a:p>
            <a:pPr algn="l">
              <a:lnSpc>
                <a:spcPct val="120000"/>
              </a:lnSpc>
            </a:pPr>
            <a:r>
              <a:rPr sz="700" b="0" i="0">
                <a:solidFill>
                  <a:srgbClr val="34D399"/>
                </a:solidFill>
                <a:latin typeface="Menlo"/>
              </a:rPr>
              <a:t>GET /data_wsi/</a:t>
            </a:r>
          </a:p>
        </p:txBody>
      </p:sp>
      <p:cxnSp>
        <p:nvCxnSpPr>
          <p:cNvPr id="59" name="Connector 58"/>
          <p:cNvCxnSpPr/>
          <p:nvPr/>
        </p:nvCxnSpPr>
        <p:spPr>
          <a:xfrm flipV="1">
            <a:off x="3310128" y="3300984"/>
            <a:ext cx="0" cy="1554480"/>
          </a:xfrm>
          <a:prstGeom prst="line">
            <a:avLst/>
          </a:prstGeom>
          <a:ln w="15875">
            <a:solidFill>
              <a:srgbClr val="34D399"/>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78408" y="3950208"/>
            <a:ext cx="1371600" cy="365760"/>
          </a:xfrm>
          <a:prstGeom prst="rect">
            <a:avLst/>
          </a:prstGeom>
          <a:noFill/>
        </p:spPr>
        <p:txBody>
          <a:bodyPr wrap="square" anchor="t" lIns="0" rIns="0" tIns="0" bIns="0">
            <a:spAutoFit/>
          </a:bodyPr>
          <a:lstStyle/>
          <a:p>
            <a:pPr algn="r">
              <a:lnSpc>
                <a:spcPct val="120000"/>
              </a:lnSpc>
            </a:pPr>
            <a:r>
              <a:rPr sz="750" b="0" i="0">
                <a:solidFill>
                  <a:srgbClr val="34D399"/>
                </a:solidFill>
                <a:latin typeface="Menlo"/>
              </a:rPr>
              <a:t>{ daten, status,</a:t>
            </a:r>
          </a:p>
          <a:p>
            <a:pPr algn="r">
              <a:lnSpc>
                <a:spcPct val="120000"/>
              </a:lnSpc>
            </a:pPr>
            <a:r>
              <a:rPr sz="750" b="0" i="0">
                <a:solidFill>
                  <a:srgbClr val="34D399"/>
                </a:solidFill>
                <a:latin typeface="Menlo"/>
              </a:rPr>
              <a:t>fehler, … }</a:t>
            </a:r>
          </a:p>
        </p:txBody>
      </p:sp>
      <p:sp>
        <p:nvSpPr>
          <p:cNvPr id="61" name="Rectangle 60"/>
          <p:cNvSpPr/>
          <p:nvPr/>
        </p:nvSpPr>
        <p:spPr>
          <a:xfrm>
            <a:off x="777240" y="5943600"/>
            <a:ext cx="10637215"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77240" y="6053328"/>
            <a:ext cx="10637215" cy="219456"/>
          </a:xfrm>
          <a:prstGeom prst="rect">
            <a:avLst/>
          </a:prstGeom>
          <a:noFill/>
        </p:spPr>
        <p:txBody>
          <a:bodyPr wrap="square" anchor="t" lIns="0" rIns="0" tIns="0" bIns="0">
            <a:spAutoFit/>
          </a:bodyPr>
          <a:lstStyle/>
          <a:p>
            <a:pPr algn="l">
              <a:lnSpc>
                <a:spcPct val="120000"/>
              </a:lnSpc>
            </a:pPr>
            <a:r>
              <a:rPr sz="1000" b="0" i="0">
                <a:solidFill>
                  <a:srgbClr val="8E9DBB"/>
                </a:solidFill>
                <a:latin typeface="Helvetica Neue"/>
              </a:rPr>
              <a:t>Drei der vier Backend-Routen sind angebunden – jede an genau einer Stelle.</a:t>
            </a:r>
          </a:p>
        </p:txBody>
      </p:sp>
      <p:sp>
        <p:nvSpPr>
          <p:cNvPr id="63" name="TextBox 62"/>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64" name="TextBox 63"/>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FRONTEND · OBERFLÄCHE</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Die Datenansicht</a:t>
            </a:r>
          </a:p>
        </p:txBody>
      </p:sp>
      <p:sp>
        <p:nvSpPr>
          <p:cNvPr id="5" name="Rectangle 4"/>
          <p:cNvSpPr/>
          <p:nvPr/>
        </p:nvSpPr>
        <p:spPr>
          <a:xfrm>
            <a:off x="777240" y="1316736"/>
            <a:ext cx="1371600" cy="2560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77240" y="1600200"/>
            <a:ext cx="7086600" cy="4343400"/>
          </a:xfrm>
          <a:prstGeom prst="roundRect">
            <a:avLst>
              <a:gd name="adj" fmla="val 2800"/>
            </a:avLst>
          </a:prstGeom>
          <a:solidFill>
            <a:srgbClr val="DDE4EE"/>
          </a:solidFill>
          <a:ln w="12700">
            <a:solidFill>
              <a:srgbClr val="2E3E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905256" y="1723644"/>
            <a:ext cx="86868" cy="86868"/>
          </a:xfrm>
          <a:prstGeom prst="ellipse">
            <a:avLst/>
          </a:prstGeom>
          <a:solidFill>
            <a:srgbClr val="F28B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1046988" y="1723644"/>
            <a:ext cx="86868" cy="86868"/>
          </a:xfrm>
          <a:prstGeom prst="ellipse">
            <a:avLst/>
          </a:prstGeom>
          <a:solidFill>
            <a:srgbClr val="F5C2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188720" y="1723644"/>
            <a:ext cx="86868" cy="86868"/>
          </a:xfrm>
          <a:prstGeom prst="ellipse">
            <a:avLst/>
          </a:prstGeom>
          <a:solidFill>
            <a:srgbClr val="86C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1380744" y="1687068"/>
            <a:ext cx="4023360" cy="16916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99616" y="1711756"/>
            <a:ext cx="3822192" cy="146304"/>
          </a:xfrm>
          <a:prstGeom prst="rect">
            <a:avLst/>
          </a:prstGeom>
          <a:noFill/>
        </p:spPr>
        <p:txBody>
          <a:bodyPr wrap="square" anchor="t" lIns="0" rIns="0" tIns="0" bIns="0">
            <a:spAutoFit/>
          </a:bodyPr>
          <a:lstStyle/>
          <a:p>
            <a:pPr algn="l">
              <a:lnSpc>
                <a:spcPct val="120000"/>
              </a:lnSpc>
            </a:pPr>
            <a:r>
              <a:rPr sz="700" b="0" i="0">
                <a:solidFill>
                  <a:srgbClr val="64748B"/>
                </a:solidFill>
                <a:latin typeface="Menlo"/>
              </a:rPr>
              <a:t>localhost:5173</a:t>
            </a:r>
          </a:p>
        </p:txBody>
      </p:sp>
      <p:sp>
        <p:nvSpPr>
          <p:cNvPr id="12" name="Rectangle 11"/>
          <p:cNvSpPr/>
          <p:nvPr/>
        </p:nvSpPr>
        <p:spPr>
          <a:xfrm>
            <a:off x="841247" y="1929384"/>
            <a:ext cx="6958584" cy="3950207"/>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41247" y="1929384"/>
            <a:ext cx="6958584"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41247" y="2350008"/>
            <a:ext cx="6958584" cy="7315"/>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rot="19800000">
            <a:off x="987551" y="2066543"/>
            <a:ext cx="237744" cy="155448"/>
          </a:xfrm>
          <a:prstGeom prst="ellipse">
            <a:avLst/>
          </a:prstGeom>
          <a:noFill/>
          <a:ln w="1143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298448" y="2048255"/>
            <a:ext cx="1828800" cy="182880"/>
          </a:xfrm>
          <a:prstGeom prst="rect">
            <a:avLst/>
          </a:prstGeom>
          <a:noFill/>
        </p:spPr>
        <p:txBody>
          <a:bodyPr wrap="square" anchor="t" lIns="0" rIns="0" tIns="0" bIns="0">
            <a:spAutoFit/>
          </a:bodyPr>
          <a:lstStyle/>
          <a:p>
            <a:pPr algn="l">
              <a:lnSpc>
                <a:spcPct val="120000"/>
              </a:lnSpc>
            </a:pPr>
            <a:r>
              <a:rPr sz="950" b="1" i="0">
                <a:solidFill>
                  <a:srgbClr val="0F172A"/>
                </a:solidFill>
                <a:latin typeface="Helvetica Neue"/>
              </a:rPr>
              <a:t>Satelliten Daten</a:t>
            </a:r>
          </a:p>
        </p:txBody>
      </p:sp>
      <p:sp>
        <p:nvSpPr>
          <p:cNvPr id="17" name="TextBox 16"/>
          <p:cNvSpPr txBox="1"/>
          <p:nvPr/>
        </p:nvSpPr>
        <p:spPr>
          <a:xfrm>
            <a:off x="5605272" y="2071115"/>
            <a:ext cx="914400" cy="164592"/>
          </a:xfrm>
          <a:prstGeom prst="rect">
            <a:avLst/>
          </a:prstGeom>
          <a:noFill/>
        </p:spPr>
        <p:txBody>
          <a:bodyPr wrap="square" anchor="t" lIns="0" rIns="0" tIns="0" bIns="0">
            <a:spAutoFit/>
          </a:bodyPr>
          <a:lstStyle/>
          <a:p>
            <a:pPr algn="r">
              <a:lnSpc>
                <a:spcPct val="120000"/>
              </a:lnSpc>
            </a:pPr>
            <a:r>
              <a:rPr sz="800" b="0" i="0">
                <a:solidFill>
                  <a:srgbClr val="94A3B8"/>
                </a:solidFill>
                <a:latin typeface="Helvetica Neue"/>
              </a:rPr>
              <a:t>vor 3 s</a:t>
            </a:r>
          </a:p>
        </p:txBody>
      </p:sp>
      <p:sp>
        <p:nvSpPr>
          <p:cNvPr id="18" name="Rounded Rectangle 17"/>
          <p:cNvSpPr/>
          <p:nvPr/>
        </p:nvSpPr>
        <p:spPr>
          <a:xfrm>
            <a:off x="6611112" y="2020824"/>
            <a:ext cx="1042415" cy="237744"/>
          </a:xfrm>
          <a:prstGeom prst="roundRect">
            <a:avLst>
              <a:gd name="adj" fmla="val 18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611112" y="2066543"/>
            <a:ext cx="1042415" cy="164592"/>
          </a:xfrm>
          <a:prstGeom prst="rect">
            <a:avLst/>
          </a:prstGeom>
          <a:noFill/>
        </p:spPr>
        <p:txBody>
          <a:bodyPr wrap="square" anchor="t" lIns="0" rIns="0" tIns="0" bIns="0">
            <a:spAutoFit/>
          </a:bodyPr>
          <a:lstStyle/>
          <a:p>
            <a:pPr algn="ctr">
              <a:lnSpc>
                <a:spcPct val="120000"/>
              </a:lnSpc>
            </a:pPr>
            <a:r>
              <a:rPr sz="750" b="0" i="0">
                <a:solidFill>
                  <a:srgbClr val="64748B"/>
                </a:solidFill>
                <a:latin typeface="Helvetica Neue"/>
              </a:rPr>
              <a:t>Aktualisieren</a:t>
            </a:r>
          </a:p>
        </p:txBody>
      </p:sp>
      <p:sp>
        <p:nvSpPr>
          <p:cNvPr id="20" name="TextBox 19"/>
          <p:cNvSpPr txBox="1"/>
          <p:nvPr/>
        </p:nvSpPr>
        <p:spPr>
          <a:xfrm>
            <a:off x="1024127" y="2487168"/>
            <a:ext cx="2743200" cy="274320"/>
          </a:xfrm>
          <a:prstGeom prst="rect">
            <a:avLst/>
          </a:prstGeom>
          <a:noFill/>
        </p:spPr>
        <p:txBody>
          <a:bodyPr wrap="square" anchor="t" lIns="0" rIns="0" tIns="0" bIns="0">
            <a:spAutoFit/>
          </a:bodyPr>
          <a:lstStyle/>
          <a:p>
            <a:pPr algn="l">
              <a:lnSpc>
                <a:spcPct val="120000"/>
              </a:lnSpc>
            </a:pPr>
            <a:r>
              <a:rPr sz="1500" b="1" i="0">
                <a:solidFill>
                  <a:srgbClr val="0F172A"/>
                </a:solidFill>
                <a:latin typeface="Helvetica Neue"/>
              </a:rPr>
              <a:t>Telemetrie</a:t>
            </a:r>
          </a:p>
        </p:txBody>
      </p:sp>
      <p:sp>
        <p:nvSpPr>
          <p:cNvPr id="21" name="TextBox 20"/>
          <p:cNvSpPr txBox="1"/>
          <p:nvPr/>
        </p:nvSpPr>
        <p:spPr>
          <a:xfrm>
            <a:off x="1024127" y="2761488"/>
            <a:ext cx="4937760"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Live-Sensordaten der Bodenstation – durchsuchbar und sortierbar.</a:t>
            </a:r>
          </a:p>
        </p:txBody>
      </p:sp>
      <p:sp>
        <p:nvSpPr>
          <p:cNvPr id="22" name="Rounded Rectangle 21"/>
          <p:cNvSpPr/>
          <p:nvPr/>
        </p:nvSpPr>
        <p:spPr>
          <a:xfrm>
            <a:off x="1024127" y="3035808"/>
            <a:ext cx="2045208" cy="640080"/>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152143" y="3136391"/>
            <a:ext cx="1789176" cy="146304"/>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DATENSÄTZE</a:t>
            </a:r>
          </a:p>
        </p:txBody>
      </p:sp>
      <p:sp>
        <p:nvSpPr>
          <p:cNvPr id="24" name="TextBox 23"/>
          <p:cNvSpPr txBox="1"/>
          <p:nvPr/>
        </p:nvSpPr>
        <p:spPr>
          <a:xfrm>
            <a:off x="1152143" y="3291839"/>
            <a:ext cx="1789176" cy="256032"/>
          </a:xfrm>
          <a:prstGeom prst="rect">
            <a:avLst/>
          </a:prstGeom>
          <a:noFill/>
        </p:spPr>
        <p:txBody>
          <a:bodyPr wrap="square" anchor="t" lIns="0" rIns="0" tIns="0" bIns="0">
            <a:spAutoFit/>
          </a:bodyPr>
          <a:lstStyle/>
          <a:p>
            <a:pPr algn="l">
              <a:lnSpc>
                <a:spcPct val="120000"/>
              </a:lnSpc>
            </a:pPr>
            <a:r>
              <a:rPr sz="1400" b="1" i="0">
                <a:solidFill>
                  <a:srgbClr val="0F172A"/>
                </a:solidFill>
                <a:latin typeface="Helvetica Neue"/>
              </a:rPr>
              <a:t>2 315</a:t>
            </a:r>
          </a:p>
        </p:txBody>
      </p:sp>
      <p:sp>
        <p:nvSpPr>
          <p:cNvPr id="25" name="Rounded Rectangle 24"/>
          <p:cNvSpPr/>
          <p:nvPr/>
        </p:nvSpPr>
        <p:spPr>
          <a:xfrm>
            <a:off x="3297936" y="3035808"/>
            <a:ext cx="2045208" cy="640080"/>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425952" y="3136391"/>
            <a:ext cx="1789176" cy="146304"/>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Ø DRUCK</a:t>
            </a:r>
          </a:p>
        </p:txBody>
      </p:sp>
      <p:sp>
        <p:nvSpPr>
          <p:cNvPr id="27" name="TextBox 26"/>
          <p:cNvSpPr txBox="1"/>
          <p:nvPr/>
        </p:nvSpPr>
        <p:spPr>
          <a:xfrm>
            <a:off x="3425952" y="3291839"/>
            <a:ext cx="1789176" cy="256032"/>
          </a:xfrm>
          <a:prstGeom prst="rect">
            <a:avLst/>
          </a:prstGeom>
          <a:noFill/>
        </p:spPr>
        <p:txBody>
          <a:bodyPr wrap="square" anchor="t" lIns="0" rIns="0" tIns="0" bIns="0">
            <a:spAutoFit/>
          </a:bodyPr>
          <a:lstStyle/>
          <a:p>
            <a:pPr algn="l">
              <a:lnSpc>
                <a:spcPct val="120000"/>
              </a:lnSpc>
            </a:pPr>
            <a:r>
              <a:rPr sz="1400" b="1" i="0">
                <a:solidFill>
                  <a:srgbClr val="0F172A"/>
                </a:solidFill>
                <a:latin typeface="Helvetica Neue"/>
              </a:rPr>
              <a:t>4,71</a:t>
            </a:r>
          </a:p>
        </p:txBody>
      </p:sp>
      <p:sp>
        <p:nvSpPr>
          <p:cNvPr id="28" name="TextBox 27"/>
          <p:cNvSpPr txBox="1"/>
          <p:nvPr/>
        </p:nvSpPr>
        <p:spPr>
          <a:xfrm>
            <a:off x="3857548" y="3369563"/>
            <a:ext cx="548640" cy="146304"/>
          </a:xfrm>
          <a:prstGeom prst="rect">
            <a:avLst/>
          </a:prstGeom>
          <a:noFill/>
        </p:spPr>
        <p:txBody>
          <a:bodyPr wrap="square" anchor="t" lIns="0" rIns="0" tIns="0" bIns="0">
            <a:spAutoFit/>
          </a:bodyPr>
          <a:lstStyle/>
          <a:p>
            <a:pPr algn="l">
              <a:lnSpc>
                <a:spcPct val="120000"/>
              </a:lnSpc>
            </a:pPr>
            <a:r>
              <a:rPr sz="700" b="0" i="0">
                <a:solidFill>
                  <a:srgbClr val="94A3B8"/>
                </a:solidFill>
                <a:latin typeface="Helvetica Neue"/>
              </a:rPr>
              <a:t>bar</a:t>
            </a:r>
          </a:p>
        </p:txBody>
      </p:sp>
      <p:sp>
        <p:nvSpPr>
          <p:cNvPr id="29" name="Rounded Rectangle 28"/>
          <p:cNvSpPr/>
          <p:nvPr/>
        </p:nvSpPr>
        <p:spPr>
          <a:xfrm>
            <a:off x="5571744" y="3035808"/>
            <a:ext cx="2045208" cy="640080"/>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699760" y="3136391"/>
            <a:ext cx="1789176" cy="146304"/>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Ø TEMPERATUR</a:t>
            </a:r>
          </a:p>
        </p:txBody>
      </p:sp>
      <p:sp>
        <p:nvSpPr>
          <p:cNvPr id="31" name="TextBox 30"/>
          <p:cNvSpPr txBox="1"/>
          <p:nvPr/>
        </p:nvSpPr>
        <p:spPr>
          <a:xfrm>
            <a:off x="5699760" y="3291839"/>
            <a:ext cx="1789176" cy="256032"/>
          </a:xfrm>
          <a:prstGeom prst="rect">
            <a:avLst/>
          </a:prstGeom>
          <a:noFill/>
        </p:spPr>
        <p:txBody>
          <a:bodyPr wrap="square" anchor="t" lIns="0" rIns="0" tIns="0" bIns="0">
            <a:spAutoFit/>
          </a:bodyPr>
          <a:lstStyle/>
          <a:p>
            <a:pPr algn="l">
              <a:lnSpc>
                <a:spcPct val="120000"/>
              </a:lnSpc>
            </a:pPr>
            <a:r>
              <a:rPr sz="1400" b="1" i="0">
                <a:solidFill>
                  <a:srgbClr val="0F172A"/>
                </a:solidFill>
                <a:latin typeface="Helvetica Neue"/>
              </a:rPr>
              <a:t>351,8</a:t>
            </a:r>
          </a:p>
        </p:txBody>
      </p:sp>
      <p:sp>
        <p:nvSpPr>
          <p:cNvPr id="32" name="TextBox 31"/>
          <p:cNvSpPr txBox="1"/>
          <p:nvPr/>
        </p:nvSpPr>
        <p:spPr>
          <a:xfrm>
            <a:off x="6230112" y="3369563"/>
            <a:ext cx="548640" cy="146304"/>
          </a:xfrm>
          <a:prstGeom prst="rect">
            <a:avLst/>
          </a:prstGeom>
          <a:noFill/>
        </p:spPr>
        <p:txBody>
          <a:bodyPr wrap="square" anchor="t" lIns="0" rIns="0" tIns="0" bIns="0">
            <a:spAutoFit/>
          </a:bodyPr>
          <a:lstStyle/>
          <a:p>
            <a:pPr algn="l">
              <a:lnSpc>
                <a:spcPct val="120000"/>
              </a:lnSpc>
            </a:pPr>
            <a:r>
              <a:rPr sz="700" b="0" i="0">
                <a:solidFill>
                  <a:srgbClr val="94A3B8"/>
                </a:solidFill>
                <a:latin typeface="Helvetica Neue"/>
              </a:rPr>
              <a:t>K</a:t>
            </a:r>
          </a:p>
        </p:txBody>
      </p:sp>
      <p:sp>
        <p:nvSpPr>
          <p:cNvPr id="33" name="Rounded Rectangle 32"/>
          <p:cNvSpPr/>
          <p:nvPr/>
        </p:nvSpPr>
        <p:spPr>
          <a:xfrm>
            <a:off x="1024127" y="3803904"/>
            <a:ext cx="6592824" cy="329184"/>
          </a:xfrm>
          <a:prstGeom prst="roundRect">
            <a:avLst>
              <a:gd name="adj" fmla="val 14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1097280" y="3858768"/>
            <a:ext cx="219456" cy="219456"/>
          </a:xfrm>
          <a:prstGeom prst="roundRect">
            <a:avLst>
              <a:gd name="adj" fmla="val 3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1156716" y="3909060"/>
            <a:ext cx="96012" cy="96012"/>
          </a:xfrm>
          <a:prstGeom prst="ellipse">
            <a:avLst/>
          </a:prstGeom>
          <a:noFill/>
          <a:ln w="1143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1241755" y="3994099"/>
            <a:ext cx="50292"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389888" y="3899916"/>
            <a:ext cx="5440679" cy="182880"/>
          </a:xfrm>
          <a:prstGeom prst="rect">
            <a:avLst/>
          </a:prstGeom>
          <a:noFill/>
        </p:spPr>
        <p:txBody>
          <a:bodyPr wrap="square" anchor="t" lIns="0" rIns="0" tIns="0" bIns="0">
            <a:spAutoFit/>
          </a:bodyPr>
          <a:lstStyle/>
          <a:p>
            <a:pPr algn="l">
              <a:lnSpc>
                <a:spcPct val="120000"/>
              </a:lnSpc>
            </a:pPr>
            <a:r>
              <a:rPr sz="850" b="0" i="0">
                <a:solidFill>
                  <a:srgbClr val="94A3B8"/>
                </a:solidFill>
                <a:latin typeface="Helvetica Neue"/>
              </a:rPr>
              <a:t>Sensor, Typ oder Zeitstempel suchen…</a:t>
            </a:r>
          </a:p>
        </p:txBody>
      </p:sp>
      <p:sp>
        <p:nvSpPr>
          <p:cNvPr id="38" name="Rounded Rectangle 37"/>
          <p:cNvSpPr/>
          <p:nvPr/>
        </p:nvSpPr>
        <p:spPr>
          <a:xfrm>
            <a:off x="7141464" y="3881628"/>
            <a:ext cx="384048" cy="173735"/>
          </a:xfrm>
          <a:prstGeom prst="roundRect">
            <a:avLst>
              <a:gd name="adj" fmla="val 20000"/>
            </a:avLst>
          </a:prstGeom>
          <a:solidFill>
            <a:srgbClr val="F8FAFC"/>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41464" y="3918204"/>
            <a:ext cx="384048" cy="146304"/>
          </a:xfrm>
          <a:prstGeom prst="rect">
            <a:avLst/>
          </a:prstGeom>
          <a:noFill/>
        </p:spPr>
        <p:txBody>
          <a:bodyPr wrap="square" anchor="t" lIns="0" rIns="0" tIns="0" bIns="0">
            <a:spAutoFit/>
          </a:bodyPr>
          <a:lstStyle/>
          <a:p>
            <a:pPr algn="ctr">
              <a:lnSpc>
                <a:spcPct val="120000"/>
              </a:lnSpc>
            </a:pPr>
            <a:r>
              <a:rPr sz="700" b="0" i="0">
                <a:solidFill>
                  <a:srgbClr val="64748B"/>
                </a:solidFill>
                <a:latin typeface="Helvetica Neue"/>
              </a:rPr>
              <a:t>⌘K</a:t>
            </a:r>
          </a:p>
        </p:txBody>
      </p:sp>
      <p:sp>
        <p:nvSpPr>
          <p:cNvPr id="40" name="Rounded Rectangle 39"/>
          <p:cNvSpPr/>
          <p:nvPr/>
        </p:nvSpPr>
        <p:spPr>
          <a:xfrm>
            <a:off x="1024127" y="4261104"/>
            <a:ext cx="6592824" cy="1609344"/>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133855" y="4352544"/>
            <a:ext cx="1490837" cy="164592"/>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NAME  ↕</a:t>
            </a:r>
          </a:p>
        </p:txBody>
      </p:sp>
      <p:sp>
        <p:nvSpPr>
          <p:cNvPr id="42" name="TextBox 41"/>
          <p:cNvSpPr txBox="1"/>
          <p:nvPr/>
        </p:nvSpPr>
        <p:spPr>
          <a:xfrm>
            <a:off x="2716133" y="4352544"/>
            <a:ext cx="864519" cy="164592"/>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TYP  ↕</a:t>
            </a:r>
          </a:p>
        </p:txBody>
      </p:sp>
      <p:sp>
        <p:nvSpPr>
          <p:cNvPr id="43" name="TextBox 42"/>
          <p:cNvSpPr txBox="1"/>
          <p:nvPr/>
        </p:nvSpPr>
        <p:spPr>
          <a:xfrm>
            <a:off x="3672093" y="4352544"/>
            <a:ext cx="1227124" cy="164592"/>
          </a:xfrm>
          <a:prstGeom prst="rect">
            <a:avLst/>
          </a:prstGeom>
          <a:noFill/>
        </p:spPr>
        <p:txBody>
          <a:bodyPr wrap="square" anchor="t" lIns="0" rIns="0" tIns="0" bIns="0">
            <a:spAutoFit/>
          </a:bodyPr>
          <a:lstStyle/>
          <a:p>
            <a:pPr algn="r">
              <a:lnSpc>
                <a:spcPct val="120000"/>
              </a:lnSpc>
            </a:pPr>
            <a:r>
              <a:rPr sz="650" b="1" i="0" spc="160">
                <a:solidFill>
                  <a:srgbClr val="94A3B8"/>
                </a:solidFill>
                <a:latin typeface="Helvetica Neue"/>
              </a:rPr>
              <a:t>DRUCK (BAR)  ↕</a:t>
            </a:r>
          </a:p>
        </p:txBody>
      </p:sp>
      <p:sp>
        <p:nvSpPr>
          <p:cNvPr id="44" name="TextBox 43"/>
          <p:cNvSpPr txBox="1"/>
          <p:nvPr/>
        </p:nvSpPr>
        <p:spPr>
          <a:xfrm>
            <a:off x="4990658" y="4352544"/>
            <a:ext cx="1260088" cy="164592"/>
          </a:xfrm>
          <a:prstGeom prst="rect">
            <a:avLst/>
          </a:prstGeom>
          <a:noFill/>
        </p:spPr>
        <p:txBody>
          <a:bodyPr wrap="square" anchor="t" lIns="0" rIns="0" tIns="0" bIns="0">
            <a:spAutoFit/>
          </a:bodyPr>
          <a:lstStyle/>
          <a:p>
            <a:pPr algn="r">
              <a:lnSpc>
                <a:spcPct val="120000"/>
              </a:lnSpc>
            </a:pPr>
            <a:r>
              <a:rPr sz="650" b="1" i="0" spc="160">
                <a:solidFill>
                  <a:srgbClr val="94A3B8"/>
                </a:solidFill>
                <a:latin typeface="Helvetica Neue"/>
              </a:rPr>
              <a:t>TEMPERATUR (K)  ↕</a:t>
            </a:r>
          </a:p>
        </p:txBody>
      </p:sp>
      <p:sp>
        <p:nvSpPr>
          <p:cNvPr id="45" name="TextBox 44"/>
          <p:cNvSpPr txBox="1"/>
          <p:nvPr/>
        </p:nvSpPr>
        <p:spPr>
          <a:xfrm>
            <a:off x="6342186" y="4352544"/>
            <a:ext cx="1293053" cy="164592"/>
          </a:xfrm>
          <a:prstGeom prst="rect">
            <a:avLst/>
          </a:prstGeom>
          <a:noFill/>
        </p:spPr>
        <p:txBody>
          <a:bodyPr wrap="square" anchor="t" lIns="0" rIns="0" tIns="0" bIns="0">
            <a:spAutoFit/>
          </a:bodyPr>
          <a:lstStyle/>
          <a:p>
            <a:pPr algn="l">
              <a:lnSpc>
                <a:spcPct val="120000"/>
              </a:lnSpc>
            </a:pPr>
            <a:r>
              <a:rPr sz="650" b="1" i="0" spc="160">
                <a:solidFill>
                  <a:srgbClr val="2563EB"/>
                </a:solidFill>
                <a:latin typeface="Helvetica Neue"/>
              </a:rPr>
              <a:t>ZEITPUNKT  ↓</a:t>
            </a:r>
          </a:p>
        </p:txBody>
      </p:sp>
      <p:sp>
        <p:nvSpPr>
          <p:cNvPr id="46" name="Rectangle 45"/>
          <p:cNvSpPr/>
          <p:nvPr/>
        </p:nvSpPr>
        <p:spPr>
          <a:xfrm>
            <a:off x="1133855" y="4535424"/>
            <a:ext cx="6373368" cy="7315"/>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1133855" y="4654296"/>
            <a:ext cx="1490837"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thruster_1.a</a:t>
            </a:r>
          </a:p>
        </p:txBody>
      </p:sp>
      <p:sp>
        <p:nvSpPr>
          <p:cNvPr id="48" name="Rounded Rectangle 47"/>
          <p:cNvSpPr/>
          <p:nvPr/>
        </p:nvSpPr>
        <p:spPr>
          <a:xfrm>
            <a:off x="2716133" y="4626864"/>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2770997" y="4649724"/>
            <a:ext cx="773079"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50" name="TextBox 49"/>
          <p:cNvSpPr txBox="1"/>
          <p:nvPr/>
        </p:nvSpPr>
        <p:spPr>
          <a:xfrm>
            <a:off x="3672093" y="4617720"/>
            <a:ext cx="1190548"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3,35</a:t>
            </a:r>
          </a:p>
        </p:txBody>
      </p:sp>
      <p:sp>
        <p:nvSpPr>
          <p:cNvPr id="51" name="Rounded Rectangle 50"/>
          <p:cNvSpPr/>
          <p:nvPr/>
        </p:nvSpPr>
        <p:spPr>
          <a:xfrm>
            <a:off x="4295714" y="4786884"/>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4295714" y="4786884"/>
            <a:ext cx="190087"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990658" y="4617720"/>
            <a:ext cx="1223512"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432,2</a:t>
            </a:r>
          </a:p>
        </p:txBody>
      </p:sp>
      <p:sp>
        <p:nvSpPr>
          <p:cNvPr id="54" name="Rounded Rectangle 53"/>
          <p:cNvSpPr/>
          <p:nvPr/>
        </p:nvSpPr>
        <p:spPr>
          <a:xfrm>
            <a:off x="5647242" y="4786884"/>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5647242" y="4786884"/>
            <a:ext cx="438802"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342186" y="4654296"/>
            <a:ext cx="1293053"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06.08.2026, 14:31:02</a:t>
            </a:r>
          </a:p>
        </p:txBody>
      </p:sp>
      <p:sp>
        <p:nvSpPr>
          <p:cNvPr id="57" name="Rectangle 56"/>
          <p:cNvSpPr/>
          <p:nvPr/>
        </p:nvSpPr>
        <p:spPr>
          <a:xfrm>
            <a:off x="1133855" y="4864608"/>
            <a:ext cx="6373368"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1133855" y="4965192"/>
            <a:ext cx="1490837"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o_tank_1</a:t>
            </a:r>
          </a:p>
        </p:txBody>
      </p:sp>
      <p:sp>
        <p:nvSpPr>
          <p:cNvPr id="59" name="Rounded Rectangle 58"/>
          <p:cNvSpPr/>
          <p:nvPr/>
        </p:nvSpPr>
        <p:spPr>
          <a:xfrm>
            <a:off x="2716133" y="4937759"/>
            <a:ext cx="555955"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2770997" y="4960620"/>
            <a:ext cx="773079"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gas_valve</a:t>
            </a:r>
          </a:p>
        </p:txBody>
      </p:sp>
      <p:sp>
        <p:nvSpPr>
          <p:cNvPr id="61" name="TextBox 60"/>
          <p:cNvSpPr txBox="1"/>
          <p:nvPr/>
        </p:nvSpPr>
        <p:spPr>
          <a:xfrm>
            <a:off x="3672093" y="4928616"/>
            <a:ext cx="1190548"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5,10</a:t>
            </a:r>
          </a:p>
        </p:txBody>
      </p:sp>
      <p:sp>
        <p:nvSpPr>
          <p:cNvPr id="62" name="Rounded Rectangle 61"/>
          <p:cNvSpPr/>
          <p:nvPr/>
        </p:nvSpPr>
        <p:spPr>
          <a:xfrm>
            <a:off x="4295714" y="5097780"/>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ounded Rectangle 62"/>
          <p:cNvSpPr/>
          <p:nvPr/>
        </p:nvSpPr>
        <p:spPr>
          <a:xfrm>
            <a:off x="4295714" y="5097780"/>
            <a:ext cx="306808"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4990658" y="4928616"/>
            <a:ext cx="1223512"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268,4</a:t>
            </a:r>
          </a:p>
        </p:txBody>
      </p:sp>
      <p:sp>
        <p:nvSpPr>
          <p:cNvPr id="65" name="Rounded Rectangle 64"/>
          <p:cNvSpPr/>
          <p:nvPr/>
        </p:nvSpPr>
        <p:spPr>
          <a:xfrm>
            <a:off x="5647242" y="5097780"/>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ounded Rectangle 65"/>
          <p:cNvSpPr/>
          <p:nvPr/>
        </p:nvSpPr>
        <p:spPr>
          <a:xfrm>
            <a:off x="5647242" y="5097780"/>
            <a:ext cx="12925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6342186" y="4965192"/>
            <a:ext cx="1293053"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06.08.2026, 14:30:53</a:t>
            </a:r>
          </a:p>
        </p:txBody>
      </p:sp>
      <p:sp>
        <p:nvSpPr>
          <p:cNvPr id="68" name="Rectangle 67"/>
          <p:cNvSpPr/>
          <p:nvPr/>
        </p:nvSpPr>
        <p:spPr>
          <a:xfrm>
            <a:off x="1133855" y="5175504"/>
            <a:ext cx="6373368"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1133855" y="5276088"/>
            <a:ext cx="1490837"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thruster_2.b</a:t>
            </a:r>
          </a:p>
        </p:txBody>
      </p:sp>
      <p:sp>
        <p:nvSpPr>
          <p:cNvPr id="70" name="Rounded Rectangle 69"/>
          <p:cNvSpPr/>
          <p:nvPr/>
        </p:nvSpPr>
        <p:spPr>
          <a:xfrm>
            <a:off x="2716133" y="5248655"/>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2770997" y="5271516"/>
            <a:ext cx="773079"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72" name="TextBox 71"/>
          <p:cNvSpPr txBox="1"/>
          <p:nvPr/>
        </p:nvSpPr>
        <p:spPr>
          <a:xfrm>
            <a:off x="3672093" y="5239512"/>
            <a:ext cx="1190548"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2,88</a:t>
            </a:r>
          </a:p>
        </p:txBody>
      </p:sp>
      <p:sp>
        <p:nvSpPr>
          <p:cNvPr id="73" name="Rounded Rectangle 72"/>
          <p:cNvSpPr/>
          <p:nvPr/>
        </p:nvSpPr>
        <p:spPr>
          <a:xfrm>
            <a:off x="4295714" y="5408676"/>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ounded Rectangle 73"/>
          <p:cNvSpPr/>
          <p:nvPr/>
        </p:nvSpPr>
        <p:spPr>
          <a:xfrm>
            <a:off x="4295714" y="5408676"/>
            <a:ext cx="15873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4990658" y="5239512"/>
            <a:ext cx="1223512"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455,7</a:t>
            </a:r>
          </a:p>
        </p:txBody>
      </p:sp>
      <p:sp>
        <p:nvSpPr>
          <p:cNvPr id="76" name="Rounded Rectangle 75"/>
          <p:cNvSpPr/>
          <p:nvPr/>
        </p:nvSpPr>
        <p:spPr>
          <a:xfrm>
            <a:off x="5647242" y="5408676"/>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ounded Rectangle 76"/>
          <p:cNvSpPr/>
          <p:nvPr/>
        </p:nvSpPr>
        <p:spPr>
          <a:xfrm>
            <a:off x="5647242" y="5408676"/>
            <a:ext cx="483211"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6342186" y="5276088"/>
            <a:ext cx="1293053"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06.08.2026, 14:30:44</a:t>
            </a:r>
          </a:p>
        </p:txBody>
      </p:sp>
      <p:sp>
        <p:nvSpPr>
          <p:cNvPr id="79" name="Rectangle 78"/>
          <p:cNvSpPr/>
          <p:nvPr/>
        </p:nvSpPr>
        <p:spPr>
          <a:xfrm>
            <a:off x="1133855" y="5486400"/>
            <a:ext cx="6373368"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1133855" y="5586983"/>
            <a:ext cx="1490837"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h_tank_2</a:t>
            </a:r>
          </a:p>
        </p:txBody>
      </p:sp>
      <p:sp>
        <p:nvSpPr>
          <p:cNvPr id="81" name="Rounded Rectangle 80"/>
          <p:cNvSpPr/>
          <p:nvPr/>
        </p:nvSpPr>
        <p:spPr>
          <a:xfrm>
            <a:off x="2716133" y="5559551"/>
            <a:ext cx="555955"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2770997" y="5582412"/>
            <a:ext cx="773079"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gas_valve</a:t>
            </a:r>
          </a:p>
        </p:txBody>
      </p:sp>
      <p:sp>
        <p:nvSpPr>
          <p:cNvPr id="83" name="TextBox 82"/>
          <p:cNvSpPr txBox="1"/>
          <p:nvPr/>
        </p:nvSpPr>
        <p:spPr>
          <a:xfrm>
            <a:off x="3672093" y="5550407"/>
            <a:ext cx="1190548"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6,02</a:t>
            </a:r>
          </a:p>
        </p:txBody>
      </p:sp>
      <p:sp>
        <p:nvSpPr>
          <p:cNvPr id="84" name="Rounded Rectangle 83"/>
          <p:cNvSpPr/>
          <p:nvPr/>
        </p:nvSpPr>
        <p:spPr>
          <a:xfrm>
            <a:off x="4295714" y="5719572"/>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ounded Rectangle 84"/>
          <p:cNvSpPr/>
          <p:nvPr/>
        </p:nvSpPr>
        <p:spPr>
          <a:xfrm>
            <a:off x="4295714" y="5719572"/>
            <a:ext cx="36816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TextBox 85"/>
          <p:cNvSpPr txBox="1"/>
          <p:nvPr/>
        </p:nvSpPr>
        <p:spPr>
          <a:xfrm>
            <a:off x="4990658" y="5550407"/>
            <a:ext cx="1223512"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240,1</a:t>
            </a:r>
          </a:p>
        </p:txBody>
      </p:sp>
      <p:sp>
        <p:nvSpPr>
          <p:cNvPr id="87" name="Rounded Rectangle 86"/>
          <p:cNvSpPr/>
          <p:nvPr/>
        </p:nvSpPr>
        <p:spPr>
          <a:xfrm>
            <a:off x="5647242" y="5719572"/>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ounded Rectangle 87"/>
          <p:cNvSpPr/>
          <p:nvPr/>
        </p:nvSpPr>
        <p:spPr>
          <a:xfrm>
            <a:off x="5647242" y="5719572"/>
            <a:ext cx="7577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6342186" y="5586983"/>
            <a:ext cx="1293053"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06.08.2026, 14:30:35</a:t>
            </a:r>
          </a:p>
        </p:txBody>
      </p:sp>
      <p:sp>
        <p:nvSpPr>
          <p:cNvPr id="90" name="Oval 89"/>
          <p:cNvSpPr/>
          <p:nvPr/>
        </p:nvSpPr>
        <p:spPr>
          <a:xfrm>
            <a:off x="7726679" y="1993392"/>
            <a:ext cx="256032" cy="256032"/>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7726679" y="2043684"/>
            <a:ext cx="256032"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1</a:t>
            </a:r>
          </a:p>
        </p:txBody>
      </p:sp>
      <p:sp>
        <p:nvSpPr>
          <p:cNvPr id="92" name="Oval 91"/>
          <p:cNvSpPr/>
          <p:nvPr/>
        </p:nvSpPr>
        <p:spPr>
          <a:xfrm>
            <a:off x="8183879" y="2011680"/>
            <a:ext cx="219456" cy="219456"/>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8183879" y="2061972"/>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1</a:t>
            </a:r>
          </a:p>
        </p:txBody>
      </p:sp>
      <p:sp>
        <p:nvSpPr>
          <p:cNvPr id="94" name="TextBox 93"/>
          <p:cNvSpPr txBox="1"/>
          <p:nvPr/>
        </p:nvSpPr>
        <p:spPr>
          <a:xfrm>
            <a:off x="8513063" y="2025396"/>
            <a:ext cx="2901391"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Helvetica Neue"/>
              </a:rPr>
              <a:t>Aktualisieren &amp; „vor 3 s“</a:t>
            </a:r>
          </a:p>
        </p:txBody>
      </p:sp>
      <p:sp>
        <p:nvSpPr>
          <p:cNvPr id="95" name="TextBox 94"/>
          <p:cNvSpPr txBox="1"/>
          <p:nvPr/>
        </p:nvSpPr>
        <p:spPr>
          <a:xfrm>
            <a:off x="8513063" y="2231136"/>
            <a:ext cx="2901391" cy="36576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Eigene Komponente – der Sekundentakt rendert</a:t>
            </a:r>
          </a:p>
          <a:p>
            <a:pPr algn="l">
              <a:lnSpc>
                <a:spcPct val="120000"/>
              </a:lnSpc>
            </a:pPr>
            <a:r>
              <a:rPr sz="850" b="0" i="0">
                <a:solidFill>
                  <a:srgbClr val="8E9DBB"/>
                </a:solidFill>
                <a:latin typeface="Helvetica Neue"/>
              </a:rPr>
              <a:t>nur diese Zeile neu, nicht die Tabelle.</a:t>
            </a:r>
          </a:p>
        </p:txBody>
      </p:sp>
      <p:sp>
        <p:nvSpPr>
          <p:cNvPr id="96" name="Oval 95"/>
          <p:cNvSpPr/>
          <p:nvPr/>
        </p:nvSpPr>
        <p:spPr>
          <a:xfrm>
            <a:off x="7726679" y="3127248"/>
            <a:ext cx="256032" cy="256032"/>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7726679" y="3177540"/>
            <a:ext cx="256032"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2</a:t>
            </a:r>
          </a:p>
        </p:txBody>
      </p:sp>
      <p:sp>
        <p:nvSpPr>
          <p:cNvPr id="98" name="Oval 97"/>
          <p:cNvSpPr/>
          <p:nvPr/>
        </p:nvSpPr>
        <p:spPr>
          <a:xfrm>
            <a:off x="8183879" y="3145536"/>
            <a:ext cx="219456" cy="219456"/>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8183879" y="3195828"/>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2</a:t>
            </a:r>
          </a:p>
        </p:txBody>
      </p:sp>
      <p:sp>
        <p:nvSpPr>
          <p:cNvPr id="100" name="TextBox 99"/>
          <p:cNvSpPr txBox="1"/>
          <p:nvPr/>
        </p:nvSpPr>
        <p:spPr>
          <a:xfrm>
            <a:off x="8513063" y="3159252"/>
            <a:ext cx="2901391"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Helvetica Neue"/>
              </a:rPr>
              <a:t>Kennzahlen</a:t>
            </a:r>
          </a:p>
        </p:txBody>
      </p:sp>
      <p:sp>
        <p:nvSpPr>
          <p:cNvPr id="101" name="TextBox 100"/>
          <p:cNvSpPr txBox="1"/>
          <p:nvPr/>
        </p:nvSpPr>
        <p:spPr>
          <a:xfrm>
            <a:off x="8513063" y="3364991"/>
            <a:ext cx="2901391" cy="36576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Rechnen über die gefilterten Zeilen,</a:t>
            </a:r>
          </a:p>
          <a:p>
            <a:pPr algn="l">
              <a:lnSpc>
                <a:spcPct val="120000"/>
              </a:lnSpc>
            </a:pPr>
            <a:r>
              <a:rPr sz="850" b="0" i="0">
                <a:solidFill>
                  <a:srgbClr val="8E9DBB"/>
                </a:solidFill>
                <a:latin typeface="Helvetica Neue"/>
              </a:rPr>
              <a:t>verändern sich also mit der Suche.</a:t>
            </a:r>
          </a:p>
        </p:txBody>
      </p:sp>
      <p:sp>
        <p:nvSpPr>
          <p:cNvPr id="102" name="Oval 101"/>
          <p:cNvSpPr/>
          <p:nvPr/>
        </p:nvSpPr>
        <p:spPr>
          <a:xfrm>
            <a:off x="7726679" y="3803904"/>
            <a:ext cx="256032" cy="256032"/>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TextBox 102"/>
          <p:cNvSpPr txBox="1"/>
          <p:nvPr/>
        </p:nvSpPr>
        <p:spPr>
          <a:xfrm>
            <a:off x="7726679" y="3854196"/>
            <a:ext cx="256032"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3</a:t>
            </a:r>
          </a:p>
        </p:txBody>
      </p:sp>
      <p:sp>
        <p:nvSpPr>
          <p:cNvPr id="104" name="Oval 103"/>
          <p:cNvSpPr/>
          <p:nvPr/>
        </p:nvSpPr>
        <p:spPr>
          <a:xfrm>
            <a:off x="8183879" y="3822191"/>
            <a:ext cx="219456" cy="219456"/>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TextBox 104"/>
          <p:cNvSpPr txBox="1"/>
          <p:nvPr/>
        </p:nvSpPr>
        <p:spPr>
          <a:xfrm>
            <a:off x="8183879" y="3872483"/>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3</a:t>
            </a:r>
          </a:p>
        </p:txBody>
      </p:sp>
      <p:sp>
        <p:nvSpPr>
          <p:cNvPr id="106" name="TextBox 105"/>
          <p:cNvSpPr txBox="1"/>
          <p:nvPr/>
        </p:nvSpPr>
        <p:spPr>
          <a:xfrm>
            <a:off x="8513063" y="3835907"/>
            <a:ext cx="2901391"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Helvetica Neue"/>
              </a:rPr>
              <a:t>Suche</a:t>
            </a:r>
          </a:p>
        </p:txBody>
      </p:sp>
      <p:sp>
        <p:nvSpPr>
          <p:cNvPr id="107" name="TextBox 106"/>
          <p:cNvSpPr txBox="1"/>
          <p:nvPr/>
        </p:nvSpPr>
        <p:spPr>
          <a:xfrm>
            <a:off x="8513063" y="4041648"/>
            <a:ext cx="2901391" cy="36576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⌘K springt hinein, Escape leert das Feld.</a:t>
            </a:r>
          </a:p>
        </p:txBody>
      </p:sp>
      <p:sp>
        <p:nvSpPr>
          <p:cNvPr id="108" name="Oval 107"/>
          <p:cNvSpPr/>
          <p:nvPr/>
        </p:nvSpPr>
        <p:spPr>
          <a:xfrm>
            <a:off x="7726679" y="4297680"/>
            <a:ext cx="256032" cy="256032"/>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TextBox 108"/>
          <p:cNvSpPr txBox="1"/>
          <p:nvPr/>
        </p:nvSpPr>
        <p:spPr>
          <a:xfrm>
            <a:off x="7726679" y="4347972"/>
            <a:ext cx="256032"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4</a:t>
            </a:r>
          </a:p>
        </p:txBody>
      </p:sp>
      <p:sp>
        <p:nvSpPr>
          <p:cNvPr id="110" name="Oval 109"/>
          <p:cNvSpPr/>
          <p:nvPr/>
        </p:nvSpPr>
        <p:spPr>
          <a:xfrm>
            <a:off x="8183879" y="4315968"/>
            <a:ext cx="219456" cy="21945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TextBox 110"/>
          <p:cNvSpPr txBox="1"/>
          <p:nvPr/>
        </p:nvSpPr>
        <p:spPr>
          <a:xfrm>
            <a:off x="8183879" y="4366259"/>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4</a:t>
            </a:r>
          </a:p>
        </p:txBody>
      </p:sp>
      <p:sp>
        <p:nvSpPr>
          <p:cNvPr id="112" name="TextBox 111"/>
          <p:cNvSpPr txBox="1"/>
          <p:nvPr/>
        </p:nvSpPr>
        <p:spPr>
          <a:xfrm>
            <a:off x="8513063" y="4329683"/>
            <a:ext cx="2901391"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Helvetica Neue"/>
              </a:rPr>
              <a:t>Sortierung</a:t>
            </a:r>
          </a:p>
        </p:txBody>
      </p:sp>
      <p:sp>
        <p:nvSpPr>
          <p:cNvPr id="113" name="TextBox 112"/>
          <p:cNvSpPr txBox="1"/>
          <p:nvPr/>
        </p:nvSpPr>
        <p:spPr>
          <a:xfrm>
            <a:off x="8513063" y="4535424"/>
            <a:ext cx="2901391" cy="36576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Alle 5 Spalten, je eigener Vergleich pro Typ.</a:t>
            </a:r>
          </a:p>
        </p:txBody>
      </p:sp>
      <p:sp>
        <p:nvSpPr>
          <p:cNvPr id="114" name="Oval 113"/>
          <p:cNvSpPr/>
          <p:nvPr/>
        </p:nvSpPr>
        <p:spPr>
          <a:xfrm>
            <a:off x="7726679" y="4828032"/>
            <a:ext cx="256032" cy="256032"/>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TextBox 114"/>
          <p:cNvSpPr txBox="1"/>
          <p:nvPr/>
        </p:nvSpPr>
        <p:spPr>
          <a:xfrm>
            <a:off x="7726679" y="4878324"/>
            <a:ext cx="256032"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5</a:t>
            </a:r>
          </a:p>
        </p:txBody>
      </p:sp>
      <p:sp>
        <p:nvSpPr>
          <p:cNvPr id="116" name="Oval 115"/>
          <p:cNvSpPr/>
          <p:nvPr/>
        </p:nvSpPr>
        <p:spPr>
          <a:xfrm>
            <a:off x="8183879" y="4846320"/>
            <a:ext cx="219456" cy="21945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TextBox 116"/>
          <p:cNvSpPr txBox="1"/>
          <p:nvPr/>
        </p:nvSpPr>
        <p:spPr>
          <a:xfrm>
            <a:off x="8183879" y="4896612"/>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5</a:t>
            </a:r>
          </a:p>
        </p:txBody>
      </p:sp>
      <p:sp>
        <p:nvSpPr>
          <p:cNvPr id="118" name="TextBox 117"/>
          <p:cNvSpPr txBox="1"/>
          <p:nvPr/>
        </p:nvSpPr>
        <p:spPr>
          <a:xfrm>
            <a:off x="8513063" y="4860036"/>
            <a:ext cx="2901391"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Helvetica Neue"/>
              </a:rPr>
              <a:t>Mini-Balken</a:t>
            </a:r>
          </a:p>
        </p:txBody>
      </p:sp>
      <p:sp>
        <p:nvSpPr>
          <p:cNvPr id="119" name="TextBox 118"/>
          <p:cNvSpPr txBox="1"/>
          <p:nvPr/>
        </p:nvSpPr>
        <p:spPr>
          <a:xfrm>
            <a:off x="8513063" y="5065776"/>
            <a:ext cx="2901391" cy="36576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Lage im gültigen Bereich: 0,5–9 bar / 200–500 K.</a:t>
            </a:r>
          </a:p>
        </p:txBody>
      </p:sp>
      <p:sp>
        <p:nvSpPr>
          <p:cNvPr id="120" name="Oval 119"/>
          <p:cNvSpPr/>
          <p:nvPr/>
        </p:nvSpPr>
        <p:spPr>
          <a:xfrm>
            <a:off x="7726679" y="5394960"/>
            <a:ext cx="256032" cy="256032"/>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TextBox 120"/>
          <p:cNvSpPr txBox="1"/>
          <p:nvPr/>
        </p:nvSpPr>
        <p:spPr>
          <a:xfrm>
            <a:off x="7726679" y="5445252"/>
            <a:ext cx="256032"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6</a:t>
            </a:r>
          </a:p>
        </p:txBody>
      </p:sp>
      <p:sp>
        <p:nvSpPr>
          <p:cNvPr id="122" name="Oval 121"/>
          <p:cNvSpPr/>
          <p:nvPr/>
        </p:nvSpPr>
        <p:spPr>
          <a:xfrm>
            <a:off x="8183879" y="5413248"/>
            <a:ext cx="219456" cy="21945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TextBox 122"/>
          <p:cNvSpPr txBox="1"/>
          <p:nvPr/>
        </p:nvSpPr>
        <p:spPr>
          <a:xfrm>
            <a:off x="8183879" y="5463540"/>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6</a:t>
            </a:r>
          </a:p>
        </p:txBody>
      </p:sp>
      <p:sp>
        <p:nvSpPr>
          <p:cNvPr id="124" name="TextBox 123"/>
          <p:cNvSpPr txBox="1"/>
          <p:nvPr/>
        </p:nvSpPr>
        <p:spPr>
          <a:xfrm>
            <a:off x="8513063" y="5426964"/>
            <a:ext cx="2901391"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Helvetica Neue"/>
              </a:rPr>
              <a:t>Typ als Badge</a:t>
            </a:r>
          </a:p>
        </p:txBody>
      </p:sp>
      <p:sp>
        <p:nvSpPr>
          <p:cNvPr id="125" name="TextBox 124"/>
          <p:cNvSpPr txBox="1"/>
          <p:nvPr/>
        </p:nvSpPr>
        <p:spPr>
          <a:xfrm>
            <a:off x="8513063" y="5632704"/>
            <a:ext cx="2901391" cy="365760"/>
          </a:xfrm>
          <a:prstGeom prst="rect">
            <a:avLst/>
          </a:prstGeom>
          <a:noFill/>
        </p:spPr>
        <p:txBody>
          <a:bodyPr wrap="square" anchor="t" lIns="0" rIns="0" tIns="0" bIns="0">
            <a:spAutoFit/>
          </a:bodyPr>
          <a:lstStyle/>
          <a:p>
            <a:pPr algn="l">
              <a:lnSpc>
                <a:spcPct val="120000"/>
              </a:lnSpc>
            </a:pPr>
            <a:r>
              <a:rPr sz="850" b="0" i="0">
                <a:solidFill>
                  <a:srgbClr val="8E9DBB"/>
                </a:solidFill>
                <a:latin typeface="Helvetica Neue"/>
              </a:rPr>
              <a:t>thruster oder gas_valve – der Wert kommt</a:t>
            </a:r>
          </a:p>
          <a:p>
            <a:pPr algn="l">
              <a:lnSpc>
                <a:spcPct val="120000"/>
              </a:lnSpc>
            </a:pPr>
            <a:r>
              <a:rPr sz="850" b="0" i="0">
                <a:solidFill>
                  <a:srgbClr val="8E9DBB"/>
                </a:solidFill>
                <a:latin typeface="Helvetica Neue"/>
              </a:rPr>
              <a:t>unverändert aus der Datenbank.</a:t>
            </a:r>
          </a:p>
        </p:txBody>
      </p:sp>
      <p:sp>
        <p:nvSpPr>
          <p:cNvPr id="126" name="TextBox 125"/>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127" name="TextBox 126"/>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FRONTEND · DATENFLUSS</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Von der Antwort zur Tabellenzeile</a:t>
            </a:r>
          </a:p>
        </p:txBody>
      </p:sp>
      <p:sp>
        <p:nvSpPr>
          <p:cNvPr id="5" name="Rectangle 4"/>
          <p:cNvSpPr/>
          <p:nvPr/>
        </p:nvSpPr>
        <p:spPr>
          <a:xfrm>
            <a:off x="777240" y="1316736"/>
            <a:ext cx="1371600" cy="2560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572768"/>
            <a:ext cx="4709160" cy="201168"/>
          </a:xfrm>
          <a:prstGeom prst="rect">
            <a:avLst/>
          </a:prstGeom>
          <a:noFill/>
        </p:spPr>
        <p:txBody>
          <a:bodyPr wrap="square" anchor="t" lIns="0" rIns="0" tIns="0" bIns="0">
            <a:spAutoFit/>
          </a:bodyPr>
          <a:lstStyle/>
          <a:p>
            <a:pPr algn="l">
              <a:lnSpc>
                <a:spcPct val="120000"/>
              </a:lnSpc>
            </a:pPr>
            <a:r>
              <a:rPr sz="900" b="1" i="0" spc="160">
                <a:solidFill>
                  <a:srgbClr val="38BDF8"/>
                </a:solidFill>
                <a:latin typeface="Helvetica Neue"/>
              </a:rPr>
              <a:t>ANTWORT VON GET /DATA_WSI/</a:t>
            </a:r>
          </a:p>
        </p:txBody>
      </p:sp>
      <p:sp>
        <p:nvSpPr>
          <p:cNvPr id="7" name="Rounded Rectangle 6"/>
          <p:cNvSpPr/>
          <p:nvPr/>
        </p:nvSpPr>
        <p:spPr>
          <a:xfrm>
            <a:off x="777240" y="1847088"/>
            <a:ext cx="4709160" cy="2372868"/>
          </a:xfrm>
          <a:prstGeom prst="roundRect">
            <a:avLst>
              <a:gd name="adj" fmla="val 4500"/>
            </a:avLst>
          </a:prstGeom>
          <a:solidFill>
            <a:srgbClr val="0A1121"/>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8154" y="1965960"/>
            <a:ext cx="41148" cy="213512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4983" y="1984248"/>
            <a:ext cx="4297680" cy="220599"/>
          </a:xfrm>
          <a:prstGeom prst="rect">
            <a:avLst/>
          </a:prstGeom>
          <a:noFill/>
        </p:spPr>
        <p:txBody>
          <a:bodyPr wrap="square" anchor="t" lIns="0" rIns="0" tIns="0" bIns="0">
            <a:spAutoFit/>
          </a:bodyPr>
          <a:lstStyle/>
          <a:p>
            <a:pPr algn="l">
              <a:lnSpc>
                <a:spcPct val="100000"/>
              </a:lnSpc>
            </a:pPr>
            <a:r>
              <a:rPr sz="850" b="0" i="0">
                <a:solidFill>
                  <a:srgbClr val="8E9DBB"/>
                </a:solidFill>
                <a:latin typeface="Menlo"/>
              </a:rPr>
              <a:t>{</a:t>
            </a:r>
          </a:p>
        </p:txBody>
      </p:sp>
      <p:sp>
        <p:nvSpPr>
          <p:cNvPr id="10" name="TextBox 9"/>
          <p:cNvSpPr txBox="1"/>
          <p:nvPr/>
        </p:nvSpPr>
        <p:spPr>
          <a:xfrm>
            <a:off x="1014983" y="2159127"/>
            <a:ext cx="4297680" cy="220599"/>
          </a:xfrm>
          <a:prstGeom prst="rect">
            <a:avLst/>
          </a:prstGeom>
          <a:noFill/>
        </p:spPr>
        <p:txBody>
          <a:bodyPr wrap="square" anchor="t" lIns="0" rIns="0" tIns="0" bIns="0">
            <a:spAutoFit/>
          </a:bodyPr>
          <a:lstStyle/>
          <a:p>
            <a:pPr algn="l">
              <a:lnSpc>
                <a:spcPct val="100000"/>
              </a:lnSpc>
            </a:pPr>
            <a:r>
              <a:rPr sz="850" b="0" i="0">
                <a:solidFill>
                  <a:srgbClr val="38BDF8"/>
                </a:solidFill>
                <a:latin typeface="Menlo"/>
              </a:rPr>
              <a:t>  "thruster": {</a:t>
            </a:r>
          </a:p>
        </p:txBody>
      </p:sp>
      <p:sp>
        <p:nvSpPr>
          <p:cNvPr id="11" name="TextBox 10"/>
          <p:cNvSpPr txBox="1"/>
          <p:nvPr/>
        </p:nvSpPr>
        <p:spPr>
          <a:xfrm>
            <a:off x="1014983" y="2334006"/>
            <a:ext cx="4297680" cy="220599"/>
          </a:xfrm>
          <a:prstGeom prst="rect">
            <a:avLst/>
          </a:prstGeom>
          <a:noFill/>
        </p:spPr>
        <p:txBody>
          <a:bodyPr wrap="square" anchor="t" lIns="0" rIns="0" tIns="0" bIns="0">
            <a:spAutoFit/>
          </a:bodyPr>
          <a:lstStyle/>
          <a:p>
            <a:pPr algn="l">
              <a:lnSpc>
                <a:spcPct val="100000"/>
              </a:lnSpc>
            </a:pPr>
            <a:r>
              <a:rPr sz="850" b="0" i="0">
                <a:solidFill>
                  <a:srgbClr val="A78BFA"/>
                </a:solidFill>
                <a:latin typeface="Menlo"/>
              </a:rPr>
              <a:t>      "thruster_1.a": [</a:t>
            </a:r>
          </a:p>
        </p:txBody>
      </p:sp>
      <p:sp>
        <p:nvSpPr>
          <p:cNvPr id="12" name="TextBox 11"/>
          <p:cNvSpPr txBox="1"/>
          <p:nvPr/>
        </p:nvSpPr>
        <p:spPr>
          <a:xfrm>
            <a:off x="1014983" y="2508885"/>
            <a:ext cx="4297680" cy="220599"/>
          </a:xfrm>
          <a:prstGeom prst="rect">
            <a:avLst/>
          </a:prstGeom>
          <a:noFill/>
        </p:spPr>
        <p:txBody>
          <a:bodyPr wrap="square" anchor="t" lIns="0" rIns="0" tIns="0" bIns="0">
            <a:spAutoFit/>
          </a:bodyPr>
          <a:lstStyle/>
          <a:p>
            <a:pPr algn="l">
              <a:lnSpc>
                <a:spcPct val="100000"/>
              </a:lnSpc>
            </a:pPr>
            <a:r>
              <a:rPr sz="850" b="0" i="0">
                <a:solidFill>
                  <a:srgbClr val="34D399"/>
                </a:solidFill>
                <a:latin typeface="Menlo"/>
              </a:rPr>
              <a:t>          { "time": "…T14:31:02",</a:t>
            </a:r>
          </a:p>
        </p:txBody>
      </p:sp>
      <p:sp>
        <p:nvSpPr>
          <p:cNvPr id="13" name="TextBox 12"/>
          <p:cNvSpPr txBox="1"/>
          <p:nvPr/>
        </p:nvSpPr>
        <p:spPr>
          <a:xfrm>
            <a:off x="1014983" y="2683764"/>
            <a:ext cx="4297680" cy="220599"/>
          </a:xfrm>
          <a:prstGeom prst="rect">
            <a:avLst/>
          </a:prstGeom>
          <a:noFill/>
        </p:spPr>
        <p:txBody>
          <a:bodyPr wrap="square" anchor="t" lIns="0" rIns="0" tIns="0" bIns="0">
            <a:spAutoFit/>
          </a:bodyPr>
          <a:lstStyle/>
          <a:p>
            <a:pPr algn="l">
              <a:lnSpc>
                <a:spcPct val="100000"/>
              </a:lnSpc>
            </a:pPr>
            <a:r>
              <a:rPr sz="850" b="0" i="0">
                <a:solidFill>
                  <a:srgbClr val="34D399"/>
                </a:solidFill>
                <a:latin typeface="Menlo"/>
              </a:rPr>
              <a:t>            "pressure": 3.35,</a:t>
            </a:r>
          </a:p>
        </p:txBody>
      </p:sp>
      <p:sp>
        <p:nvSpPr>
          <p:cNvPr id="14" name="TextBox 13"/>
          <p:cNvSpPr txBox="1"/>
          <p:nvPr/>
        </p:nvSpPr>
        <p:spPr>
          <a:xfrm>
            <a:off x="1014983" y="2858643"/>
            <a:ext cx="4297680" cy="220599"/>
          </a:xfrm>
          <a:prstGeom prst="rect">
            <a:avLst/>
          </a:prstGeom>
          <a:noFill/>
        </p:spPr>
        <p:txBody>
          <a:bodyPr wrap="square" anchor="t" lIns="0" rIns="0" tIns="0" bIns="0">
            <a:spAutoFit/>
          </a:bodyPr>
          <a:lstStyle/>
          <a:p>
            <a:pPr algn="l">
              <a:lnSpc>
                <a:spcPct val="100000"/>
              </a:lnSpc>
            </a:pPr>
            <a:r>
              <a:rPr sz="850" b="0" i="0">
                <a:solidFill>
                  <a:srgbClr val="34D399"/>
                </a:solidFill>
                <a:latin typeface="Menlo"/>
              </a:rPr>
              <a:t>            "temperature": 432.2 },</a:t>
            </a:r>
          </a:p>
        </p:txBody>
      </p:sp>
      <p:sp>
        <p:nvSpPr>
          <p:cNvPr id="15" name="TextBox 14"/>
          <p:cNvSpPr txBox="1"/>
          <p:nvPr/>
        </p:nvSpPr>
        <p:spPr>
          <a:xfrm>
            <a:off x="1014983" y="3033522"/>
            <a:ext cx="4297680" cy="220599"/>
          </a:xfrm>
          <a:prstGeom prst="rect">
            <a:avLst/>
          </a:prstGeom>
          <a:noFill/>
        </p:spPr>
        <p:txBody>
          <a:bodyPr wrap="square" anchor="t" lIns="0" rIns="0" tIns="0" bIns="0">
            <a:spAutoFit/>
          </a:bodyPr>
          <a:lstStyle/>
          <a:p>
            <a:pPr algn="l">
              <a:lnSpc>
                <a:spcPct val="100000"/>
              </a:lnSpc>
            </a:pPr>
            <a:r>
              <a:rPr sz="850" b="0" i="0">
                <a:solidFill>
                  <a:srgbClr val="34D399"/>
                </a:solidFill>
                <a:latin typeface="Menlo"/>
              </a:rPr>
              <a:t>          { "time": "…T14:29:53", … }</a:t>
            </a:r>
          </a:p>
        </p:txBody>
      </p:sp>
      <p:sp>
        <p:nvSpPr>
          <p:cNvPr id="16" name="TextBox 15"/>
          <p:cNvSpPr txBox="1"/>
          <p:nvPr/>
        </p:nvSpPr>
        <p:spPr>
          <a:xfrm>
            <a:off x="1014983" y="3208401"/>
            <a:ext cx="4297680" cy="220599"/>
          </a:xfrm>
          <a:prstGeom prst="rect">
            <a:avLst/>
          </a:prstGeom>
          <a:noFill/>
        </p:spPr>
        <p:txBody>
          <a:bodyPr wrap="square" anchor="t" lIns="0" rIns="0" tIns="0" bIns="0">
            <a:spAutoFit/>
          </a:bodyPr>
          <a:lstStyle/>
          <a:p>
            <a:pPr algn="l">
              <a:lnSpc>
                <a:spcPct val="100000"/>
              </a:lnSpc>
            </a:pPr>
            <a:r>
              <a:rPr sz="850" b="0" i="0">
                <a:solidFill>
                  <a:srgbClr val="A78BFA"/>
                </a:solidFill>
                <a:latin typeface="Menlo"/>
              </a:rPr>
              <a:t>      ],</a:t>
            </a:r>
          </a:p>
        </p:txBody>
      </p:sp>
      <p:sp>
        <p:nvSpPr>
          <p:cNvPr id="17" name="TextBox 16"/>
          <p:cNvSpPr txBox="1"/>
          <p:nvPr/>
        </p:nvSpPr>
        <p:spPr>
          <a:xfrm>
            <a:off x="1014983" y="3383280"/>
            <a:ext cx="4297680" cy="220599"/>
          </a:xfrm>
          <a:prstGeom prst="rect">
            <a:avLst/>
          </a:prstGeom>
          <a:noFill/>
        </p:spPr>
        <p:txBody>
          <a:bodyPr wrap="square" anchor="t" lIns="0" rIns="0" tIns="0" bIns="0">
            <a:spAutoFit/>
          </a:bodyPr>
          <a:lstStyle/>
          <a:p>
            <a:pPr algn="l">
              <a:lnSpc>
                <a:spcPct val="100000"/>
              </a:lnSpc>
            </a:pPr>
            <a:r>
              <a:rPr sz="850" b="0" i="0">
                <a:solidFill>
                  <a:srgbClr val="A78BFA"/>
                </a:solidFill>
                <a:latin typeface="Menlo"/>
              </a:rPr>
              <a:t>      "thruster_1.b": [ … ]</a:t>
            </a:r>
          </a:p>
        </p:txBody>
      </p:sp>
      <p:sp>
        <p:nvSpPr>
          <p:cNvPr id="18" name="TextBox 17"/>
          <p:cNvSpPr txBox="1"/>
          <p:nvPr/>
        </p:nvSpPr>
        <p:spPr>
          <a:xfrm>
            <a:off x="1014983" y="3558159"/>
            <a:ext cx="4297680" cy="220599"/>
          </a:xfrm>
          <a:prstGeom prst="rect">
            <a:avLst/>
          </a:prstGeom>
          <a:noFill/>
        </p:spPr>
        <p:txBody>
          <a:bodyPr wrap="square" anchor="t" lIns="0" rIns="0" tIns="0" bIns="0">
            <a:spAutoFit/>
          </a:bodyPr>
          <a:lstStyle/>
          <a:p>
            <a:pPr algn="l">
              <a:lnSpc>
                <a:spcPct val="100000"/>
              </a:lnSpc>
            </a:pPr>
            <a:r>
              <a:rPr sz="850" b="0" i="0">
                <a:solidFill>
                  <a:srgbClr val="38BDF8"/>
                </a:solidFill>
                <a:latin typeface="Menlo"/>
              </a:rPr>
              <a:t>  },</a:t>
            </a:r>
          </a:p>
        </p:txBody>
      </p:sp>
      <p:sp>
        <p:nvSpPr>
          <p:cNvPr id="19" name="TextBox 18"/>
          <p:cNvSpPr txBox="1"/>
          <p:nvPr/>
        </p:nvSpPr>
        <p:spPr>
          <a:xfrm>
            <a:off x="1014983" y="3733038"/>
            <a:ext cx="4297680" cy="220599"/>
          </a:xfrm>
          <a:prstGeom prst="rect">
            <a:avLst/>
          </a:prstGeom>
          <a:noFill/>
        </p:spPr>
        <p:txBody>
          <a:bodyPr wrap="square" anchor="t" lIns="0" rIns="0" tIns="0" bIns="0">
            <a:spAutoFit/>
          </a:bodyPr>
          <a:lstStyle/>
          <a:p>
            <a:pPr algn="l">
              <a:lnSpc>
                <a:spcPct val="100000"/>
              </a:lnSpc>
            </a:pPr>
            <a:r>
              <a:rPr sz="850" b="0" i="0">
                <a:solidFill>
                  <a:srgbClr val="38BDF8"/>
                </a:solidFill>
                <a:latin typeface="Menlo"/>
              </a:rPr>
              <a:t>  "gas_valve": { … }</a:t>
            </a:r>
          </a:p>
        </p:txBody>
      </p:sp>
      <p:sp>
        <p:nvSpPr>
          <p:cNvPr id="20" name="TextBox 19"/>
          <p:cNvSpPr txBox="1"/>
          <p:nvPr/>
        </p:nvSpPr>
        <p:spPr>
          <a:xfrm>
            <a:off x="1014983" y="3907916"/>
            <a:ext cx="4297680" cy="220599"/>
          </a:xfrm>
          <a:prstGeom prst="rect">
            <a:avLst/>
          </a:prstGeom>
          <a:noFill/>
        </p:spPr>
        <p:txBody>
          <a:bodyPr wrap="square" anchor="t" lIns="0" rIns="0" tIns="0" bIns="0">
            <a:spAutoFit/>
          </a:bodyPr>
          <a:lstStyle/>
          <a:p>
            <a:pPr algn="l">
              <a:lnSpc>
                <a:spcPct val="100000"/>
              </a:lnSpc>
            </a:pPr>
            <a:r>
              <a:rPr sz="850" b="0" i="0">
                <a:solidFill>
                  <a:srgbClr val="8E9DBB"/>
                </a:solidFill>
                <a:latin typeface="Menlo"/>
              </a:rPr>
              <a:t>}</a:t>
            </a:r>
          </a:p>
        </p:txBody>
      </p:sp>
      <p:sp>
        <p:nvSpPr>
          <p:cNvPr id="21" name="TextBox 20"/>
          <p:cNvSpPr txBox="1"/>
          <p:nvPr/>
        </p:nvSpPr>
        <p:spPr>
          <a:xfrm>
            <a:off x="6702552" y="1572768"/>
            <a:ext cx="4711903" cy="201168"/>
          </a:xfrm>
          <a:prstGeom prst="rect">
            <a:avLst/>
          </a:prstGeom>
          <a:noFill/>
        </p:spPr>
        <p:txBody>
          <a:bodyPr wrap="square" anchor="t" lIns="0" rIns="0" tIns="0" bIns="0">
            <a:spAutoFit/>
          </a:bodyPr>
          <a:lstStyle/>
          <a:p>
            <a:pPr algn="l">
              <a:lnSpc>
                <a:spcPct val="120000"/>
              </a:lnSpc>
            </a:pPr>
            <a:r>
              <a:rPr sz="900" b="1" i="0" spc="160">
                <a:solidFill>
                  <a:srgbClr val="34D399"/>
                </a:solidFill>
                <a:latin typeface="Helvetica Neue"/>
              </a:rPr>
              <a:t>WAS DIE TABELLE BRAUCHT</a:t>
            </a:r>
          </a:p>
        </p:txBody>
      </p:sp>
      <p:sp>
        <p:nvSpPr>
          <p:cNvPr id="22" name="Rounded Rectangle 21"/>
          <p:cNvSpPr/>
          <p:nvPr/>
        </p:nvSpPr>
        <p:spPr>
          <a:xfrm>
            <a:off x="6702552" y="1847088"/>
            <a:ext cx="4711903" cy="1572768"/>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12280" y="1938528"/>
            <a:ext cx="1039416" cy="164592"/>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NAME  ↕</a:t>
            </a:r>
          </a:p>
        </p:txBody>
      </p:sp>
      <p:sp>
        <p:nvSpPr>
          <p:cNvPr id="24" name="TextBox 23"/>
          <p:cNvSpPr txBox="1"/>
          <p:nvPr/>
        </p:nvSpPr>
        <p:spPr>
          <a:xfrm>
            <a:off x="7943136" y="1938528"/>
            <a:ext cx="591785" cy="164592"/>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TYP  ↕</a:t>
            </a:r>
          </a:p>
        </p:txBody>
      </p:sp>
      <p:sp>
        <p:nvSpPr>
          <p:cNvPr id="25" name="TextBox 24"/>
          <p:cNvSpPr txBox="1"/>
          <p:nvPr/>
        </p:nvSpPr>
        <p:spPr>
          <a:xfrm>
            <a:off x="8626362" y="1938528"/>
            <a:ext cx="850940" cy="164592"/>
          </a:xfrm>
          <a:prstGeom prst="rect">
            <a:avLst/>
          </a:prstGeom>
          <a:noFill/>
        </p:spPr>
        <p:txBody>
          <a:bodyPr wrap="square" anchor="t" lIns="0" rIns="0" tIns="0" bIns="0">
            <a:spAutoFit/>
          </a:bodyPr>
          <a:lstStyle/>
          <a:p>
            <a:pPr algn="r">
              <a:lnSpc>
                <a:spcPct val="120000"/>
              </a:lnSpc>
            </a:pPr>
            <a:r>
              <a:rPr sz="650" b="1" i="0" spc="160">
                <a:solidFill>
                  <a:srgbClr val="94A3B8"/>
                </a:solidFill>
                <a:latin typeface="Helvetica Neue"/>
              </a:rPr>
              <a:t>DRUCK (BAR)  ↕</a:t>
            </a:r>
          </a:p>
        </p:txBody>
      </p:sp>
      <p:sp>
        <p:nvSpPr>
          <p:cNvPr id="26" name="TextBox 25"/>
          <p:cNvSpPr txBox="1"/>
          <p:nvPr/>
        </p:nvSpPr>
        <p:spPr>
          <a:xfrm>
            <a:off x="9568743" y="1938528"/>
            <a:ext cx="874500" cy="164592"/>
          </a:xfrm>
          <a:prstGeom prst="rect">
            <a:avLst/>
          </a:prstGeom>
          <a:noFill/>
        </p:spPr>
        <p:txBody>
          <a:bodyPr wrap="square" anchor="t" lIns="0" rIns="0" tIns="0" bIns="0">
            <a:spAutoFit/>
          </a:bodyPr>
          <a:lstStyle/>
          <a:p>
            <a:pPr algn="r">
              <a:lnSpc>
                <a:spcPct val="120000"/>
              </a:lnSpc>
            </a:pPr>
            <a:r>
              <a:rPr sz="650" b="1" i="0" spc="160">
                <a:solidFill>
                  <a:srgbClr val="94A3B8"/>
                </a:solidFill>
                <a:latin typeface="Helvetica Neue"/>
              </a:rPr>
              <a:t>TEMPERATUR (K)  ↕</a:t>
            </a:r>
          </a:p>
        </p:txBody>
      </p:sp>
      <p:sp>
        <p:nvSpPr>
          <p:cNvPr id="27" name="TextBox 26"/>
          <p:cNvSpPr txBox="1"/>
          <p:nvPr/>
        </p:nvSpPr>
        <p:spPr>
          <a:xfrm>
            <a:off x="10534683" y="1938528"/>
            <a:ext cx="898059" cy="164592"/>
          </a:xfrm>
          <a:prstGeom prst="rect">
            <a:avLst/>
          </a:prstGeom>
          <a:noFill/>
        </p:spPr>
        <p:txBody>
          <a:bodyPr wrap="square" anchor="t" lIns="0" rIns="0" tIns="0" bIns="0">
            <a:spAutoFit/>
          </a:bodyPr>
          <a:lstStyle/>
          <a:p>
            <a:pPr algn="l">
              <a:lnSpc>
                <a:spcPct val="120000"/>
              </a:lnSpc>
            </a:pPr>
            <a:r>
              <a:rPr sz="650" b="1" i="0" spc="160">
                <a:solidFill>
                  <a:srgbClr val="2563EB"/>
                </a:solidFill>
                <a:latin typeface="Helvetica Neue"/>
              </a:rPr>
              <a:t>ZEITPUNKT  ↓</a:t>
            </a:r>
          </a:p>
        </p:txBody>
      </p:sp>
      <p:sp>
        <p:nvSpPr>
          <p:cNvPr id="28" name="Rectangle 27"/>
          <p:cNvSpPr/>
          <p:nvPr/>
        </p:nvSpPr>
        <p:spPr>
          <a:xfrm>
            <a:off x="6812280" y="2121408"/>
            <a:ext cx="4492447" cy="7315"/>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812280" y="2240279"/>
            <a:ext cx="1039416"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thruster_1.a</a:t>
            </a:r>
          </a:p>
        </p:txBody>
      </p:sp>
      <p:sp>
        <p:nvSpPr>
          <p:cNvPr id="30" name="Rounded Rectangle 29"/>
          <p:cNvSpPr/>
          <p:nvPr/>
        </p:nvSpPr>
        <p:spPr>
          <a:xfrm>
            <a:off x="7943136" y="2212848"/>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998000" y="2235708"/>
            <a:ext cx="500345"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32" name="TextBox 31"/>
          <p:cNvSpPr txBox="1"/>
          <p:nvPr/>
        </p:nvSpPr>
        <p:spPr>
          <a:xfrm>
            <a:off x="8626362" y="2203703"/>
            <a:ext cx="814364"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3,35</a:t>
            </a:r>
          </a:p>
        </p:txBody>
      </p:sp>
      <p:sp>
        <p:nvSpPr>
          <p:cNvPr id="33" name="Rounded Rectangle 32"/>
          <p:cNvSpPr/>
          <p:nvPr/>
        </p:nvSpPr>
        <p:spPr>
          <a:xfrm>
            <a:off x="8873799" y="2372868"/>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8873799" y="2372868"/>
            <a:ext cx="190087"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568743" y="2203703"/>
            <a:ext cx="837924"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432,2</a:t>
            </a:r>
          </a:p>
        </p:txBody>
      </p:sp>
      <p:sp>
        <p:nvSpPr>
          <p:cNvPr id="36" name="Rounded Rectangle 35"/>
          <p:cNvSpPr/>
          <p:nvPr/>
        </p:nvSpPr>
        <p:spPr>
          <a:xfrm>
            <a:off x="9839739" y="2372868"/>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839739" y="2372868"/>
            <a:ext cx="438802"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534683" y="2240279"/>
            <a:ext cx="898059"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14:31:02</a:t>
            </a:r>
          </a:p>
        </p:txBody>
      </p:sp>
      <p:sp>
        <p:nvSpPr>
          <p:cNvPr id="39" name="Rectangle 38"/>
          <p:cNvSpPr/>
          <p:nvPr/>
        </p:nvSpPr>
        <p:spPr>
          <a:xfrm>
            <a:off x="6812280" y="2441448"/>
            <a:ext cx="4492447"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812280" y="2542032"/>
            <a:ext cx="1039416"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thruster_1.a</a:t>
            </a:r>
          </a:p>
        </p:txBody>
      </p:sp>
      <p:sp>
        <p:nvSpPr>
          <p:cNvPr id="41" name="Rounded Rectangle 40"/>
          <p:cNvSpPr/>
          <p:nvPr/>
        </p:nvSpPr>
        <p:spPr>
          <a:xfrm>
            <a:off x="7943136" y="2514600"/>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998000" y="2537460"/>
            <a:ext cx="500345"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43" name="TextBox 42"/>
          <p:cNvSpPr txBox="1"/>
          <p:nvPr/>
        </p:nvSpPr>
        <p:spPr>
          <a:xfrm>
            <a:off x="8626362" y="2505456"/>
            <a:ext cx="814364"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3,41</a:t>
            </a:r>
          </a:p>
        </p:txBody>
      </p:sp>
      <p:sp>
        <p:nvSpPr>
          <p:cNvPr id="44" name="Rounded Rectangle 43"/>
          <p:cNvSpPr/>
          <p:nvPr/>
        </p:nvSpPr>
        <p:spPr>
          <a:xfrm>
            <a:off x="8873799" y="2674620"/>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8873799" y="2674620"/>
            <a:ext cx="19408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568743" y="2505456"/>
            <a:ext cx="837924"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430,8</a:t>
            </a:r>
          </a:p>
        </p:txBody>
      </p:sp>
      <p:sp>
        <p:nvSpPr>
          <p:cNvPr id="47" name="Rounded Rectangle 46"/>
          <p:cNvSpPr/>
          <p:nvPr/>
        </p:nvSpPr>
        <p:spPr>
          <a:xfrm>
            <a:off x="9839739" y="2674620"/>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9839739" y="2674620"/>
            <a:ext cx="436156"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534683" y="2542032"/>
            <a:ext cx="898059"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14:29:53</a:t>
            </a:r>
          </a:p>
        </p:txBody>
      </p:sp>
      <p:sp>
        <p:nvSpPr>
          <p:cNvPr id="50" name="Rectangle 49"/>
          <p:cNvSpPr/>
          <p:nvPr/>
        </p:nvSpPr>
        <p:spPr>
          <a:xfrm>
            <a:off x="6812280" y="2743200"/>
            <a:ext cx="4492447"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812280" y="2843784"/>
            <a:ext cx="1039416"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thruster_1.b</a:t>
            </a:r>
          </a:p>
        </p:txBody>
      </p:sp>
      <p:sp>
        <p:nvSpPr>
          <p:cNvPr id="52" name="Rounded Rectangle 51"/>
          <p:cNvSpPr/>
          <p:nvPr/>
        </p:nvSpPr>
        <p:spPr>
          <a:xfrm>
            <a:off x="7943136" y="2816352"/>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998000" y="2839212"/>
            <a:ext cx="500345"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54" name="TextBox 53"/>
          <p:cNvSpPr txBox="1"/>
          <p:nvPr/>
        </p:nvSpPr>
        <p:spPr>
          <a:xfrm>
            <a:off x="8626362" y="2807208"/>
            <a:ext cx="814364"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3,12</a:t>
            </a:r>
          </a:p>
        </p:txBody>
      </p:sp>
      <p:sp>
        <p:nvSpPr>
          <p:cNvPr id="55" name="Rounded Rectangle 54"/>
          <p:cNvSpPr/>
          <p:nvPr/>
        </p:nvSpPr>
        <p:spPr>
          <a:xfrm>
            <a:off x="8873799" y="2976372"/>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8873799" y="2976372"/>
            <a:ext cx="174747"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568743" y="2807208"/>
            <a:ext cx="837924"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441,7</a:t>
            </a:r>
          </a:p>
        </p:txBody>
      </p:sp>
      <p:sp>
        <p:nvSpPr>
          <p:cNvPr id="58" name="Rounded Rectangle 57"/>
          <p:cNvSpPr/>
          <p:nvPr/>
        </p:nvSpPr>
        <p:spPr>
          <a:xfrm>
            <a:off x="9839739" y="2976372"/>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9839739" y="2976372"/>
            <a:ext cx="456754"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0534683" y="2843784"/>
            <a:ext cx="898059"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14:31:11</a:t>
            </a:r>
          </a:p>
        </p:txBody>
      </p:sp>
      <p:sp>
        <p:nvSpPr>
          <p:cNvPr id="61" name="Rectangle 60"/>
          <p:cNvSpPr/>
          <p:nvPr/>
        </p:nvSpPr>
        <p:spPr>
          <a:xfrm>
            <a:off x="6812280" y="3044952"/>
            <a:ext cx="4492447"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812280" y="3145536"/>
            <a:ext cx="1039416"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o_tank_1</a:t>
            </a:r>
          </a:p>
        </p:txBody>
      </p:sp>
      <p:sp>
        <p:nvSpPr>
          <p:cNvPr id="63" name="Rounded Rectangle 62"/>
          <p:cNvSpPr/>
          <p:nvPr/>
        </p:nvSpPr>
        <p:spPr>
          <a:xfrm>
            <a:off x="7943136" y="3118104"/>
            <a:ext cx="536921"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7998000" y="3140964"/>
            <a:ext cx="500345"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gas_valve</a:t>
            </a:r>
          </a:p>
        </p:txBody>
      </p:sp>
      <p:sp>
        <p:nvSpPr>
          <p:cNvPr id="65" name="TextBox 64"/>
          <p:cNvSpPr txBox="1"/>
          <p:nvPr/>
        </p:nvSpPr>
        <p:spPr>
          <a:xfrm>
            <a:off x="8626362" y="3108960"/>
            <a:ext cx="814364"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5,10</a:t>
            </a:r>
          </a:p>
        </p:txBody>
      </p:sp>
      <p:sp>
        <p:nvSpPr>
          <p:cNvPr id="66" name="Rounded Rectangle 65"/>
          <p:cNvSpPr/>
          <p:nvPr/>
        </p:nvSpPr>
        <p:spPr>
          <a:xfrm>
            <a:off x="8873799" y="3278124"/>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ounded Rectangle 66"/>
          <p:cNvSpPr/>
          <p:nvPr/>
        </p:nvSpPr>
        <p:spPr>
          <a:xfrm>
            <a:off x="8873799" y="3278124"/>
            <a:ext cx="306808"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9568743" y="3108960"/>
            <a:ext cx="837924"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268,4</a:t>
            </a:r>
          </a:p>
        </p:txBody>
      </p:sp>
      <p:sp>
        <p:nvSpPr>
          <p:cNvPr id="69" name="Rounded Rectangle 68"/>
          <p:cNvSpPr/>
          <p:nvPr/>
        </p:nvSpPr>
        <p:spPr>
          <a:xfrm>
            <a:off x="9839739" y="3278124"/>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ounded Rectangle 69"/>
          <p:cNvSpPr/>
          <p:nvPr/>
        </p:nvSpPr>
        <p:spPr>
          <a:xfrm>
            <a:off x="9839739" y="3278124"/>
            <a:ext cx="12925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10534683" y="3145536"/>
            <a:ext cx="898059"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14:30:53</a:t>
            </a:r>
          </a:p>
        </p:txBody>
      </p:sp>
      <p:cxnSp>
        <p:nvCxnSpPr>
          <p:cNvPr id="72" name="Connector 71"/>
          <p:cNvCxnSpPr/>
          <p:nvPr/>
        </p:nvCxnSpPr>
        <p:spPr>
          <a:xfrm>
            <a:off x="5605272" y="2743200"/>
            <a:ext cx="987552" cy="0"/>
          </a:xfrm>
          <a:prstGeom prst="line">
            <a:avLst/>
          </a:prstGeom>
          <a:ln w="2222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532120" y="2395728"/>
            <a:ext cx="1225296" cy="310896"/>
          </a:xfrm>
          <a:prstGeom prst="rect">
            <a:avLst/>
          </a:prstGeom>
          <a:noFill/>
        </p:spPr>
        <p:txBody>
          <a:bodyPr wrap="square" anchor="t" lIns="0" rIns="0" tIns="0" bIns="0">
            <a:spAutoFit/>
          </a:bodyPr>
          <a:lstStyle/>
          <a:p>
            <a:pPr algn="ctr">
              <a:lnSpc>
                <a:spcPct val="125000"/>
              </a:lnSpc>
            </a:pPr>
            <a:r>
              <a:rPr sz="750" b="0" i="0">
                <a:solidFill>
                  <a:srgbClr val="FBBF24"/>
                </a:solidFill>
                <a:latin typeface="Menlo"/>
              </a:rPr>
              <a:t>flachKlopfen()</a:t>
            </a:r>
          </a:p>
          <a:p>
            <a:pPr algn="ctr">
              <a:lnSpc>
                <a:spcPct val="125000"/>
              </a:lnSpc>
            </a:pPr>
            <a:r>
              <a:rPr sz="750" b="0" i="0">
                <a:solidFill>
                  <a:srgbClr val="FBBF24"/>
                </a:solidFill>
                <a:latin typeface="Menlo"/>
              </a:rPr>
              <a:t>3 Schleifen</a:t>
            </a:r>
          </a:p>
        </p:txBody>
      </p:sp>
      <p:sp>
        <p:nvSpPr>
          <p:cNvPr id="74" name="TextBox 73"/>
          <p:cNvSpPr txBox="1"/>
          <p:nvPr/>
        </p:nvSpPr>
        <p:spPr>
          <a:xfrm>
            <a:off x="6702552" y="3611880"/>
            <a:ext cx="4711903" cy="201168"/>
          </a:xfrm>
          <a:prstGeom prst="rect">
            <a:avLst/>
          </a:prstGeom>
          <a:noFill/>
        </p:spPr>
        <p:txBody>
          <a:bodyPr wrap="square" anchor="t" lIns="0" rIns="0" tIns="0" bIns="0">
            <a:spAutoFit/>
          </a:bodyPr>
          <a:lstStyle/>
          <a:p>
            <a:pPr algn="l">
              <a:lnSpc>
                <a:spcPct val="120000"/>
              </a:lnSpc>
            </a:pPr>
            <a:r>
              <a:rPr sz="900" b="1" i="0" spc="160">
                <a:solidFill>
                  <a:srgbClr val="8E9DBB"/>
                </a:solidFill>
                <a:latin typeface="Helvetica Neue"/>
              </a:rPr>
              <a:t>EINE ZEILE PRO MESSWERT</a:t>
            </a:r>
          </a:p>
        </p:txBody>
      </p:sp>
      <p:sp>
        <p:nvSpPr>
          <p:cNvPr id="75" name="TextBox 74"/>
          <p:cNvSpPr txBox="1"/>
          <p:nvPr/>
        </p:nvSpPr>
        <p:spPr>
          <a:xfrm>
            <a:off x="6702552" y="3877056"/>
            <a:ext cx="4711903" cy="548640"/>
          </a:xfrm>
          <a:prstGeom prst="rect">
            <a:avLst/>
          </a:prstGeom>
          <a:noFill/>
        </p:spPr>
        <p:txBody>
          <a:bodyPr wrap="square" anchor="t" lIns="0" rIns="0" tIns="0" bIns="0">
            <a:spAutoFit/>
          </a:bodyPr>
          <a:lstStyle/>
          <a:p>
            <a:pPr algn="l">
              <a:lnSpc>
                <a:spcPct val="125000"/>
              </a:lnSpc>
            </a:pPr>
            <a:r>
              <a:rPr sz="900" b="0" i="0">
                <a:solidFill>
                  <a:srgbClr val="8E9DBB"/>
                </a:solidFill>
                <a:latin typeface="Helvetica Neue"/>
              </a:rPr>
              <a:t>Der Schlüssel _id wird aus type, name und time</a:t>
            </a:r>
          </a:p>
          <a:p>
            <a:pPr algn="l">
              <a:lnSpc>
                <a:spcPct val="125000"/>
              </a:lnSpc>
            </a:pPr>
            <a:r>
              <a:rPr sz="900" b="0" i="0">
                <a:solidFill>
                  <a:srgbClr val="8E9DBB"/>
                </a:solidFill>
                <a:latin typeface="Helvetica Neue"/>
              </a:rPr>
              <a:t>zusammengesetzt – damit React jede Zeile</a:t>
            </a:r>
          </a:p>
          <a:p>
            <a:pPr algn="l">
              <a:lnSpc>
                <a:spcPct val="125000"/>
              </a:lnSpc>
            </a:pPr>
            <a:r>
              <a:rPr sz="900" b="0" i="0">
                <a:solidFill>
                  <a:srgbClr val="8E9DBB"/>
                </a:solidFill>
                <a:latin typeface="Helvetica Neue"/>
              </a:rPr>
              <a:t>wiedererkennt, auch wenn sich die Sortierung ändert.</a:t>
            </a:r>
          </a:p>
        </p:txBody>
      </p:sp>
      <p:sp>
        <p:nvSpPr>
          <p:cNvPr id="76" name="Rounded Rectangle 75"/>
          <p:cNvSpPr/>
          <p:nvPr/>
        </p:nvSpPr>
        <p:spPr>
          <a:xfrm>
            <a:off x="777240" y="4480560"/>
            <a:ext cx="1020470" cy="219456"/>
          </a:xfrm>
          <a:prstGeom prst="roundRect">
            <a:avLst>
              <a:gd name="adj" fmla="val 30000"/>
            </a:avLst>
          </a:prstGeom>
          <a:solidFill>
            <a:srgbClr val="141D33"/>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777240" y="4521708"/>
            <a:ext cx="1020470" cy="164592"/>
          </a:xfrm>
          <a:prstGeom prst="rect">
            <a:avLst/>
          </a:prstGeom>
          <a:noFill/>
        </p:spPr>
        <p:txBody>
          <a:bodyPr wrap="square" anchor="t" lIns="0" rIns="0" tIns="0" bIns="0">
            <a:spAutoFit/>
          </a:bodyPr>
          <a:lstStyle/>
          <a:p>
            <a:pPr algn="ctr">
              <a:lnSpc>
                <a:spcPct val="120000"/>
              </a:lnSpc>
            </a:pPr>
            <a:r>
              <a:rPr sz="800" b="0" i="0">
                <a:solidFill>
                  <a:srgbClr val="38BDF8"/>
                </a:solidFill>
                <a:latin typeface="Helvetica Neue"/>
              </a:rPr>
              <a:t>Ebene 1  ·  type</a:t>
            </a:r>
          </a:p>
        </p:txBody>
      </p:sp>
      <p:sp>
        <p:nvSpPr>
          <p:cNvPr id="78" name="Rounded Rectangle 77"/>
          <p:cNvSpPr/>
          <p:nvPr/>
        </p:nvSpPr>
        <p:spPr>
          <a:xfrm>
            <a:off x="1962302" y="4480560"/>
            <a:ext cx="1020470" cy="219456"/>
          </a:xfrm>
          <a:prstGeom prst="roundRect">
            <a:avLst>
              <a:gd name="adj" fmla="val 30000"/>
            </a:avLst>
          </a:prstGeom>
          <a:solidFill>
            <a:srgbClr val="141D33"/>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1962302" y="4521708"/>
            <a:ext cx="1020470" cy="164592"/>
          </a:xfrm>
          <a:prstGeom prst="rect">
            <a:avLst/>
          </a:prstGeom>
          <a:noFill/>
        </p:spPr>
        <p:txBody>
          <a:bodyPr wrap="square" anchor="t" lIns="0" rIns="0" tIns="0" bIns="0">
            <a:spAutoFit/>
          </a:bodyPr>
          <a:lstStyle/>
          <a:p>
            <a:pPr algn="ctr">
              <a:lnSpc>
                <a:spcPct val="120000"/>
              </a:lnSpc>
            </a:pPr>
            <a:r>
              <a:rPr sz="800" b="0" i="0">
                <a:solidFill>
                  <a:srgbClr val="A78BFA"/>
                </a:solidFill>
                <a:latin typeface="Helvetica Neue"/>
              </a:rPr>
              <a:t>Ebene 2  ·  name</a:t>
            </a:r>
          </a:p>
        </p:txBody>
      </p:sp>
      <p:sp>
        <p:nvSpPr>
          <p:cNvPr id="80" name="Rounded Rectangle 79"/>
          <p:cNvSpPr/>
          <p:nvPr/>
        </p:nvSpPr>
        <p:spPr>
          <a:xfrm>
            <a:off x="3147364" y="4480560"/>
            <a:ext cx="1276502" cy="219456"/>
          </a:xfrm>
          <a:prstGeom prst="roundRect">
            <a:avLst>
              <a:gd name="adj" fmla="val 30000"/>
            </a:avLst>
          </a:prstGeom>
          <a:solidFill>
            <a:srgbClr val="141D33"/>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3147364" y="4521708"/>
            <a:ext cx="1276502" cy="164592"/>
          </a:xfrm>
          <a:prstGeom prst="rect">
            <a:avLst/>
          </a:prstGeom>
          <a:noFill/>
        </p:spPr>
        <p:txBody>
          <a:bodyPr wrap="square" anchor="t" lIns="0" rIns="0" tIns="0" bIns="0">
            <a:spAutoFit/>
          </a:bodyPr>
          <a:lstStyle/>
          <a:p>
            <a:pPr algn="ctr">
              <a:lnSpc>
                <a:spcPct val="120000"/>
              </a:lnSpc>
            </a:pPr>
            <a:r>
              <a:rPr sz="800" b="0" i="0">
                <a:solidFill>
                  <a:srgbClr val="34D399"/>
                </a:solidFill>
                <a:latin typeface="Helvetica Neue"/>
              </a:rPr>
              <a:t>Ebene 3  ·  Messwerte</a:t>
            </a:r>
          </a:p>
        </p:txBody>
      </p:sp>
      <p:sp>
        <p:nvSpPr>
          <p:cNvPr id="82" name="Rounded Rectangle 81"/>
          <p:cNvSpPr/>
          <p:nvPr/>
        </p:nvSpPr>
        <p:spPr>
          <a:xfrm>
            <a:off x="777240" y="4791456"/>
            <a:ext cx="10637215" cy="1056132"/>
          </a:xfrm>
          <a:prstGeom prst="roundRect">
            <a:avLst>
              <a:gd name="adj" fmla="val 4500"/>
            </a:avLst>
          </a:prstGeom>
          <a:solidFill>
            <a:srgbClr val="0A1121"/>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778154" y="4910328"/>
            <a:ext cx="41148" cy="81838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1014983" y="4928616"/>
            <a:ext cx="10225735" cy="241173"/>
          </a:xfrm>
          <a:prstGeom prst="rect">
            <a:avLst/>
          </a:prstGeom>
          <a:noFill/>
        </p:spPr>
        <p:txBody>
          <a:bodyPr wrap="square" anchor="t" lIns="0" rIns="0" tIns="0" bIns="0">
            <a:spAutoFit/>
          </a:bodyPr>
          <a:lstStyle/>
          <a:p>
            <a:pPr algn="l">
              <a:lnSpc>
                <a:spcPct val="100000"/>
              </a:lnSpc>
            </a:pPr>
            <a:r>
              <a:rPr sz="950" b="0" i="0">
                <a:solidFill>
                  <a:srgbClr val="38BDF8"/>
                </a:solidFill>
                <a:latin typeface="Menlo"/>
              </a:rPr>
              <a:t>for (const [type, sensoren] of Object.entries(json))</a:t>
            </a:r>
          </a:p>
        </p:txBody>
      </p:sp>
      <p:sp>
        <p:nvSpPr>
          <p:cNvPr id="85" name="TextBox 84"/>
          <p:cNvSpPr txBox="1"/>
          <p:nvPr/>
        </p:nvSpPr>
        <p:spPr>
          <a:xfrm>
            <a:off x="1014983" y="5124069"/>
            <a:ext cx="10225735" cy="241173"/>
          </a:xfrm>
          <a:prstGeom prst="rect">
            <a:avLst/>
          </a:prstGeom>
          <a:noFill/>
        </p:spPr>
        <p:txBody>
          <a:bodyPr wrap="square" anchor="t" lIns="0" rIns="0" tIns="0" bIns="0">
            <a:spAutoFit/>
          </a:bodyPr>
          <a:lstStyle/>
          <a:p>
            <a:pPr algn="l">
              <a:lnSpc>
                <a:spcPct val="100000"/>
              </a:lnSpc>
            </a:pPr>
            <a:r>
              <a:rPr sz="950" b="0" i="0">
                <a:solidFill>
                  <a:srgbClr val="A78BFA"/>
                </a:solidFill>
                <a:latin typeface="Menlo"/>
              </a:rPr>
              <a:t>  for (const [name, messungen] of Object.entries(sensoren ?? {}))</a:t>
            </a:r>
          </a:p>
        </p:txBody>
      </p:sp>
      <p:sp>
        <p:nvSpPr>
          <p:cNvPr id="86" name="TextBox 85"/>
          <p:cNvSpPr txBox="1"/>
          <p:nvPr/>
        </p:nvSpPr>
        <p:spPr>
          <a:xfrm>
            <a:off x="1014983" y="5319522"/>
            <a:ext cx="10225735" cy="241173"/>
          </a:xfrm>
          <a:prstGeom prst="rect">
            <a:avLst/>
          </a:prstGeom>
          <a:noFill/>
        </p:spPr>
        <p:txBody>
          <a:bodyPr wrap="square" anchor="t" lIns="0" rIns="0" tIns="0" bIns="0">
            <a:spAutoFit/>
          </a:bodyPr>
          <a:lstStyle/>
          <a:p>
            <a:pPr algn="l">
              <a:lnSpc>
                <a:spcPct val="100000"/>
              </a:lnSpc>
            </a:pPr>
            <a:r>
              <a:rPr sz="950" b="0" i="0">
                <a:solidFill>
                  <a:srgbClr val="34D399"/>
                </a:solidFill>
                <a:latin typeface="Menlo"/>
              </a:rPr>
              <a:t>    for (const messung of messungen ?? [])</a:t>
            </a:r>
          </a:p>
        </p:txBody>
      </p:sp>
      <p:sp>
        <p:nvSpPr>
          <p:cNvPr id="87" name="TextBox 86"/>
          <p:cNvSpPr txBox="1"/>
          <p:nvPr/>
        </p:nvSpPr>
        <p:spPr>
          <a:xfrm>
            <a:off x="1014983" y="5514975"/>
            <a:ext cx="10225735" cy="241173"/>
          </a:xfrm>
          <a:prstGeom prst="rect">
            <a:avLst/>
          </a:prstGeom>
          <a:noFill/>
        </p:spPr>
        <p:txBody>
          <a:bodyPr wrap="square" anchor="t" lIns="0" rIns="0" tIns="0" bIns="0">
            <a:spAutoFit/>
          </a:bodyPr>
          <a:lstStyle/>
          <a:p>
            <a:pPr algn="l">
              <a:lnSpc>
                <a:spcPct val="100000"/>
              </a:lnSpc>
            </a:pPr>
            <a:r>
              <a:rPr sz="950" b="0" i="0">
                <a:solidFill>
                  <a:srgbClr val="E8EDF7"/>
                </a:solidFill>
                <a:latin typeface="Menlo"/>
              </a:rPr>
              <a:t>      zeilen.push({ _id: `${type}-${name}-${messung.time}`, type, name, ...messung })</a:t>
            </a:r>
          </a:p>
        </p:txBody>
      </p:sp>
      <p:sp>
        <p:nvSpPr>
          <p:cNvPr id="88" name="TextBox 87"/>
          <p:cNvSpPr txBox="1"/>
          <p:nvPr/>
        </p:nvSpPr>
        <p:spPr>
          <a:xfrm>
            <a:off x="777240" y="5998464"/>
            <a:ext cx="10637215" cy="219456"/>
          </a:xfrm>
          <a:prstGeom prst="rect">
            <a:avLst/>
          </a:prstGeom>
          <a:noFill/>
        </p:spPr>
        <p:txBody>
          <a:bodyPr wrap="square" anchor="t" lIns="0" rIns="0" tIns="0" bIns="0">
            <a:spAutoFit/>
          </a:bodyPr>
          <a:lstStyle/>
          <a:p>
            <a:pPr algn="l">
              <a:lnSpc>
                <a:spcPct val="120000"/>
              </a:lnSpc>
            </a:pPr>
            <a:r>
              <a:rPr sz="1000" b="0" i="0">
                <a:solidFill>
                  <a:srgbClr val="FBBF24"/>
                </a:solidFill>
                <a:latin typeface="Helvetica Neue"/>
              </a:rPr>
              <a:t>13 Sensoren × rund 178 Messwerte = 2 315 Zeilen – neu gebaut bei jedem Abruf.</a:t>
            </a:r>
          </a:p>
        </p:txBody>
      </p:sp>
      <p:sp>
        <p:nvSpPr>
          <p:cNvPr id="89" name="TextBox 88"/>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90" name="TextBox 89"/>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FRONTEND · AKTUALISIERUNG</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Wie die Daten nachkommen</a:t>
            </a:r>
          </a:p>
        </p:txBody>
      </p:sp>
      <p:sp>
        <p:nvSpPr>
          <p:cNvPr id="5" name="Rectangle 4"/>
          <p:cNvSpPr/>
          <p:nvPr/>
        </p:nvSpPr>
        <p:spPr>
          <a:xfrm>
            <a:off x="777240" y="1316736"/>
            <a:ext cx="1371600" cy="2560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09344"/>
            <a:ext cx="10637215" cy="201168"/>
          </a:xfrm>
          <a:prstGeom prst="rect">
            <a:avLst/>
          </a:prstGeom>
          <a:noFill/>
        </p:spPr>
        <p:txBody>
          <a:bodyPr wrap="square" anchor="t" lIns="0" rIns="0" tIns="0" bIns="0">
            <a:spAutoFit/>
          </a:bodyPr>
          <a:lstStyle/>
          <a:p>
            <a:pPr algn="l">
              <a:lnSpc>
                <a:spcPct val="120000"/>
              </a:lnSpc>
            </a:pPr>
            <a:r>
              <a:rPr sz="900" b="1" i="0" spc="160">
                <a:solidFill>
                  <a:srgbClr val="38BDF8"/>
                </a:solidFill>
                <a:latin typeface="Helvetica Neue"/>
              </a:rPr>
              <a:t>DER ABRUF-TAKT</a:t>
            </a:r>
          </a:p>
        </p:txBody>
      </p:sp>
      <p:sp>
        <p:nvSpPr>
          <p:cNvPr id="7" name="Rounded Rectangle 6"/>
          <p:cNvSpPr/>
          <p:nvPr/>
        </p:nvSpPr>
        <p:spPr>
          <a:xfrm>
            <a:off x="1051560" y="2103120"/>
            <a:ext cx="566928" cy="384048"/>
          </a:xfrm>
          <a:prstGeom prst="roundRect">
            <a:avLst>
              <a:gd name="adj" fmla="val 20000"/>
            </a:avLst>
          </a:prstGeom>
          <a:solidFill>
            <a:srgbClr val="141D33"/>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51560" y="2212848"/>
            <a:ext cx="566928" cy="182880"/>
          </a:xfrm>
          <a:prstGeom prst="rect">
            <a:avLst/>
          </a:prstGeom>
          <a:noFill/>
        </p:spPr>
        <p:txBody>
          <a:bodyPr wrap="square" anchor="t" lIns="0" rIns="0" tIns="0" bIns="0">
            <a:spAutoFit/>
          </a:bodyPr>
          <a:lstStyle/>
          <a:p>
            <a:pPr algn="ctr">
              <a:lnSpc>
                <a:spcPct val="120000"/>
              </a:lnSpc>
            </a:pPr>
            <a:r>
              <a:rPr sz="800" b="0" i="0">
                <a:solidFill>
                  <a:srgbClr val="38BDF8"/>
                </a:solidFill>
                <a:latin typeface="Menlo"/>
              </a:rPr>
              <a:t>fetch</a:t>
            </a:r>
          </a:p>
        </p:txBody>
      </p:sp>
      <p:sp>
        <p:nvSpPr>
          <p:cNvPr id="9" name="Rectangle 8"/>
          <p:cNvSpPr/>
          <p:nvPr/>
        </p:nvSpPr>
        <p:spPr>
          <a:xfrm>
            <a:off x="1330451" y="2697480"/>
            <a:ext cx="10058" cy="128016"/>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39" y="2871216"/>
            <a:ext cx="1115568"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1. Abruf</a:t>
            </a:r>
          </a:p>
        </p:txBody>
      </p:sp>
      <p:cxnSp>
        <p:nvCxnSpPr>
          <p:cNvPr id="11" name="Connector 10"/>
          <p:cNvCxnSpPr/>
          <p:nvPr/>
        </p:nvCxnSpPr>
        <p:spPr>
          <a:xfrm>
            <a:off x="1673352" y="2295144"/>
            <a:ext cx="1792224" cy="0"/>
          </a:xfrm>
          <a:prstGeom prst="line">
            <a:avLst/>
          </a:prstGeom>
          <a:ln w="15875">
            <a:solidFill>
              <a:srgbClr val="3A5A86"/>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057400" y="2377440"/>
            <a:ext cx="713232"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10 s Pause</a:t>
            </a:r>
          </a:p>
        </p:txBody>
      </p:sp>
      <p:sp>
        <p:nvSpPr>
          <p:cNvPr id="13" name="Rounded Rectangle 12"/>
          <p:cNvSpPr/>
          <p:nvPr/>
        </p:nvSpPr>
        <p:spPr>
          <a:xfrm>
            <a:off x="3520440" y="2103120"/>
            <a:ext cx="566928" cy="384048"/>
          </a:xfrm>
          <a:prstGeom prst="roundRect">
            <a:avLst>
              <a:gd name="adj" fmla="val 20000"/>
            </a:avLst>
          </a:prstGeom>
          <a:solidFill>
            <a:srgbClr val="141D33"/>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520440" y="2212848"/>
            <a:ext cx="566928" cy="182880"/>
          </a:xfrm>
          <a:prstGeom prst="rect">
            <a:avLst/>
          </a:prstGeom>
          <a:noFill/>
        </p:spPr>
        <p:txBody>
          <a:bodyPr wrap="square" anchor="t" lIns="0" rIns="0" tIns="0" bIns="0">
            <a:spAutoFit/>
          </a:bodyPr>
          <a:lstStyle/>
          <a:p>
            <a:pPr algn="ctr">
              <a:lnSpc>
                <a:spcPct val="120000"/>
              </a:lnSpc>
            </a:pPr>
            <a:r>
              <a:rPr sz="800" b="0" i="0">
                <a:solidFill>
                  <a:srgbClr val="38BDF8"/>
                </a:solidFill>
                <a:latin typeface="Menlo"/>
              </a:rPr>
              <a:t>fetch</a:t>
            </a:r>
          </a:p>
        </p:txBody>
      </p:sp>
      <p:sp>
        <p:nvSpPr>
          <p:cNvPr id="15" name="Rectangle 14"/>
          <p:cNvSpPr/>
          <p:nvPr/>
        </p:nvSpPr>
        <p:spPr>
          <a:xfrm>
            <a:off x="3799332" y="2697480"/>
            <a:ext cx="10058" cy="128016"/>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46120" y="2871216"/>
            <a:ext cx="1115568"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2. Abruf</a:t>
            </a:r>
          </a:p>
        </p:txBody>
      </p:sp>
      <p:cxnSp>
        <p:nvCxnSpPr>
          <p:cNvPr id="17" name="Connector 16"/>
          <p:cNvCxnSpPr/>
          <p:nvPr/>
        </p:nvCxnSpPr>
        <p:spPr>
          <a:xfrm>
            <a:off x="4142232" y="2295144"/>
            <a:ext cx="1792224" cy="0"/>
          </a:xfrm>
          <a:prstGeom prst="line">
            <a:avLst/>
          </a:prstGeom>
          <a:ln w="15875">
            <a:solidFill>
              <a:srgbClr val="3A5A86"/>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26280" y="2377440"/>
            <a:ext cx="713232"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10 s Pause</a:t>
            </a:r>
          </a:p>
        </p:txBody>
      </p:sp>
      <p:sp>
        <p:nvSpPr>
          <p:cNvPr id="19" name="Rounded Rectangle 18"/>
          <p:cNvSpPr/>
          <p:nvPr/>
        </p:nvSpPr>
        <p:spPr>
          <a:xfrm>
            <a:off x="5989320" y="2103120"/>
            <a:ext cx="566928" cy="384048"/>
          </a:xfrm>
          <a:prstGeom prst="roundRect">
            <a:avLst>
              <a:gd name="adj" fmla="val 20000"/>
            </a:avLst>
          </a:prstGeom>
          <a:solidFill>
            <a:srgbClr val="141D33"/>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989320" y="2212848"/>
            <a:ext cx="566928" cy="182880"/>
          </a:xfrm>
          <a:prstGeom prst="rect">
            <a:avLst/>
          </a:prstGeom>
          <a:noFill/>
        </p:spPr>
        <p:txBody>
          <a:bodyPr wrap="square" anchor="t" lIns="0" rIns="0" tIns="0" bIns="0">
            <a:spAutoFit/>
          </a:bodyPr>
          <a:lstStyle/>
          <a:p>
            <a:pPr algn="ctr">
              <a:lnSpc>
                <a:spcPct val="120000"/>
              </a:lnSpc>
            </a:pPr>
            <a:r>
              <a:rPr sz="800" b="0" i="0">
                <a:solidFill>
                  <a:srgbClr val="38BDF8"/>
                </a:solidFill>
                <a:latin typeface="Menlo"/>
              </a:rPr>
              <a:t>fetch</a:t>
            </a:r>
          </a:p>
        </p:txBody>
      </p:sp>
      <p:sp>
        <p:nvSpPr>
          <p:cNvPr id="21" name="Rectangle 20"/>
          <p:cNvSpPr/>
          <p:nvPr/>
        </p:nvSpPr>
        <p:spPr>
          <a:xfrm>
            <a:off x="6268212" y="2697480"/>
            <a:ext cx="10058" cy="128016"/>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715000" y="2871216"/>
            <a:ext cx="1115568"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3. Abruf</a:t>
            </a:r>
          </a:p>
        </p:txBody>
      </p:sp>
      <p:cxnSp>
        <p:nvCxnSpPr>
          <p:cNvPr id="23" name="Connector 22"/>
          <p:cNvCxnSpPr/>
          <p:nvPr/>
        </p:nvCxnSpPr>
        <p:spPr>
          <a:xfrm>
            <a:off x="6611112" y="2295144"/>
            <a:ext cx="1792224" cy="0"/>
          </a:xfrm>
          <a:prstGeom prst="line">
            <a:avLst/>
          </a:prstGeom>
          <a:ln w="15875">
            <a:solidFill>
              <a:srgbClr val="3A5A86"/>
            </a:solidFill>
            <a:prstDash val="sysDash"/>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995160" y="2377440"/>
            <a:ext cx="713232"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10 s Pause</a:t>
            </a:r>
          </a:p>
        </p:txBody>
      </p:sp>
      <p:sp>
        <p:nvSpPr>
          <p:cNvPr id="25" name="Rounded Rectangle 24"/>
          <p:cNvSpPr/>
          <p:nvPr/>
        </p:nvSpPr>
        <p:spPr>
          <a:xfrm>
            <a:off x="8458200" y="2103120"/>
            <a:ext cx="566928" cy="384048"/>
          </a:xfrm>
          <a:prstGeom prst="roundRect">
            <a:avLst>
              <a:gd name="adj" fmla="val 20000"/>
            </a:avLst>
          </a:prstGeom>
          <a:solidFill>
            <a:srgbClr val="141D33"/>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458200" y="2212848"/>
            <a:ext cx="566928" cy="182880"/>
          </a:xfrm>
          <a:prstGeom prst="rect">
            <a:avLst/>
          </a:prstGeom>
          <a:noFill/>
        </p:spPr>
        <p:txBody>
          <a:bodyPr wrap="square" anchor="t" lIns="0" rIns="0" tIns="0" bIns="0">
            <a:spAutoFit/>
          </a:bodyPr>
          <a:lstStyle/>
          <a:p>
            <a:pPr algn="ctr">
              <a:lnSpc>
                <a:spcPct val="120000"/>
              </a:lnSpc>
            </a:pPr>
            <a:r>
              <a:rPr sz="800" b="0" i="0">
                <a:solidFill>
                  <a:srgbClr val="38BDF8"/>
                </a:solidFill>
                <a:latin typeface="Menlo"/>
              </a:rPr>
              <a:t>fetch</a:t>
            </a:r>
          </a:p>
        </p:txBody>
      </p:sp>
      <p:sp>
        <p:nvSpPr>
          <p:cNvPr id="27" name="Rectangle 26"/>
          <p:cNvSpPr/>
          <p:nvPr/>
        </p:nvSpPr>
        <p:spPr>
          <a:xfrm>
            <a:off x="8737092" y="2697480"/>
            <a:ext cx="10058" cy="128016"/>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183880" y="2871216"/>
            <a:ext cx="1115568" cy="182880"/>
          </a:xfrm>
          <a:prstGeom prst="rect">
            <a:avLst/>
          </a:prstGeom>
          <a:noFill/>
        </p:spPr>
        <p:txBody>
          <a:bodyPr wrap="square" anchor="t" lIns="0" rIns="0" tIns="0" bIns="0">
            <a:spAutoFit/>
          </a:bodyPr>
          <a:lstStyle/>
          <a:p>
            <a:pPr algn="ctr">
              <a:lnSpc>
                <a:spcPct val="120000"/>
              </a:lnSpc>
            </a:pPr>
            <a:r>
              <a:rPr sz="800" b="0" i="0">
                <a:solidFill>
                  <a:srgbClr val="5A6A89"/>
                </a:solidFill>
                <a:latin typeface="Helvetica Neue"/>
              </a:rPr>
              <a:t>4. Abruf</a:t>
            </a:r>
          </a:p>
        </p:txBody>
      </p:sp>
      <p:sp>
        <p:nvSpPr>
          <p:cNvPr id="29" name="TextBox 28"/>
          <p:cNvSpPr txBox="1"/>
          <p:nvPr/>
        </p:nvSpPr>
        <p:spPr>
          <a:xfrm>
            <a:off x="9601200" y="2212848"/>
            <a:ext cx="548640" cy="182880"/>
          </a:xfrm>
          <a:prstGeom prst="rect">
            <a:avLst/>
          </a:prstGeom>
          <a:noFill/>
        </p:spPr>
        <p:txBody>
          <a:bodyPr wrap="square" anchor="t" lIns="0" rIns="0" tIns="0" bIns="0">
            <a:spAutoFit/>
          </a:bodyPr>
          <a:lstStyle/>
          <a:p>
            <a:pPr algn="l">
              <a:lnSpc>
                <a:spcPct val="120000"/>
              </a:lnSpc>
            </a:pPr>
            <a:r>
              <a:rPr sz="1200" b="0" i="0">
                <a:solidFill>
                  <a:srgbClr val="5A6A89"/>
                </a:solidFill>
                <a:latin typeface="Helvetica Neue"/>
              </a:rPr>
              <a:t>…</a:t>
            </a:r>
          </a:p>
        </p:txBody>
      </p:sp>
      <p:sp>
        <p:nvSpPr>
          <p:cNvPr id="30" name="Rectangle 29"/>
          <p:cNvSpPr/>
          <p:nvPr/>
        </p:nvSpPr>
        <p:spPr>
          <a:xfrm>
            <a:off x="1051560" y="2761488"/>
            <a:ext cx="9144000"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77240" y="1810512"/>
            <a:ext cx="3657600" cy="182880"/>
          </a:xfrm>
          <a:prstGeom prst="rect">
            <a:avLst/>
          </a:prstGeom>
          <a:noFill/>
        </p:spPr>
        <p:txBody>
          <a:bodyPr wrap="square" anchor="t" lIns="0" rIns="0" tIns="0" bIns="0">
            <a:spAutoFit/>
          </a:bodyPr>
          <a:lstStyle/>
          <a:p>
            <a:pPr algn="l">
              <a:lnSpc>
                <a:spcPct val="120000"/>
              </a:lnSpc>
            </a:pPr>
            <a:r>
              <a:rPr sz="800" b="0" i="0">
                <a:solidFill>
                  <a:srgbClr val="8E9DBB"/>
                </a:solidFill>
                <a:latin typeface="Menlo"/>
              </a:rPr>
              <a:t>GET /data_wsi/</a:t>
            </a:r>
          </a:p>
        </p:txBody>
      </p:sp>
      <p:sp>
        <p:nvSpPr>
          <p:cNvPr id="32" name="TextBox 31"/>
          <p:cNvSpPr txBox="1"/>
          <p:nvPr/>
        </p:nvSpPr>
        <p:spPr>
          <a:xfrm>
            <a:off x="777240" y="3145536"/>
            <a:ext cx="10637215" cy="219456"/>
          </a:xfrm>
          <a:prstGeom prst="rect">
            <a:avLst/>
          </a:prstGeom>
          <a:noFill/>
        </p:spPr>
        <p:txBody>
          <a:bodyPr wrap="square" anchor="t" lIns="0" rIns="0" tIns="0" bIns="0">
            <a:spAutoFit/>
          </a:bodyPr>
          <a:lstStyle/>
          <a:p>
            <a:pPr algn="l">
              <a:lnSpc>
                <a:spcPct val="120000"/>
              </a:lnSpc>
            </a:pPr>
            <a:r>
              <a:rPr sz="1050" b="0" i="0">
                <a:solidFill>
                  <a:srgbClr val="E8EDF7"/>
                </a:solidFill>
                <a:latin typeface="Helvetica Neue"/>
              </a:rPr>
              <a:t>Der Timer für die nächste Abfrage wird erst gesetzt, nachdem die Antwort da ist – deshalb kann sich nichts stapeln.</a:t>
            </a:r>
          </a:p>
        </p:txBody>
      </p:sp>
      <p:sp>
        <p:nvSpPr>
          <p:cNvPr id="33" name="Rounded Rectangle 32"/>
          <p:cNvSpPr/>
          <p:nvPr/>
        </p:nvSpPr>
        <p:spPr>
          <a:xfrm>
            <a:off x="777240" y="3493008"/>
            <a:ext cx="5120640" cy="2395728"/>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778154" y="3657600"/>
            <a:ext cx="50292" cy="2066543"/>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033271" y="3639312"/>
            <a:ext cx="3657600" cy="237744"/>
          </a:xfrm>
          <a:prstGeom prst="rect">
            <a:avLst/>
          </a:prstGeom>
          <a:noFill/>
        </p:spPr>
        <p:txBody>
          <a:bodyPr wrap="square" anchor="t" lIns="0" rIns="0" tIns="0" bIns="0">
            <a:spAutoFit/>
          </a:bodyPr>
          <a:lstStyle/>
          <a:p>
            <a:pPr algn="l">
              <a:lnSpc>
                <a:spcPct val="120000"/>
              </a:lnSpc>
            </a:pPr>
            <a:r>
              <a:rPr sz="1250" b="1" i="0">
                <a:solidFill>
                  <a:srgbClr val="E8EDF7"/>
                </a:solidFill>
                <a:latin typeface="Helvetica Neue"/>
              </a:rPr>
              <a:t>Drei Zustände</a:t>
            </a:r>
          </a:p>
        </p:txBody>
      </p:sp>
      <p:sp>
        <p:nvSpPr>
          <p:cNvPr id="36" name="Rounded Rectangle 35"/>
          <p:cNvSpPr/>
          <p:nvPr/>
        </p:nvSpPr>
        <p:spPr>
          <a:xfrm>
            <a:off x="1051560" y="4114800"/>
            <a:ext cx="1371600" cy="566928"/>
          </a:xfrm>
          <a:prstGeom prst="roundRect">
            <a:avLst>
              <a:gd name="adj" fmla="val 22000"/>
            </a:avLst>
          </a:prstGeom>
          <a:solidFill>
            <a:srgbClr val="141D33"/>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051560" y="4306824"/>
            <a:ext cx="1371600" cy="201168"/>
          </a:xfrm>
          <a:prstGeom prst="rect">
            <a:avLst/>
          </a:prstGeom>
          <a:noFill/>
        </p:spPr>
        <p:txBody>
          <a:bodyPr wrap="square" anchor="t" lIns="0" rIns="0" tIns="0" bIns="0">
            <a:spAutoFit/>
          </a:bodyPr>
          <a:lstStyle/>
          <a:p>
            <a:pPr algn="ctr">
              <a:lnSpc>
                <a:spcPct val="120000"/>
              </a:lnSpc>
            </a:pPr>
            <a:r>
              <a:rPr sz="1100" b="1" i="0">
                <a:solidFill>
                  <a:srgbClr val="38BDF8"/>
                </a:solidFill>
                <a:latin typeface="Menlo"/>
              </a:rPr>
              <a:t>laedt</a:t>
            </a:r>
          </a:p>
        </p:txBody>
      </p:sp>
      <p:sp>
        <p:nvSpPr>
          <p:cNvPr id="38" name="Rounded Rectangle 37"/>
          <p:cNvSpPr/>
          <p:nvPr/>
        </p:nvSpPr>
        <p:spPr>
          <a:xfrm>
            <a:off x="4069080" y="3877056"/>
            <a:ext cx="1371600" cy="530352"/>
          </a:xfrm>
          <a:prstGeom prst="roundRect">
            <a:avLst>
              <a:gd name="adj" fmla="val 22000"/>
            </a:avLst>
          </a:prstGeom>
          <a:solidFill>
            <a:srgbClr val="141D33"/>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069080" y="4050792"/>
            <a:ext cx="1371600" cy="201168"/>
          </a:xfrm>
          <a:prstGeom prst="rect">
            <a:avLst/>
          </a:prstGeom>
          <a:noFill/>
        </p:spPr>
        <p:txBody>
          <a:bodyPr wrap="square" anchor="t" lIns="0" rIns="0" tIns="0" bIns="0">
            <a:spAutoFit/>
          </a:bodyPr>
          <a:lstStyle/>
          <a:p>
            <a:pPr algn="ctr">
              <a:lnSpc>
                <a:spcPct val="120000"/>
              </a:lnSpc>
            </a:pPr>
            <a:r>
              <a:rPr sz="1100" b="1" i="0">
                <a:solidFill>
                  <a:srgbClr val="34D399"/>
                </a:solidFill>
                <a:latin typeface="Menlo"/>
              </a:rPr>
              <a:t>ok</a:t>
            </a:r>
          </a:p>
        </p:txBody>
      </p:sp>
      <p:sp>
        <p:nvSpPr>
          <p:cNvPr id="40" name="Rounded Rectangle 39"/>
          <p:cNvSpPr/>
          <p:nvPr/>
        </p:nvSpPr>
        <p:spPr>
          <a:xfrm>
            <a:off x="4069080" y="4718304"/>
            <a:ext cx="1371600" cy="530352"/>
          </a:xfrm>
          <a:prstGeom prst="roundRect">
            <a:avLst>
              <a:gd name="adj" fmla="val 22000"/>
            </a:avLst>
          </a:prstGeom>
          <a:solidFill>
            <a:srgbClr val="141D33"/>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069080" y="4892040"/>
            <a:ext cx="1371600" cy="201168"/>
          </a:xfrm>
          <a:prstGeom prst="rect">
            <a:avLst/>
          </a:prstGeom>
          <a:noFill/>
        </p:spPr>
        <p:txBody>
          <a:bodyPr wrap="square" anchor="t" lIns="0" rIns="0" tIns="0" bIns="0">
            <a:spAutoFit/>
          </a:bodyPr>
          <a:lstStyle/>
          <a:p>
            <a:pPr algn="ctr">
              <a:lnSpc>
                <a:spcPct val="120000"/>
              </a:lnSpc>
            </a:pPr>
            <a:r>
              <a:rPr sz="1100" b="1" i="0">
                <a:solidFill>
                  <a:srgbClr val="F87171"/>
                </a:solidFill>
                <a:latin typeface="Menlo"/>
              </a:rPr>
              <a:t>fehler</a:t>
            </a:r>
          </a:p>
        </p:txBody>
      </p:sp>
      <p:cxnSp>
        <p:nvCxnSpPr>
          <p:cNvPr id="42" name="Connector 41"/>
          <p:cNvCxnSpPr/>
          <p:nvPr/>
        </p:nvCxnSpPr>
        <p:spPr>
          <a:xfrm flipV="1">
            <a:off x="2459736" y="4142232"/>
            <a:ext cx="1572768" cy="201168"/>
          </a:xfrm>
          <a:prstGeom prst="line">
            <a:avLst/>
          </a:prstGeom>
          <a:ln w="15875">
            <a:solidFill>
              <a:srgbClr val="34D3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459736" y="4453128"/>
            <a:ext cx="1572768" cy="530352"/>
          </a:xfrm>
          <a:prstGeom prst="line">
            <a:avLst/>
          </a:prstGeom>
          <a:ln w="15875">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514600" y="3986784"/>
            <a:ext cx="1463040" cy="182880"/>
          </a:xfrm>
          <a:prstGeom prst="rect">
            <a:avLst/>
          </a:prstGeom>
          <a:noFill/>
        </p:spPr>
        <p:txBody>
          <a:bodyPr wrap="square" anchor="t" lIns="0" rIns="0" tIns="0" bIns="0">
            <a:spAutoFit/>
          </a:bodyPr>
          <a:lstStyle/>
          <a:p>
            <a:pPr algn="l">
              <a:lnSpc>
                <a:spcPct val="120000"/>
              </a:lnSpc>
            </a:pPr>
            <a:r>
              <a:rPr sz="800" b="0" i="0">
                <a:solidFill>
                  <a:srgbClr val="34D399"/>
                </a:solidFill>
                <a:latin typeface="Helvetica Neue"/>
              </a:rPr>
              <a:t>Antwort da</a:t>
            </a:r>
          </a:p>
        </p:txBody>
      </p:sp>
      <p:sp>
        <p:nvSpPr>
          <p:cNvPr id="45" name="TextBox 44"/>
          <p:cNvSpPr txBox="1"/>
          <p:nvPr/>
        </p:nvSpPr>
        <p:spPr>
          <a:xfrm>
            <a:off x="2514600" y="4681728"/>
            <a:ext cx="1554480" cy="182880"/>
          </a:xfrm>
          <a:prstGeom prst="rect">
            <a:avLst/>
          </a:prstGeom>
          <a:noFill/>
        </p:spPr>
        <p:txBody>
          <a:bodyPr wrap="square" anchor="t" lIns="0" rIns="0" tIns="0" bIns="0">
            <a:spAutoFit/>
          </a:bodyPr>
          <a:lstStyle/>
          <a:p>
            <a:pPr algn="l">
              <a:lnSpc>
                <a:spcPct val="120000"/>
              </a:lnSpc>
            </a:pPr>
            <a:r>
              <a:rPr sz="800" b="0" i="0">
                <a:solidFill>
                  <a:srgbClr val="F87171"/>
                </a:solidFill>
                <a:latin typeface="Helvetica Neue"/>
              </a:rPr>
              <a:t>Netz / Server</a:t>
            </a:r>
          </a:p>
        </p:txBody>
      </p:sp>
      <p:sp>
        <p:nvSpPr>
          <p:cNvPr id="46" name="TextBox 45"/>
          <p:cNvSpPr txBox="1"/>
          <p:nvPr/>
        </p:nvSpPr>
        <p:spPr>
          <a:xfrm>
            <a:off x="1033271" y="5394960"/>
            <a:ext cx="4663440" cy="384048"/>
          </a:xfrm>
          <a:prstGeom prst="rect">
            <a:avLst/>
          </a:prstGeom>
          <a:noFill/>
        </p:spPr>
        <p:txBody>
          <a:bodyPr wrap="square" anchor="t" lIns="0" rIns="0" tIns="0" bIns="0">
            <a:spAutoFit/>
          </a:bodyPr>
          <a:lstStyle/>
          <a:p>
            <a:pPr algn="l">
              <a:lnSpc>
                <a:spcPct val="125000"/>
              </a:lnSpc>
            </a:pPr>
            <a:r>
              <a:rPr sz="900" b="0" i="0">
                <a:solidFill>
                  <a:srgbClr val="8E9DBB"/>
                </a:solidFill>
                <a:latin typeface="Helvetica Neue"/>
              </a:rPr>
              <a:t>404 heißt „noch nichts empfangen“ und gilt bewusst als ok – die Tabelle zeigt dann ihren Leer-Hinweis.</a:t>
            </a:r>
          </a:p>
        </p:txBody>
      </p:sp>
      <p:sp>
        <p:nvSpPr>
          <p:cNvPr id="47" name="Rounded Rectangle 46"/>
          <p:cNvSpPr/>
          <p:nvPr/>
        </p:nvSpPr>
        <p:spPr>
          <a:xfrm>
            <a:off x="6172200" y="3493008"/>
            <a:ext cx="5239512" cy="2395728"/>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173114" y="3657600"/>
            <a:ext cx="50292" cy="2066543"/>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28232" y="3639312"/>
            <a:ext cx="4206240" cy="237744"/>
          </a:xfrm>
          <a:prstGeom prst="rect">
            <a:avLst/>
          </a:prstGeom>
          <a:noFill/>
        </p:spPr>
        <p:txBody>
          <a:bodyPr wrap="square" anchor="t" lIns="0" rIns="0" tIns="0" bIns="0">
            <a:spAutoFit/>
          </a:bodyPr>
          <a:lstStyle/>
          <a:p>
            <a:pPr algn="l">
              <a:lnSpc>
                <a:spcPct val="120000"/>
              </a:lnSpc>
            </a:pPr>
            <a:r>
              <a:rPr sz="1250" b="1" i="0">
                <a:solidFill>
                  <a:srgbClr val="E8EDF7"/>
                </a:solidFill>
                <a:latin typeface="Helvetica Neue"/>
              </a:rPr>
              <a:t>Aufräumen beim Verlassen</a:t>
            </a:r>
          </a:p>
        </p:txBody>
      </p:sp>
      <p:sp>
        <p:nvSpPr>
          <p:cNvPr id="50" name="Rectangle 49"/>
          <p:cNvSpPr/>
          <p:nvPr/>
        </p:nvSpPr>
        <p:spPr>
          <a:xfrm>
            <a:off x="6528816" y="4078224"/>
            <a:ext cx="10058" cy="1426464"/>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6428232" y="4023360"/>
            <a:ext cx="219456" cy="21945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428232" y="4073652"/>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1</a:t>
            </a:r>
          </a:p>
        </p:txBody>
      </p:sp>
      <p:sp>
        <p:nvSpPr>
          <p:cNvPr id="53" name="TextBox 52"/>
          <p:cNvSpPr txBox="1"/>
          <p:nvPr/>
        </p:nvSpPr>
        <p:spPr>
          <a:xfrm>
            <a:off x="6775704" y="4032504"/>
            <a:ext cx="448056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Ansicht wird verlassen</a:t>
            </a:r>
          </a:p>
        </p:txBody>
      </p:sp>
      <p:sp>
        <p:nvSpPr>
          <p:cNvPr id="54" name="TextBox 53"/>
          <p:cNvSpPr txBox="1"/>
          <p:nvPr/>
        </p:nvSpPr>
        <p:spPr>
          <a:xfrm>
            <a:off x="6775704" y="4215384"/>
            <a:ext cx="4480560" cy="182880"/>
          </a:xfrm>
          <a:prstGeom prst="rect">
            <a:avLst/>
          </a:prstGeom>
          <a:noFill/>
        </p:spPr>
        <p:txBody>
          <a:bodyPr wrap="square" anchor="t" lIns="0" rIns="0" tIns="0" bIns="0">
            <a:spAutoFit/>
          </a:bodyPr>
          <a:lstStyle/>
          <a:p>
            <a:pPr algn="l">
              <a:lnSpc>
                <a:spcPct val="120000"/>
              </a:lnSpc>
            </a:pPr>
            <a:r>
              <a:rPr sz="800" b="0" i="0">
                <a:solidFill>
                  <a:srgbClr val="8E9DBB"/>
                </a:solidFill>
                <a:latin typeface="Helvetica Neue"/>
              </a:rPr>
              <a:t>React ruft die Aufräumfunktion</a:t>
            </a:r>
          </a:p>
        </p:txBody>
      </p:sp>
      <p:sp>
        <p:nvSpPr>
          <p:cNvPr id="55" name="Oval 54"/>
          <p:cNvSpPr/>
          <p:nvPr/>
        </p:nvSpPr>
        <p:spPr>
          <a:xfrm>
            <a:off x="6428232" y="4498848"/>
            <a:ext cx="219456" cy="21945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428232" y="4549140"/>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2</a:t>
            </a:r>
          </a:p>
        </p:txBody>
      </p:sp>
      <p:sp>
        <p:nvSpPr>
          <p:cNvPr id="57" name="TextBox 56"/>
          <p:cNvSpPr txBox="1"/>
          <p:nvPr/>
        </p:nvSpPr>
        <p:spPr>
          <a:xfrm>
            <a:off x="6775704" y="4507992"/>
            <a:ext cx="448056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controller.abort()</a:t>
            </a:r>
          </a:p>
        </p:txBody>
      </p:sp>
      <p:sp>
        <p:nvSpPr>
          <p:cNvPr id="58" name="TextBox 57"/>
          <p:cNvSpPr txBox="1"/>
          <p:nvPr/>
        </p:nvSpPr>
        <p:spPr>
          <a:xfrm>
            <a:off x="6775704" y="4690872"/>
            <a:ext cx="4480560" cy="182880"/>
          </a:xfrm>
          <a:prstGeom prst="rect">
            <a:avLst/>
          </a:prstGeom>
          <a:noFill/>
        </p:spPr>
        <p:txBody>
          <a:bodyPr wrap="square" anchor="t" lIns="0" rIns="0" tIns="0" bIns="0">
            <a:spAutoFit/>
          </a:bodyPr>
          <a:lstStyle/>
          <a:p>
            <a:pPr algn="l">
              <a:lnSpc>
                <a:spcPct val="120000"/>
              </a:lnSpc>
            </a:pPr>
            <a:r>
              <a:rPr sz="800" b="0" i="0">
                <a:solidFill>
                  <a:srgbClr val="8E9DBB"/>
                </a:solidFill>
                <a:latin typeface="Helvetica Neue"/>
              </a:rPr>
              <a:t>das laufende fetch wird abgebrochen</a:t>
            </a:r>
          </a:p>
        </p:txBody>
      </p:sp>
      <p:sp>
        <p:nvSpPr>
          <p:cNvPr id="59" name="Oval 58"/>
          <p:cNvSpPr/>
          <p:nvPr/>
        </p:nvSpPr>
        <p:spPr>
          <a:xfrm>
            <a:off x="6428232" y="4974336"/>
            <a:ext cx="219456" cy="21945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428232" y="5024628"/>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3</a:t>
            </a:r>
          </a:p>
        </p:txBody>
      </p:sp>
      <p:sp>
        <p:nvSpPr>
          <p:cNvPr id="61" name="TextBox 60"/>
          <p:cNvSpPr txBox="1"/>
          <p:nvPr/>
        </p:nvSpPr>
        <p:spPr>
          <a:xfrm>
            <a:off x="6775704" y="4983480"/>
            <a:ext cx="448056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fetch wirft AbortError</a:t>
            </a:r>
          </a:p>
        </p:txBody>
      </p:sp>
      <p:sp>
        <p:nvSpPr>
          <p:cNvPr id="62" name="TextBox 61"/>
          <p:cNvSpPr txBox="1"/>
          <p:nvPr/>
        </p:nvSpPr>
        <p:spPr>
          <a:xfrm>
            <a:off x="6775704" y="5166360"/>
            <a:ext cx="4480560" cy="182880"/>
          </a:xfrm>
          <a:prstGeom prst="rect">
            <a:avLst/>
          </a:prstGeom>
          <a:noFill/>
        </p:spPr>
        <p:txBody>
          <a:bodyPr wrap="square" anchor="t" lIns="0" rIns="0" tIns="0" bIns="0">
            <a:spAutoFit/>
          </a:bodyPr>
          <a:lstStyle/>
          <a:p>
            <a:pPr algn="l">
              <a:lnSpc>
                <a:spcPct val="120000"/>
              </a:lnSpc>
            </a:pPr>
            <a:r>
              <a:rPr sz="800" b="0" i="0">
                <a:solidFill>
                  <a:srgbClr val="8E9DBB"/>
                </a:solidFill>
                <a:latin typeface="Helvetica Neue"/>
              </a:rPr>
              <a:t>kein echter Fehler, nur ein Abbruch</a:t>
            </a:r>
          </a:p>
        </p:txBody>
      </p:sp>
      <p:sp>
        <p:nvSpPr>
          <p:cNvPr id="63" name="Oval 62"/>
          <p:cNvSpPr/>
          <p:nvPr/>
        </p:nvSpPr>
        <p:spPr>
          <a:xfrm>
            <a:off x="6428232" y="5449824"/>
            <a:ext cx="219456" cy="21945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6428232" y="5500116"/>
            <a:ext cx="219456" cy="164592"/>
          </a:xfrm>
          <a:prstGeom prst="rect">
            <a:avLst/>
          </a:prstGeom>
          <a:noFill/>
        </p:spPr>
        <p:txBody>
          <a:bodyPr wrap="square" anchor="t" lIns="0" rIns="0" tIns="0" bIns="0">
            <a:spAutoFit/>
          </a:bodyPr>
          <a:lstStyle/>
          <a:p>
            <a:pPr algn="ctr">
              <a:lnSpc>
                <a:spcPct val="120000"/>
              </a:lnSpc>
            </a:pPr>
            <a:r>
              <a:rPr sz="900" b="1" i="0">
                <a:solidFill>
                  <a:srgbClr val="070B18"/>
                </a:solidFill>
                <a:latin typeface="Helvetica Neue"/>
              </a:rPr>
              <a:t>4</a:t>
            </a:r>
          </a:p>
        </p:txBody>
      </p:sp>
      <p:sp>
        <p:nvSpPr>
          <p:cNvPr id="65" name="TextBox 64"/>
          <p:cNvSpPr txBox="1"/>
          <p:nvPr/>
        </p:nvSpPr>
        <p:spPr>
          <a:xfrm>
            <a:off x="6775704" y="5458968"/>
            <a:ext cx="4480560" cy="182880"/>
          </a:xfrm>
          <a:prstGeom prst="rect">
            <a:avLst/>
          </a:prstGeom>
          <a:noFill/>
        </p:spPr>
        <p:txBody>
          <a:bodyPr wrap="square" anchor="t" lIns="0" rIns="0" tIns="0" bIns="0">
            <a:spAutoFit/>
          </a:bodyPr>
          <a:lstStyle/>
          <a:p>
            <a:pPr algn="l">
              <a:lnSpc>
                <a:spcPct val="120000"/>
              </a:lnSpc>
            </a:pPr>
            <a:r>
              <a:rPr sz="950" b="1" i="0">
                <a:solidFill>
                  <a:srgbClr val="E8EDF7"/>
                </a:solidFill>
                <a:latin typeface="Menlo"/>
              </a:rPr>
              <a:t>return</a:t>
            </a:r>
          </a:p>
        </p:txBody>
      </p:sp>
      <p:sp>
        <p:nvSpPr>
          <p:cNvPr id="66" name="TextBox 65"/>
          <p:cNvSpPr txBox="1"/>
          <p:nvPr/>
        </p:nvSpPr>
        <p:spPr>
          <a:xfrm>
            <a:off x="6775704" y="5641848"/>
            <a:ext cx="4480560" cy="182880"/>
          </a:xfrm>
          <a:prstGeom prst="rect">
            <a:avLst/>
          </a:prstGeom>
          <a:noFill/>
        </p:spPr>
        <p:txBody>
          <a:bodyPr wrap="square" anchor="t" lIns="0" rIns="0" tIns="0" bIns="0">
            <a:spAutoFit/>
          </a:bodyPr>
          <a:lstStyle/>
          <a:p>
            <a:pPr algn="l">
              <a:lnSpc>
                <a:spcPct val="120000"/>
              </a:lnSpc>
            </a:pPr>
            <a:r>
              <a:rPr sz="800" b="0" i="0">
                <a:solidFill>
                  <a:srgbClr val="8E9DBB"/>
                </a:solidFill>
                <a:latin typeface="Helvetica Neue"/>
              </a:rPr>
              <a:t>kein setState auf eine leere Komponente</a:t>
            </a:r>
          </a:p>
        </p:txBody>
      </p:sp>
      <p:sp>
        <p:nvSpPr>
          <p:cNvPr id="67" name="TextBox 66"/>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68" name="TextBox 67"/>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FRONTEND · BEDIENUNG</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Suchen und Sortieren</a:t>
            </a:r>
          </a:p>
        </p:txBody>
      </p:sp>
      <p:sp>
        <p:nvSpPr>
          <p:cNvPr id="5" name="Rectangle 4"/>
          <p:cNvSpPr/>
          <p:nvPr/>
        </p:nvSpPr>
        <p:spPr>
          <a:xfrm>
            <a:off x="777240" y="1316736"/>
            <a:ext cx="1371600" cy="2560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572768"/>
            <a:ext cx="4114800" cy="201168"/>
          </a:xfrm>
          <a:prstGeom prst="rect">
            <a:avLst/>
          </a:prstGeom>
          <a:noFill/>
        </p:spPr>
        <p:txBody>
          <a:bodyPr wrap="square" anchor="t" lIns="0" rIns="0" tIns="0" bIns="0">
            <a:spAutoFit/>
          </a:bodyPr>
          <a:lstStyle/>
          <a:p>
            <a:pPr algn="l">
              <a:lnSpc>
                <a:spcPct val="120000"/>
              </a:lnSpc>
            </a:pPr>
            <a:r>
              <a:rPr sz="900" b="1" i="0" spc="160">
                <a:solidFill>
                  <a:srgbClr val="38BDF8"/>
                </a:solidFill>
                <a:latin typeface="Helvetica Neue"/>
              </a:rPr>
              <a:t>EINGABE</a:t>
            </a:r>
          </a:p>
        </p:txBody>
      </p:sp>
      <p:sp>
        <p:nvSpPr>
          <p:cNvPr id="7" name="Rounded Rectangle 6"/>
          <p:cNvSpPr/>
          <p:nvPr/>
        </p:nvSpPr>
        <p:spPr>
          <a:xfrm>
            <a:off x="777240" y="1828800"/>
            <a:ext cx="4114800" cy="310896"/>
          </a:xfrm>
          <a:prstGeom prst="roundRect">
            <a:avLst>
              <a:gd name="adj" fmla="val 14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850392" y="1883664"/>
            <a:ext cx="201168" cy="201168"/>
          </a:xfrm>
          <a:prstGeom prst="roundRect">
            <a:avLst>
              <a:gd name="adj" fmla="val 3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909828" y="1933956"/>
            <a:ext cx="96012" cy="96012"/>
          </a:xfrm>
          <a:prstGeom prst="ellipse">
            <a:avLst/>
          </a:prstGeom>
          <a:noFill/>
          <a:ln w="1143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994867" y="2018995"/>
            <a:ext cx="50292" cy="1828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24712" y="1924812"/>
            <a:ext cx="2980944" cy="182880"/>
          </a:xfrm>
          <a:prstGeom prst="rect">
            <a:avLst/>
          </a:prstGeom>
          <a:noFill/>
        </p:spPr>
        <p:txBody>
          <a:bodyPr wrap="square" anchor="t" lIns="0" rIns="0" tIns="0" bIns="0">
            <a:spAutoFit/>
          </a:bodyPr>
          <a:lstStyle/>
          <a:p>
            <a:pPr algn="l">
              <a:lnSpc>
                <a:spcPct val="120000"/>
              </a:lnSpc>
            </a:pPr>
            <a:r>
              <a:rPr sz="900" b="0" i="0">
                <a:solidFill>
                  <a:srgbClr val="0F172A"/>
                </a:solidFill>
                <a:latin typeface="Menlo"/>
              </a:rPr>
              <a:t>thruster 14:31</a:t>
            </a:r>
          </a:p>
        </p:txBody>
      </p:sp>
      <p:sp>
        <p:nvSpPr>
          <p:cNvPr id="12" name="Rounded Rectangle 11"/>
          <p:cNvSpPr/>
          <p:nvPr/>
        </p:nvSpPr>
        <p:spPr>
          <a:xfrm>
            <a:off x="4416552" y="1906524"/>
            <a:ext cx="384048" cy="155448"/>
          </a:xfrm>
          <a:prstGeom prst="roundRect">
            <a:avLst>
              <a:gd name="adj" fmla="val 20000"/>
            </a:avLst>
          </a:prstGeom>
          <a:solidFill>
            <a:srgbClr val="F8FAFC"/>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16552" y="1943100"/>
            <a:ext cx="384048" cy="146304"/>
          </a:xfrm>
          <a:prstGeom prst="rect">
            <a:avLst/>
          </a:prstGeom>
          <a:noFill/>
        </p:spPr>
        <p:txBody>
          <a:bodyPr wrap="square" anchor="t" lIns="0" rIns="0" tIns="0" bIns="0">
            <a:spAutoFit/>
          </a:bodyPr>
          <a:lstStyle/>
          <a:p>
            <a:pPr algn="ctr">
              <a:lnSpc>
                <a:spcPct val="120000"/>
              </a:lnSpc>
            </a:pPr>
            <a:r>
              <a:rPr sz="700" b="0" i="0">
                <a:solidFill>
                  <a:srgbClr val="64748B"/>
                </a:solidFill>
                <a:latin typeface="Helvetica Neue"/>
              </a:rPr>
              <a:t>⌘K</a:t>
            </a:r>
          </a:p>
        </p:txBody>
      </p:sp>
      <p:cxnSp>
        <p:nvCxnSpPr>
          <p:cNvPr id="14" name="Connector 13"/>
          <p:cNvCxnSpPr/>
          <p:nvPr/>
        </p:nvCxnSpPr>
        <p:spPr>
          <a:xfrm>
            <a:off x="2834640" y="2212848"/>
            <a:ext cx="0" cy="292608"/>
          </a:xfrm>
          <a:prstGeom prst="line">
            <a:avLst/>
          </a:prstGeom>
          <a:ln w="17780">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344168" y="2560320"/>
            <a:ext cx="654710" cy="219456"/>
          </a:xfrm>
          <a:prstGeom prst="roundRect">
            <a:avLst>
              <a:gd name="adj" fmla="val 30000"/>
            </a:avLst>
          </a:prstGeom>
          <a:solidFill>
            <a:srgbClr val="141D33"/>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344168" y="2601468"/>
            <a:ext cx="654710" cy="164592"/>
          </a:xfrm>
          <a:prstGeom prst="rect">
            <a:avLst/>
          </a:prstGeom>
          <a:noFill/>
        </p:spPr>
        <p:txBody>
          <a:bodyPr wrap="square" anchor="t" lIns="0" rIns="0" tIns="0" bIns="0">
            <a:spAutoFit/>
          </a:bodyPr>
          <a:lstStyle/>
          <a:p>
            <a:pPr algn="ctr">
              <a:lnSpc>
                <a:spcPct val="120000"/>
              </a:lnSpc>
            </a:pPr>
            <a:r>
              <a:rPr sz="850" b="0" i="0">
                <a:solidFill>
                  <a:srgbClr val="FBBF24"/>
                </a:solidFill>
                <a:latin typeface="Menlo"/>
              </a:rPr>
              <a:t>thruster</a:t>
            </a:r>
          </a:p>
        </p:txBody>
      </p:sp>
      <p:sp>
        <p:nvSpPr>
          <p:cNvPr id="17" name="TextBox 16"/>
          <p:cNvSpPr txBox="1"/>
          <p:nvPr/>
        </p:nvSpPr>
        <p:spPr>
          <a:xfrm>
            <a:off x="2053742" y="2587752"/>
            <a:ext cx="502920" cy="182880"/>
          </a:xfrm>
          <a:prstGeom prst="rect">
            <a:avLst/>
          </a:prstGeom>
          <a:noFill/>
        </p:spPr>
        <p:txBody>
          <a:bodyPr wrap="square" anchor="t" lIns="0" rIns="0" tIns="0" bIns="0">
            <a:spAutoFit/>
          </a:bodyPr>
          <a:lstStyle/>
          <a:p>
            <a:pPr algn="ctr">
              <a:lnSpc>
                <a:spcPct val="120000"/>
              </a:lnSpc>
            </a:pPr>
            <a:r>
              <a:rPr sz="800" b="1" i="0">
                <a:solidFill>
                  <a:srgbClr val="8E9DBB"/>
                </a:solidFill>
                <a:latin typeface="Helvetica Neue"/>
              </a:rPr>
              <a:t>UND</a:t>
            </a:r>
          </a:p>
        </p:txBody>
      </p:sp>
      <p:sp>
        <p:nvSpPr>
          <p:cNvPr id="18" name="Rounded Rectangle 17"/>
          <p:cNvSpPr/>
          <p:nvPr/>
        </p:nvSpPr>
        <p:spPr>
          <a:xfrm>
            <a:off x="2556662" y="2560320"/>
            <a:ext cx="484632" cy="219456"/>
          </a:xfrm>
          <a:prstGeom prst="roundRect">
            <a:avLst>
              <a:gd name="adj" fmla="val 30000"/>
            </a:avLst>
          </a:prstGeom>
          <a:solidFill>
            <a:srgbClr val="141D33"/>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556662" y="2601468"/>
            <a:ext cx="484632" cy="164592"/>
          </a:xfrm>
          <a:prstGeom prst="rect">
            <a:avLst/>
          </a:prstGeom>
          <a:noFill/>
        </p:spPr>
        <p:txBody>
          <a:bodyPr wrap="square" anchor="t" lIns="0" rIns="0" tIns="0" bIns="0">
            <a:spAutoFit/>
          </a:bodyPr>
          <a:lstStyle/>
          <a:p>
            <a:pPr algn="ctr">
              <a:lnSpc>
                <a:spcPct val="120000"/>
              </a:lnSpc>
            </a:pPr>
            <a:r>
              <a:rPr sz="850" b="0" i="0">
                <a:solidFill>
                  <a:srgbClr val="FBBF24"/>
                </a:solidFill>
                <a:latin typeface="Menlo"/>
              </a:rPr>
              <a:t>14:31</a:t>
            </a:r>
          </a:p>
        </p:txBody>
      </p:sp>
      <p:cxnSp>
        <p:nvCxnSpPr>
          <p:cNvPr id="20" name="Connector 19"/>
          <p:cNvCxnSpPr/>
          <p:nvPr/>
        </p:nvCxnSpPr>
        <p:spPr>
          <a:xfrm>
            <a:off x="2834640" y="2834640"/>
            <a:ext cx="0" cy="292608"/>
          </a:xfrm>
          <a:prstGeom prst="line">
            <a:avLst/>
          </a:prstGeom>
          <a:ln w="17780">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3182112"/>
            <a:ext cx="4114800" cy="798957"/>
          </a:xfrm>
          <a:prstGeom prst="roundRect">
            <a:avLst>
              <a:gd name="adj" fmla="val 4500"/>
            </a:avLst>
          </a:prstGeom>
          <a:solidFill>
            <a:srgbClr val="0A1121"/>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78154" y="3300984"/>
            <a:ext cx="41148" cy="56121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14983" y="3319272"/>
            <a:ext cx="3703320" cy="220599"/>
          </a:xfrm>
          <a:prstGeom prst="rect">
            <a:avLst/>
          </a:prstGeom>
          <a:noFill/>
        </p:spPr>
        <p:txBody>
          <a:bodyPr wrap="square" anchor="t" lIns="0" rIns="0" tIns="0" bIns="0">
            <a:spAutoFit/>
          </a:bodyPr>
          <a:lstStyle/>
          <a:p>
            <a:pPr algn="l">
              <a:lnSpc>
                <a:spcPct val="100000"/>
              </a:lnSpc>
            </a:pPr>
            <a:r>
              <a:rPr sz="850" b="0" i="0">
                <a:solidFill>
                  <a:srgbClr val="8E9DBB"/>
                </a:solidFill>
                <a:latin typeface="Menlo"/>
              </a:rPr>
              <a:t>text = [name, type, time]</a:t>
            </a:r>
          </a:p>
        </p:txBody>
      </p:sp>
      <p:sp>
        <p:nvSpPr>
          <p:cNvPr id="24" name="TextBox 23"/>
          <p:cNvSpPr txBox="1"/>
          <p:nvPr/>
        </p:nvSpPr>
        <p:spPr>
          <a:xfrm>
            <a:off x="1014983" y="3494151"/>
            <a:ext cx="3703320" cy="220599"/>
          </a:xfrm>
          <a:prstGeom prst="rect">
            <a:avLst/>
          </a:prstGeom>
          <a:noFill/>
        </p:spPr>
        <p:txBody>
          <a:bodyPr wrap="square" anchor="t" lIns="0" rIns="0" tIns="0" bIns="0">
            <a:spAutoFit/>
          </a:bodyPr>
          <a:lstStyle/>
          <a:p>
            <a:pPr algn="l">
              <a:lnSpc>
                <a:spcPct val="100000"/>
              </a:lnSpc>
            </a:pPr>
            <a:r>
              <a:rPr sz="850" b="0" i="0">
                <a:solidFill>
                  <a:srgbClr val="8E9DBB"/>
                </a:solidFill>
                <a:latin typeface="Menlo"/>
              </a:rPr>
              <a:t>         .join(" ").toLowerCase()</a:t>
            </a:r>
          </a:p>
        </p:txBody>
      </p:sp>
      <p:sp>
        <p:nvSpPr>
          <p:cNvPr id="25" name="TextBox 24"/>
          <p:cNvSpPr txBox="1"/>
          <p:nvPr/>
        </p:nvSpPr>
        <p:spPr>
          <a:xfrm>
            <a:off x="1014983" y="3669030"/>
            <a:ext cx="3703320" cy="220599"/>
          </a:xfrm>
          <a:prstGeom prst="rect">
            <a:avLst/>
          </a:prstGeom>
          <a:noFill/>
        </p:spPr>
        <p:txBody>
          <a:bodyPr wrap="square" anchor="t" lIns="0" rIns="0" tIns="0" bIns="0">
            <a:spAutoFit/>
          </a:bodyPr>
          <a:lstStyle/>
          <a:p>
            <a:pPr algn="l">
              <a:lnSpc>
                <a:spcPct val="100000"/>
              </a:lnSpc>
            </a:pPr>
            <a:r>
              <a:rPr sz="850" b="0" i="0">
                <a:solidFill>
                  <a:srgbClr val="FBBF24"/>
                </a:solidFill>
                <a:latin typeface="Menlo"/>
              </a:rPr>
              <a:t>begriffe.every(b =&gt; text.includes(b))</a:t>
            </a:r>
          </a:p>
        </p:txBody>
      </p:sp>
      <p:sp>
        <p:nvSpPr>
          <p:cNvPr id="26" name="Rounded Rectangle 25"/>
          <p:cNvSpPr/>
          <p:nvPr/>
        </p:nvSpPr>
        <p:spPr>
          <a:xfrm>
            <a:off x="777240" y="4133087"/>
            <a:ext cx="4114800" cy="1170432"/>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78154" y="4297679"/>
            <a:ext cx="50292" cy="8412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3271" y="4315968"/>
            <a:ext cx="3657600" cy="274320"/>
          </a:xfrm>
          <a:prstGeom prst="rect">
            <a:avLst/>
          </a:prstGeom>
          <a:noFill/>
        </p:spPr>
        <p:txBody>
          <a:bodyPr wrap="square" anchor="t" lIns="0" rIns="0" tIns="0" bIns="0">
            <a:spAutoFit/>
          </a:bodyPr>
          <a:lstStyle/>
          <a:p>
            <a:pPr algn="l">
              <a:lnSpc>
                <a:spcPct val="120000"/>
              </a:lnSpc>
            </a:pPr>
            <a:r>
              <a:rPr sz="1050" b="1" i="0">
                <a:solidFill>
                  <a:srgbClr val="E8EDF7"/>
                </a:solidFill>
                <a:latin typeface="Helvetica Neue"/>
              </a:rPr>
              <a:t>Gesucht wird im rohen Zeitstempel</a:t>
            </a:r>
          </a:p>
        </p:txBody>
      </p:sp>
      <p:sp>
        <p:nvSpPr>
          <p:cNvPr id="29" name="TextBox 28"/>
          <p:cNvSpPr txBox="1"/>
          <p:nvPr/>
        </p:nvSpPr>
        <p:spPr>
          <a:xfrm>
            <a:off x="1033271" y="4700016"/>
            <a:ext cx="3657600" cy="438912"/>
          </a:xfrm>
          <a:prstGeom prst="rect">
            <a:avLst/>
          </a:prstGeom>
          <a:noFill/>
        </p:spPr>
        <p:txBody>
          <a:bodyPr wrap="square" anchor="t" lIns="0" rIns="0" tIns="0" bIns="0">
            <a:spAutoFit/>
          </a:bodyPr>
          <a:lstStyle/>
          <a:p>
            <a:pPr algn="l">
              <a:lnSpc>
                <a:spcPct val="130000"/>
              </a:lnSpc>
              <a:spcAft>
                <a:spcPts val="500"/>
              </a:spcAft>
            </a:pPr>
            <a:r>
              <a:rPr sz="900" b="0" i="0">
                <a:solidFill>
                  <a:srgbClr val="8E9DBB"/>
                </a:solidFill>
                <a:latin typeface="Helvetica Neue"/>
              </a:rPr>
              <a:t>2026-08-06T14:31:02  findet man</a:t>
            </a:r>
          </a:p>
          <a:p>
            <a:pPr algn="l">
              <a:lnSpc>
                <a:spcPct val="130000"/>
              </a:lnSpc>
              <a:spcAft>
                <a:spcPts val="500"/>
              </a:spcAft>
            </a:pPr>
            <a:r>
              <a:rPr sz="900" b="0" i="0">
                <a:solidFill>
                  <a:srgbClr val="8E9DBB"/>
                </a:solidFill>
                <a:latin typeface="Helvetica Neue"/>
              </a:rPr>
              <a:t>06.08.2026, 14:31:02  nicht</a:t>
            </a:r>
          </a:p>
        </p:txBody>
      </p:sp>
      <p:sp>
        <p:nvSpPr>
          <p:cNvPr id="30" name="TextBox 29"/>
          <p:cNvSpPr txBox="1"/>
          <p:nvPr/>
        </p:nvSpPr>
        <p:spPr>
          <a:xfrm>
            <a:off x="5486400" y="1572768"/>
            <a:ext cx="5928055" cy="201168"/>
          </a:xfrm>
          <a:prstGeom prst="rect">
            <a:avLst/>
          </a:prstGeom>
          <a:noFill/>
        </p:spPr>
        <p:txBody>
          <a:bodyPr wrap="square" anchor="t" lIns="0" rIns="0" tIns="0" bIns="0">
            <a:spAutoFit/>
          </a:bodyPr>
          <a:lstStyle/>
          <a:p>
            <a:pPr algn="l">
              <a:lnSpc>
                <a:spcPct val="120000"/>
              </a:lnSpc>
            </a:pPr>
            <a:r>
              <a:rPr sz="900" b="1" i="0" spc="160">
                <a:solidFill>
                  <a:srgbClr val="34D399"/>
                </a:solidFill>
                <a:latin typeface="Helvetica Neue"/>
              </a:rPr>
              <a:t>ERGEBNIS</a:t>
            </a:r>
          </a:p>
        </p:txBody>
      </p:sp>
      <p:sp>
        <p:nvSpPr>
          <p:cNvPr id="31" name="Rounded Rectangle 30"/>
          <p:cNvSpPr/>
          <p:nvPr/>
        </p:nvSpPr>
        <p:spPr>
          <a:xfrm>
            <a:off x="5486400" y="1828800"/>
            <a:ext cx="5928055" cy="2231136"/>
          </a:xfrm>
          <a:prstGeom prst="roundRect">
            <a:avLst>
              <a:gd name="adj" fmla="val 6000"/>
            </a:avLst>
          </a:prstGeom>
          <a:solidFill>
            <a:srgbClr val="FFFFFF"/>
          </a:solidFill>
          <a:ln w="7620">
            <a:solidFill>
              <a:srgbClr val="E8ED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96128" y="1920240"/>
            <a:ext cx="1331293" cy="164592"/>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NAME  ↕</a:t>
            </a:r>
          </a:p>
        </p:txBody>
      </p:sp>
      <p:sp>
        <p:nvSpPr>
          <p:cNvPr id="33" name="TextBox 32"/>
          <p:cNvSpPr txBox="1"/>
          <p:nvPr/>
        </p:nvSpPr>
        <p:spPr>
          <a:xfrm>
            <a:off x="7018861" y="1920240"/>
            <a:ext cx="768128" cy="164592"/>
          </a:xfrm>
          <a:prstGeom prst="rect">
            <a:avLst/>
          </a:prstGeom>
          <a:noFill/>
        </p:spPr>
        <p:txBody>
          <a:bodyPr wrap="square" anchor="t" lIns="0" rIns="0" tIns="0" bIns="0">
            <a:spAutoFit/>
          </a:bodyPr>
          <a:lstStyle/>
          <a:p>
            <a:pPr algn="l">
              <a:lnSpc>
                <a:spcPct val="120000"/>
              </a:lnSpc>
            </a:pPr>
            <a:r>
              <a:rPr sz="650" b="1" i="0" spc="160">
                <a:solidFill>
                  <a:srgbClr val="94A3B8"/>
                </a:solidFill>
                <a:latin typeface="Helvetica Neue"/>
              </a:rPr>
              <a:t>TYP  ↕</a:t>
            </a:r>
          </a:p>
        </p:txBody>
      </p:sp>
      <p:sp>
        <p:nvSpPr>
          <p:cNvPr id="34" name="TextBox 33"/>
          <p:cNvSpPr txBox="1"/>
          <p:nvPr/>
        </p:nvSpPr>
        <p:spPr>
          <a:xfrm>
            <a:off x="7878429" y="1920240"/>
            <a:ext cx="1094171" cy="164592"/>
          </a:xfrm>
          <a:prstGeom prst="rect">
            <a:avLst/>
          </a:prstGeom>
          <a:noFill/>
        </p:spPr>
        <p:txBody>
          <a:bodyPr wrap="square" anchor="t" lIns="0" rIns="0" tIns="0" bIns="0">
            <a:spAutoFit/>
          </a:bodyPr>
          <a:lstStyle/>
          <a:p>
            <a:pPr algn="r">
              <a:lnSpc>
                <a:spcPct val="120000"/>
              </a:lnSpc>
            </a:pPr>
            <a:r>
              <a:rPr sz="650" b="1" i="0" spc="160">
                <a:solidFill>
                  <a:srgbClr val="94A3B8"/>
                </a:solidFill>
                <a:latin typeface="Helvetica Neue"/>
              </a:rPr>
              <a:t>DRUCK (BAR)  ↕</a:t>
            </a:r>
          </a:p>
        </p:txBody>
      </p:sp>
      <p:sp>
        <p:nvSpPr>
          <p:cNvPr id="35" name="TextBox 34"/>
          <p:cNvSpPr txBox="1"/>
          <p:nvPr/>
        </p:nvSpPr>
        <p:spPr>
          <a:xfrm>
            <a:off x="9064040" y="1920240"/>
            <a:ext cx="1123811" cy="164592"/>
          </a:xfrm>
          <a:prstGeom prst="rect">
            <a:avLst/>
          </a:prstGeom>
          <a:noFill/>
        </p:spPr>
        <p:txBody>
          <a:bodyPr wrap="square" anchor="t" lIns="0" rIns="0" tIns="0" bIns="0">
            <a:spAutoFit/>
          </a:bodyPr>
          <a:lstStyle/>
          <a:p>
            <a:pPr algn="r">
              <a:lnSpc>
                <a:spcPct val="120000"/>
              </a:lnSpc>
            </a:pPr>
            <a:r>
              <a:rPr sz="650" b="1" i="0" spc="160">
                <a:solidFill>
                  <a:srgbClr val="94A3B8"/>
                </a:solidFill>
                <a:latin typeface="Helvetica Neue"/>
              </a:rPr>
              <a:t>TEMPERATUR (K)  ↕</a:t>
            </a:r>
          </a:p>
        </p:txBody>
      </p:sp>
      <p:sp>
        <p:nvSpPr>
          <p:cNvPr id="36" name="TextBox 35"/>
          <p:cNvSpPr txBox="1"/>
          <p:nvPr/>
        </p:nvSpPr>
        <p:spPr>
          <a:xfrm>
            <a:off x="10279291" y="1920240"/>
            <a:ext cx="1153451" cy="164592"/>
          </a:xfrm>
          <a:prstGeom prst="rect">
            <a:avLst/>
          </a:prstGeom>
          <a:noFill/>
        </p:spPr>
        <p:txBody>
          <a:bodyPr wrap="square" anchor="t" lIns="0" rIns="0" tIns="0" bIns="0">
            <a:spAutoFit/>
          </a:bodyPr>
          <a:lstStyle/>
          <a:p>
            <a:pPr algn="l">
              <a:lnSpc>
                <a:spcPct val="120000"/>
              </a:lnSpc>
            </a:pPr>
            <a:r>
              <a:rPr sz="650" b="1" i="0" spc="160">
                <a:solidFill>
                  <a:srgbClr val="2563EB"/>
                </a:solidFill>
                <a:latin typeface="Helvetica Neue"/>
              </a:rPr>
              <a:t>ZEITPUNKT  ↓</a:t>
            </a:r>
          </a:p>
        </p:txBody>
      </p:sp>
      <p:sp>
        <p:nvSpPr>
          <p:cNvPr id="37" name="Rectangle 36"/>
          <p:cNvSpPr/>
          <p:nvPr/>
        </p:nvSpPr>
        <p:spPr>
          <a:xfrm>
            <a:off x="5596128" y="2103120"/>
            <a:ext cx="5708599" cy="7315"/>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5541264" y="2139696"/>
            <a:ext cx="5818327" cy="292608"/>
          </a:xfrm>
          <a:prstGeom prst="roundRect">
            <a:avLst>
              <a:gd name="adj" fmla="val 12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596128" y="2221991"/>
            <a:ext cx="1331293"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thruster_1.a</a:t>
            </a:r>
          </a:p>
        </p:txBody>
      </p:sp>
      <p:sp>
        <p:nvSpPr>
          <p:cNvPr id="40" name="Rounded Rectangle 39"/>
          <p:cNvSpPr/>
          <p:nvPr/>
        </p:nvSpPr>
        <p:spPr>
          <a:xfrm>
            <a:off x="7018861" y="2194560"/>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073725" y="2217420"/>
            <a:ext cx="676688"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42" name="TextBox 41"/>
          <p:cNvSpPr txBox="1"/>
          <p:nvPr/>
        </p:nvSpPr>
        <p:spPr>
          <a:xfrm>
            <a:off x="7878429" y="2185415"/>
            <a:ext cx="105759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3,35</a:t>
            </a:r>
          </a:p>
        </p:txBody>
      </p:sp>
      <p:sp>
        <p:nvSpPr>
          <p:cNvPr id="43" name="Rounded Rectangle 42"/>
          <p:cNvSpPr/>
          <p:nvPr/>
        </p:nvSpPr>
        <p:spPr>
          <a:xfrm>
            <a:off x="8369096" y="2354579"/>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8369096" y="2354579"/>
            <a:ext cx="190087"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064040" y="2185415"/>
            <a:ext cx="108723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432,2</a:t>
            </a:r>
          </a:p>
        </p:txBody>
      </p:sp>
      <p:sp>
        <p:nvSpPr>
          <p:cNvPr id="46" name="Rounded Rectangle 45"/>
          <p:cNvSpPr/>
          <p:nvPr/>
        </p:nvSpPr>
        <p:spPr>
          <a:xfrm>
            <a:off x="9584347" y="2354579"/>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9584347" y="2354579"/>
            <a:ext cx="438802"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279291" y="2221991"/>
            <a:ext cx="1153451"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2026-08-06T14:31:02</a:t>
            </a:r>
          </a:p>
        </p:txBody>
      </p:sp>
      <p:sp>
        <p:nvSpPr>
          <p:cNvPr id="49" name="Rectangle 48"/>
          <p:cNvSpPr/>
          <p:nvPr/>
        </p:nvSpPr>
        <p:spPr>
          <a:xfrm>
            <a:off x="5596128" y="2432303"/>
            <a:ext cx="5708599"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596128" y="2532887"/>
            <a:ext cx="1331293"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o_tank_1</a:t>
            </a:r>
          </a:p>
        </p:txBody>
      </p:sp>
      <p:sp>
        <p:nvSpPr>
          <p:cNvPr id="51" name="Rounded Rectangle 50"/>
          <p:cNvSpPr/>
          <p:nvPr/>
        </p:nvSpPr>
        <p:spPr>
          <a:xfrm>
            <a:off x="7018861" y="2505456"/>
            <a:ext cx="555955"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073725" y="2528315"/>
            <a:ext cx="676688"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gas_valve</a:t>
            </a:r>
          </a:p>
        </p:txBody>
      </p:sp>
      <p:sp>
        <p:nvSpPr>
          <p:cNvPr id="53" name="TextBox 52"/>
          <p:cNvSpPr txBox="1"/>
          <p:nvPr/>
        </p:nvSpPr>
        <p:spPr>
          <a:xfrm>
            <a:off x="7878429" y="2496311"/>
            <a:ext cx="105759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5,10</a:t>
            </a:r>
          </a:p>
        </p:txBody>
      </p:sp>
      <p:sp>
        <p:nvSpPr>
          <p:cNvPr id="54" name="Rounded Rectangle 53"/>
          <p:cNvSpPr/>
          <p:nvPr/>
        </p:nvSpPr>
        <p:spPr>
          <a:xfrm>
            <a:off x="8369096" y="2665475"/>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8369096" y="2665475"/>
            <a:ext cx="306808"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9064040" y="2496311"/>
            <a:ext cx="108723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268,4</a:t>
            </a:r>
          </a:p>
        </p:txBody>
      </p:sp>
      <p:sp>
        <p:nvSpPr>
          <p:cNvPr id="57" name="Rounded Rectangle 56"/>
          <p:cNvSpPr/>
          <p:nvPr/>
        </p:nvSpPr>
        <p:spPr>
          <a:xfrm>
            <a:off x="9584347" y="2665475"/>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9584347" y="2665475"/>
            <a:ext cx="12925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10279291" y="2532887"/>
            <a:ext cx="1153451"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2026-08-06T14:31:11</a:t>
            </a:r>
          </a:p>
        </p:txBody>
      </p:sp>
      <p:sp>
        <p:nvSpPr>
          <p:cNvPr id="60" name="Rectangle 59"/>
          <p:cNvSpPr/>
          <p:nvPr/>
        </p:nvSpPr>
        <p:spPr>
          <a:xfrm>
            <a:off x="5596128" y="2743199"/>
            <a:ext cx="5708599"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ounded Rectangle 60"/>
          <p:cNvSpPr/>
          <p:nvPr/>
        </p:nvSpPr>
        <p:spPr>
          <a:xfrm>
            <a:off x="5541264" y="2761487"/>
            <a:ext cx="5818327" cy="292608"/>
          </a:xfrm>
          <a:prstGeom prst="roundRect">
            <a:avLst>
              <a:gd name="adj" fmla="val 12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5596128" y="2843783"/>
            <a:ext cx="1331293"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thruster_2.b</a:t>
            </a:r>
          </a:p>
        </p:txBody>
      </p:sp>
      <p:sp>
        <p:nvSpPr>
          <p:cNvPr id="63" name="Rounded Rectangle 62"/>
          <p:cNvSpPr/>
          <p:nvPr/>
        </p:nvSpPr>
        <p:spPr>
          <a:xfrm>
            <a:off x="7018861" y="2816351"/>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7073725" y="2839211"/>
            <a:ext cx="676688"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65" name="TextBox 64"/>
          <p:cNvSpPr txBox="1"/>
          <p:nvPr/>
        </p:nvSpPr>
        <p:spPr>
          <a:xfrm>
            <a:off x="7878429" y="2807207"/>
            <a:ext cx="105759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2,88</a:t>
            </a:r>
          </a:p>
        </p:txBody>
      </p:sp>
      <p:sp>
        <p:nvSpPr>
          <p:cNvPr id="66" name="Rounded Rectangle 65"/>
          <p:cNvSpPr/>
          <p:nvPr/>
        </p:nvSpPr>
        <p:spPr>
          <a:xfrm>
            <a:off x="8369096" y="2976371"/>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ounded Rectangle 66"/>
          <p:cNvSpPr/>
          <p:nvPr/>
        </p:nvSpPr>
        <p:spPr>
          <a:xfrm>
            <a:off x="8369096" y="2976371"/>
            <a:ext cx="15873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9064040" y="2807207"/>
            <a:ext cx="108723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455,7</a:t>
            </a:r>
          </a:p>
        </p:txBody>
      </p:sp>
      <p:sp>
        <p:nvSpPr>
          <p:cNvPr id="69" name="Rounded Rectangle 68"/>
          <p:cNvSpPr/>
          <p:nvPr/>
        </p:nvSpPr>
        <p:spPr>
          <a:xfrm>
            <a:off x="9584347" y="2976371"/>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ounded Rectangle 69"/>
          <p:cNvSpPr/>
          <p:nvPr/>
        </p:nvSpPr>
        <p:spPr>
          <a:xfrm>
            <a:off x="9584347" y="2976371"/>
            <a:ext cx="483211"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10279291" y="2843783"/>
            <a:ext cx="1153451"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2026-08-06T14:31:20</a:t>
            </a:r>
          </a:p>
        </p:txBody>
      </p:sp>
      <p:sp>
        <p:nvSpPr>
          <p:cNvPr id="72" name="Rectangle 71"/>
          <p:cNvSpPr/>
          <p:nvPr/>
        </p:nvSpPr>
        <p:spPr>
          <a:xfrm>
            <a:off x="5596128" y="3054095"/>
            <a:ext cx="5708599"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5596128" y="3154679"/>
            <a:ext cx="1331293"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thruster_1.a</a:t>
            </a:r>
          </a:p>
        </p:txBody>
      </p:sp>
      <p:sp>
        <p:nvSpPr>
          <p:cNvPr id="74" name="Rounded Rectangle 73"/>
          <p:cNvSpPr/>
          <p:nvPr/>
        </p:nvSpPr>
        <p:spPr>
          <a:xfrm>
            <a:off x="7018861" y="3127247"/>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7073725" y="3150107"/>
            <a:ext cx="676688"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76" name="TextBox 75"/>
          <p:cNvSpPr txBox="1"/>
          <p:nvPr/>
        </p:nvSpPr>
        <p:spPr>
          <a:xfrm>
            <a:off x="7878429" y="3118103"/>
            <a:ext cx="105759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3,41</a:t>
            </a:r>
          </a:p>
        </p:txBody>
      </p:sp>
      <p:sp>
        <p:nvSpPr>
          <p:cNvPr id="77" name="Rounded Rectangle 76"/>
          <p:cNvSpPr/>
          <p:nvPr/>
        </p:nvSpPr>
        <p:spPr>
          <a:xfrm>
            <a:off x="8369096" y="3287267"/>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ounded Rectangle 77"/>
          <p:cNvSpPr/>
          <p:nvPr/>
        </p:nvSpPr>
        <p:spPr>
          <a:xfrm>
            <a:off x="8369096" y="3287267"/>
            <a:ext cx="19408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9064040" y="3118103"/>
            <a:ext cx="108723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430,8</a:t>
            </a:r>
          </a:p>
        </p:txBody>
      </p:sp>
      <p:sp>
        <p:nvSpPr>
          <p:cNvPr id="80" name="Rounded Rectangle 79"/>
          <p:cNvSpPr/>
          <p:nvPr/>
        </p:nvSpPr>
        <p:spPr>
          <a:xfrm>
            <a:off x="9584347" y="3287267"/>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ounded Rectangle 80"/>
          <p:cNvSpPr/>
          <p:nvPr/>
        </p:nvSpPr>
        <p:spPr>
          <a:xfrm>
            <a:off x="9584347" y="3287267"/>
            <a:ext cx="436156"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10279291" y="3154679"/>
            <a:ext cx="1153451"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2026-08-06T14:29:53</a:t>
            </a:r>
          </a:p>
        </p:txBody>
      </p:sp>
      <p:sp>
        <p:nvSpPr>
          <p:cNvPr id="83" name="Rectangle 82"/>
          <p:cNvSpPr/>
          <p:nvPr/>
        </p:nvSpPr>
        <p:spPr>
          <a:xfrm>
            <a:off x="5596128" y="3364991"/>
            <a:ext cx="5708599"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5596128" y="3465575"/>
            <a:ext cx="1331293"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h_tank_2</a:t>
            </a:r>
          </a:p>
        </p:txBody>
      </p:sp>
      <p:sp>
        <p:nvSpPr>
          <p:cNvPr id="85" name="Rounded Rectangle 84"/>
          <p:cNvSpPr/>
          <p:nvPr/>
        </p:nvSpPr>
        <p:spPr>
          <a:xfrm>
            <a:off x="7018861" y="3438143"/>
            <a:ext cx="555955"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TextBox 85"/>
          <p:cNvSpPr txBox="1"/>
          <p:nvPr/>
        </p:nvSpPr>
        <p:spPr>
          <a:xfrm>
            <a:off x="7073725" y="3461003"/>
            <a:ext cx="676688"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gas_valve</a:t>
            </a:r>
          </a:p>
        </p:txBody>
      </p:sp>
      <p:sp>
        <p:nvSpPr>
          <p:cNvPr id="87" name="TextBox 86"/>
          <p:cNvSpPr txBox="1"/>
          <p:nvPr/>
        </p:nvSpPr>
        <p:spPr>
          <a:xfrm>
            <a:off x="7878429" y="3428999"/>
            <a:ext cx="105759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6,02</a:t>
            </a:r>
          </a:p>
        </p:txBody>
      </p:sp>
      <p:sp>
        <p:nvSpPr>
          <p:cNvPr id="88" name="Rounded Rectangle 87"/>
          <p:cNvSpPr/>
          <p:nvPr/>
        </p:nvSpPr>
        <p:spPr>
          <a:xfrm>
            <a:off x="8369096" y="3598163"/>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ounded Rectangle 88"/>
          <p:cNvSpPr/>
          <p:nvPr/>
        </p:nvSpPr>
        <p:spPr>
          <a:xfrm>
            <a:off x="8369096" y="3598163"/>
            <a:ext cx="36816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9064040" y="3428999"/>
            <a:ext cx="108723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240,1</a:t>
            </a:r>
          </a:p>
        </p:txBody>
      </p:sp>
      <p:sp>
        <p:nvSpPr>
          <p:cNvPr id="91" name="Rounded Rectangle 90"/>
          <p:cNvSpPr/>
          <p:nvPr/>
        </p:nvSpPr>
        <p:spPr>
          <a:xfrm>
            <a:off x="9584347" y="3598163"/>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ounded Rectangle 91"/>
          <p:cNvSpPr/>
          <p:nvPr/>
        </p:nvSpPr>
        <p:spPr>
          <a:xfrm>
            <a:off x="9584347" y="3598163"/>
            <a:ext cx="75779"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10279291" y="3465575"/>
            <a:ext cx="1153451"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2026-08-06T14:30:44</a:t>
            </a:r>
          </a:p>
        </p:txBody>
      </p:sp>
      <p:sp>
        <p:nvSpPr>
          <p:cNvPr id="94" name="Rectangle 93"/>
          <p:cNvSpPr/>
          <p:nvPr/>
        </p:nvSpPr>
        <p:spPr>
          <a:xfrm>
            <a:off x="5596128" y="3675887"/>
            <a:ext cx="5708599" cy="5486"/>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ounded Rectangle 94"/>
          <p:cNvSpPr/>
          <p:nvPr/>
        </p:nvSpPr>
        <p:spPr>
          <a:xfrm>
            <a:off x="5541264" y="3694175"/>
            <a:ext cx="5818327" cy="292608"/>
          </a:xfrm>
          <a:prstGeom prst="roundRect">
            <a:avLst>
              <a:gd name="adj" fmla="val 12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5596128" y="3776471"/>
            <a:ext cx="1331293" cy="182880"/>
          </a:xfrm>
          <a:prstGeom prst="rect">
            <a:avLst/>
          </a:prstGeom>
          <a:noFill/>
        </p:spPr>
        <p:txBody>
          <a:bodyPr wrap="square" anchor="t" lIns="0" rIns="0" tIns="0" bIns="0">
            <a:spAutoFit/>
          </a:bodyPr>
          <a:lstStyle/>
          <a:p>
            <a:pPr algn="l">
              <a:lnSpc>
                <a:spcPct val="120000"/>
              </a:lnSpc>
            </a:pPr>
            <a:r>
              <a:rPr sz="800" b="0" i="0">
                <a:solidFill>
                  <a:srgbClr val="0F172A"/>
                </a:solidFill>
                <a:latin typeface="Menlo"/>
              </a:rPr>
              <a:t>thruster_3.c</a:t>
            </a:r>
          </a:p>
        </p:txBody>
      </p:sp>
      <p:sp>
        <p:nvSpPr>
          <p:cNvPr id="97" name="Rounded Rectangle 96"/>
          <p:cNvSpPr/>
          <p:nvPr/>
        </p:nvSpPr>
        <p:spPr>
          <a:xfrm>
            <a:off x="7018861" y="3749039"/>
            <a:ext cx="499262" cy="173736"/>
          </a:xfrm>
          <a:prstGeom prst="roundRect">
            <a:avLst>
              <a:gd name="adj" fmla="val 32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TextBox 97"/>
          <p:cNvSpPr txBox="1"/>
          <p:nvPr/>
        </p:nvSpPr>
        <p:spPr>
          <a:xfrm>
            <a:off x="7073725" y="3771899"/>
            <a:ext cx="676688" cy="146304"/>
          </a:xfrm>
          <a:prstGeom prst="rect">
            <a:avLst/>
          </a:prstGeom>
          <a:noFill/>
        </p:spPr>
        <p:txBody>
          <a:bodyPr wrap="square" anchor="t" lIns="0" rIns="0" tIns="0" bIns="0">
            <a:spAutoFit/>
          </a:bodyPr>
          <a:lstStyle/>
          <a:p>
            <a:pPr algn="l">
              <a:lnSpc>
                <a:spcPct val="120000"/>
              </a:lnSpc>
            </a:pPr>
            <a:r>
              <a:rPr sz="650" b="0" i="0">
                <a:solidFill>
                  <a:srgbClr val="1D4ED8"/>
                </a:solidFill>
                <a:latin typeface="Helvetica Neue"/>
              </a:rPr>
              <a:t>thruster</a:t>
            </a:r>
          </a:p>
        </p:txBody>
      </p:sp>
      <p:sp>
        <p:nvSpPr>
          <p:cNvPr id="99" name="TextBox 98"/>
          <p:cNvSpPr txBox="1"/>
          <p:nvPr/>
        </p:nvSpPr>
        <p:spPr>
          <a:xfrm>
            <a:off x="7878429" y="3739895"/>
            <a:ext cx="105759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4,15</a:t>
            </a:r>
          </a:p>
        </p:txBody>
      </p:sp>
      <p:sp>
        <p:nvSpPr>
          <p:cNvPr id="100" name="Rounded Rectangle 99"/>
          <p:cNvSpPr/>
          <p:nvPr/>
        </p:nvSpPr>
        <p:spPr>
          <a:xfrm>
            <a:off x="8369096" y="3909059"/>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ounded Rectangle 100"/>
          <p:cNvSpPr/>
          <p:nvPr/>
        </p:nvSpPr>
        <p:spPr>
          <a:xfrm>
            <a:off x="8369096" y="3909059"/>
            <a:ext cx="243445"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9064040" y="3739895"/>
            <a:ext cx="1087235" cy="164592"/>
          </a:xfrm>
          <a:prstGeom prst="rect">
            <a:avLst/>
          </a:prstGeom>
          <a:noFill/>
        </p:spPr>
        <p:txBody>
          <a:bodyPr wrap="square" anchor="t" lIns="0" rIns="0" tIns="0" bIns="0">
            <a:spAutoFit/>
          </a:bodyPr>
          <a:lstStyle/>
          <a:p>
            <a:pPr algn="r">
              <a:lnSpc>
                <a:spcPct val="120000"/>
              </a:lnSpc>
            </a:pPr>
            <a:r>
              <a:rPr sz="800" b="0" i="0">
                <a:solidFill>
                  <a:srgbClr val="0F172A"/>
                </a:solidFill>
                <a:latin typeface="Menlo"/>
              </a:rPr>
              <a:t>398,6</a:t>
            </a:r>
          </a:p>
        </p:txBody>
      </p:sp>
      <p:sp>
        <p:nvSpPr>
          <p:cNvPr id="103" name="Rounded Rectangle 102"/>
          <p:cNvSpPr/>
          <p:nvPr/>
        </p:nvSpPr>
        <p:spPr>
          <a:xfrm>
            <a:off x="9584347" y="3909059"/>
            <a:ext cx="566928"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ounded Rectangle 103"/>
          <p:cNvSpPr/>
          <p:nvPr/>
        </p:nvSpPr>
        <p:spPr>
          <a:xfrm>
            <a:off x="9584347" y="3909059"/>
            <a:ext cx="375306"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TextBox 104"/>
          <p:cNvSpPr txBox="1"/>
          <p:nvPr/>
        </p:nvSpPr>
        <p:spPr>
          <a:xfrm>
            <a:off x="10279291" y="3776471"/>
            <a:ext cx="1153451" cy="182880"/>
          </a:xfrm>
          <a:prstGeom prst="rect">
            <a:avLst/>
          </a:prstGeom>
          <a:noFill/>
        </p:spPr>
        <p:txBody>
          <a:bodyPr wrap="square" anchor="t" lIns="0" rIns="0" tIns="0" bIns="0">
            <a:spAutoFit/>
          </a:bodyPr>
          <a:lstStyle/>
          <a:p>
            <a:pPr algn="l">
              <a:lnSpc>
                <a:spcPct val="120000"/>
              </a:lnSpc>
            </a:pPr>
            <a:r>
              <a:rPr sz="800" b="0" i="0">
                <a:solidFill>
                  <a:srgbClr val="64748B"/>
                </a:solidFill>
                <a:latin typeface="Helvetica Neue"/>
              </a:rPr>
              <a:t>2026-08-06T14:31:35</a:t>
            </a:r>
          </a:p>
        </p:txBody>
      </p:sp>
      <p:sp>
        <p:nvSpPr>
          <p:cNvPr id="106" name="TextBox 105"/>
          <p:cNvSpPr txBox="1"/>
          <p:nvPr/>
        </p:nvSpPr>
        <p:spPr>
          <a:xfrm>
            <a:off x="5486400" y="4114800"/>
            <a:ext cx="5928055" cy="201168"/>
          </a:xfrm>
          <a:prstGeom prst="rect">
            <a:avLst/>
          </a:prstGeom>
          <a:noFill/>
        </p:spPr>
        <p:txBody>
          <a:bodyPr wrap="square" anchor="t" lIns="0" rIns="0" tIns="0" bIns="0">
            <a:spAutoFit/>
          </a:bodyPr>
          <a:lstStyle/>
          <a:p>
            <a:pPr algn="l">
              <a:lnSpc>
                <a:spcPct val="120000"/>
              </a:lnSpc>
            </a:pPr>
            <a:r>
              <a:rPr sz="900" b="1" i="0">
                <a:solidFill>
                  <a:srgbClr val="2563EB"/>
                </a:solidFill>
                <a:latin typeface="Helvetica Neue"/>
              </a:rPr>
              <a:t>3 von 6 Datensätzen</a:t>
            </a:r>
          </a:p>
        </p:txBody>
      </p:sp>
      <p:sp>
        <p:nvSpPr>
          <p:cNvPr id="107" name="TextBox 106"/>
          <p:cNvSpPr txBox="1"/>
          <p:nvPr/>
        </p:nvSpPr>
        <p:spPr>
          <a:xfrm>
            <a:off x="5486400" y="4352544"/>
            <a:ext cx="5928055" cy="219456"/>
          </a:xfrm>
          <a:prstGeom prst="rect">
            <a:avLst/>
          </a:prstGeom>
          <a:noFill/>
        </p:spPr>
        <p:txBody>
          <a:bodyPr wrap="square" anchor="t" lIns="0" rIns="0" tIns="0" bIns="0">
            <a:spAutoFit/>
          </a:bodyPr>
          <a:lstStyle/>
          <a:p>
            <a:pPr algn="l">
              <a:lnSpc>
                <a:spcPct val="120000"/>
              </a:lnSpc>
            </a:pPr>
            <a:r>
              <a:rPr sz="900" b="0" i="0">
                <a:solidFill>
                  <a:srgbClr val="8E9DBB"/>
                </a:solidFill>
                <a:latin typeface="Helvetica Neue"/>
              </a:rPr>
              <a:t>Zeile 2 scheitert am Namen, Zeile 4 und 5 an der Uhrzeit.</a:t>
            </a:r>
          </a:p>
        </p:txBody>
      </p:sp>
      <p:sp>
        <p:nvSpPr>
          <p:cNvPr id="108" name="Rounded Rectangle 107"/>
          <p:cNvSpPr/>
          <p:nvPr/>
        </p:nvSpPr>
        <p:spPr>
          <a:xfrm>
            <a:off x="5486400" y="4754880"/>
            <a:ext cx="2834640" cy="1133856"/>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5487314" y="4919472"/>
            <a:ext cx="50292" cy="80467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TextBox 109"/>
          <p:cNvSpPr txBox="1"/>
          <p:nvPr/>
        </p:nvSpPr>
        <p:spPr>
          <a:xfrm>
            <a:off x="5742432" y="4937760"/>
            <a:ext cx="2377440" cy="274320"/>
          </a:xfrm>
          <a:prstGeom prst="rect">
            <a:avLst/>
          </a:prstGeom>
          <a:noFill/>
        </p:spPr>
        <p:txBody>
          <a:bodyPr wrap="square" anchor="t" lIns="0" rIns="0" tIns="0" bIns="0">
            <a:spAutoFit/>
          </a:bodyPr>
          <a:lstStyle/>
          <a:p>
            <a:pPr algn="l">
              <a:lnSpc>
                <a:spcPct val="120000"/>
              </a:lnSpc>
            </a:pPr>
            <a:r>
              <a:rPr sz="1050" b="1" i="0">
                <a:solidFill>
                  <a:srgbClr val="E8EDF7"/>
                </a:solidFill>
                <a:latin typeface="Helvetica Neue"/>
              </a:rPr>
              <a:t>Sortierung</a:t>
            </a:r>
          </a:p>
        </p:txBody>
      </p:sp>
      <p:sp>
        <p:nvSpPr>
          <p:cNvPr id="111" name="TextBox 110"/>
          <p:cNvSpPr txBox="1"/>
          <p:nvPr/>
        </p:nvSpPr>
        <p:spPr>
          <a:xfrm>
            <a:off x="5742432" y="5321808"/>
            <a:ext cx="2377440" cy="402335"/>
          </a:xfrm>
          <a:prstGeom prst="rect">
            <a:avLst/>
          </a:prstGeom>
          <a:noFill/>
        </p:spPr>
        <p:txBody>
          <a:bodyPr wrap="square" anchor="t" lIns="0" rIns="0" tIns="0" bIns="0">
            <a:spAutoFit/>
          </a:bodyPr>
          <a:lstStyle/>
          <a:p>
            <a:pPr algn="l">
              <a:lnSpc>
                <a:spcPct val="130000"/>
              </a:lnSpc>
              <a:spcAft>
                <a:spcPts val="500"/>
              </a:spcAft>
            </a:pPr>
            <a:r>
              <a:rPr sz="900" b="0" i="0">
                <a:solidFill>
                  <a:srgbClr val="8E9DBB"/>
                </a:solidFill>
                <a:latin typeface="Helvetica Neue"/>
              </a:rPr>
              <a:t>Text  ·  localeCompare(de)</a:t>
            </a:r>
          </a:p>
          <a:p>
            <a:pPr algn="l">
              <a:lnSpc>
                <a:spcPct val="130000"/>
              </a:lnSpc>
              <a:spcAft>
                <a:spcPts val="500"/>
              </a:spcAft>
            </a:pPr>
            <a:r>
              <a:rPr sz="900" b="0" i="0">
                <a:solidFill>
                  <a:srgbClr val="8E9DBB"/>
                </a:solidFill>
                <a:latin typeface="Helvetica Neue"/>
              </a:rPr>
              <a:t>Zahl  ·  x − y</a:t>
            </a:r>
          </a:p>
          <a:p>
            <a:pPr algn="l">
              <a:lnSpc>
                <a:spcPct val="130000"/>
              </a:lnSpc>
              <a:spcAft>
                <a:spcPts val="500"/>
              </a:spcAft>
            </a:pPr>
            <a:r>
              <a:rPr sz="900" b="0" i="0">
                <a:solidFill>
                  <a:srgbClr val="8E9DBB"/>
                </a:solidFill>
                <a:latin typeface="Helvetica Neue"/>
              </a:rPr>
              <a:t>Zeit  ·  parseZeit() → ms</a:t>
            </a:r>
          </a:p>
        </p:txBody>
      </p:sp>
      <p:sp>
        <p:nvSpPr>
          <p:cNvPr id="112" name="Rounded Rectangle 111"/>
          <p:cNvSpPr/>
          <p:nvPr/>
        </p:nvSpPr>
        <p:spPr>
          <a:xfrm>
            <a:off x="8595360" y="4754880"/>
            <a:ext cx="2819095" cy="1133856"/>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8596274" y="4919472"/>
            <a:ext cx="50292" cy="80467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TextBox 113"/>
          <p:cNvSpPr txBox="1"/>
          <p:nvPr/>
        </p:nvSpPr>
        <p:spPr>
          <a:xfrm>
            <a:off x="8851392" y="4937760"/>
            <a:ext cx="2361895" cy="274320"/>
          </a:xfrm>
          <a:prstGeom prst="rect">
            <a:avLst/>
          </a:prstGeom>
          <a:noFill/>
        </p:spPr>
        <p:txBody>
          <a:bodyPr wrap="square" anchor="t" lIns="0" rIns="0" tIns="0" bIns="0">
            <a:spAutoFit/>
          </a:bodyPr>
          <a:lstStyle/>
          <a:p>
            <a:pPr algn="l">
              <a:lnSpc>
                <a:spcPct val="120000"/>
              </a:lnSpc>
            </a:pPr>
            <a:r>
              <a:rPr sz="1050" b="1" i="0">
                <a:solidFill>
                  <a:srgbClr val="E8EDF7"/>
                </a:solidFill>
                <a:latin typeface="Helvetica Neue"/>
              </a:rPr>
              <a:t>Mini-Balken</a:t>
            </a:r>
          </a:p>
        </p:txBody>
      </p:sp>
      <p:sp>
        <p:nvSpPr>
          <p:cNvPr id="115" name="TextBox 114"/>
          <p:cNvSpPr txBox="1"/>
          <p:nvPr/>
        </p:nvSpPr>
        <p:spPr>
          <a:xfrm>
            <a:off x="8851392" y="5230368"/>
            <a:ext cx="868680" cy="164592"/>
          </a:xfrm>
          <a:prstGeom prst="rect">
            <a:avLst/>
          </a:prstGeom>
          <a:noFill/>
        </p:spPr>
        <p:txBody>
          <a:bodyPr wrap="square" anchor="t" lIns="0" rIns="0" tIns="0" bIns="0">
            <a:spAutoFit/>
          </a:bodyPr>
          <a:lstStyle/>
          <a:p>
            <a:pPr algn="l">
              <a:lnSpc>
                <a:spcPct val="120000"/>
              </a:lnSpc>
            </a:pPr>
            <a:r>
              <a:rPr sz="850" b="0" i="0">
                <a:solidFill>
                  <a:srgbClr val="E8EDF7"/>
                </a:solidFill>
                <a:latin typeface="Menlo"/>
              </a:rPr>
              <a:t>3,35 bar</a:t>
            </a:r>
          </a:p>
        </p:txBody>
      </p:sp>
      <p:sp>
        <p:nvSpPr>
          <p:cNvPr id="116" name="Rounded Rectangle 115"/>
          <p:cNvSpPr/>
          <p:nvPr/>
        </p:nvSpPr>
        <p:spPr>
          <a:xfrm>
            <a:off x="9784080" y="5294376"/>
            <a:ext cx="1356055"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ounded Rectangle 116"/>
          <p:cNvSpPr/>
          <p:nvPr/>
        </p:nvSpPr>
        <p:spPr>
          <a:xfrm>
            <a:off x="9784080" y="5294376"/>
            <a:ext cx="454677"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8851392" y="5504688"/>
            <a:ext cx="868680" cy="164592"/>
          </a:xfrm>
          <a:prstGeom prst="rect">
            <a:avLst/>
          </a:prstGeom>
          <a:noFill/>
        </p:spPr>
        <p:txBody>
          <a:bodyPr wrap="square" anchor="t" lIns="0" rIns="0" tIns="0" bIns="0">
            <a:spAutoFit/>
          </a:bodyPr>
          <a:lstStyle/>
          <a:p>
            <a:pPr algn="l">
              <a:lnSpc>
                <a:spcPct val="120000"/>
              </a:lnSpc>
            </a:pPr>
            <a:r>
              <a:rPr sz="850" b="0" i="0">
                <a:solidFill>
                  <a:srgbClr val="E8EDF7"/>
                </a:solidFill>
                <a:latin typeface="Menlo"/>
              </a:rPr>
              <a:t>432,2 K</a:t>
            </a:r>
          </a:p>
        </p:txBody>
      </p:sp>
      <p:sp>
        <p:nvSpPr>
          <p:cNvPr id="119" name="Rounded Rectangle 118"/>
          <p:cNvSpPr/>
          <p:nvPr/>
        </p:nvSpPr>
        <p:spPr>
          <a:xfrm>
            <a:off x="9784080" y="5568696"/>
            <a:ext cx="1356055" cy="41148"/>
          </a:xfrm>
          <a:prstGeom prst="roundRect">
            <a:avLst>
              <a:gd name="adj" fmla="val 50000"/>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ounded Rectangle 119"/>
          <p:cNvSpPr/>
          <p:nvPr/>
        </p:nvSpPr>
        <p:spPr>
          <a:xfrm>
            <a:off x="9784080" y="5568696"/>
            <a:ext cx="1049586" cy="411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TextBox 120"/>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122" name="TextBox 121"/>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38BDF8"/>
                </a:solidFill>
                <a:latin typeface="Helvetica Neue"/>
              </a:rPr>
              <a:t>KOPPLUNG</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Wer hängt von wem ab</a:t>
            </a:r>
          </a:p>
        </p:txBody>
      </p:sp>
      <p:sp>
        <p:nvSpPr>
          <p:cNvPr id="5" name="Rectangle 4"/>
          <p:cNvSpPr/>
          <p:nvPr/>
        </p:nvSpPr>
        <p:spPr>
          <a:xfrm>
            <a:off x="777240" y="1316736"/>
            <a:ext cx="1371600" cy="25603"/>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64208"/>
            <a:ext cx="2176272" cy="237744"/>
          </a:xfrm>
          <a:prstGeom prst="rect">
            <a:avLst/>
          </a:prstGeom>
          <a:noFill/>
        </p:spPr>
        <p:txBody>
          <a:bodyPr wrap="square" anchor="t" lIns="0" rIns="0" tIns="0" bIns="0">
            <a:spAutoFit/>
          </a:bodyPr>
          <a:lstStyle/>
          <a:p>
            <a:pPr algn="l">
              <a:lnSpc>
                <a:spcPct val="120000"/>
              </a:lnSpc>
            </a:pPr>
            <a:r>
              <a:rPr sz="850" b="1" i="0" spc="160">
                <a:solidFill>
                  <a:srgbClr val="38BDF8"/>
                </a:solidFill>
                <a:latin typeface="Helvetica Neue"/>
              </a:rPr>
              <a:t>KOMPONENTE</a:t>
            </a:r>
          </a:p>
        </p:txBody>
      </p:sp>
      <p:sp>
        <p:nvSpPr>
          <p:cNvPr id="7" name="TextBox 6"/>
          <p:cNvSpPr txBox="1"/>
          <p:nvPr/>
        </p:nvSpPr>
        <p:spPr>
          <a:xfrm>
            <a:off x="3063240" y="1664208"/>
            <a:ext cx="2176272" cy="237744"/>
          </a:xfrm>
          <a:prstGeom prst="rect">
            <a:avLst/>
          </a:prstGeom>
          <a:noFill/>
        </p:spPr>
        <p:txBody>
          <a:bodyPr wrap="square" anchor="t" lIns="0" rIns="0" tIns="0" bIns="0">
            <a:spAutoFit/>
          </a:bodyPr>
          <a:lstStyle/>
          <a:p>
            <a:pPr algn="l">
              <a:lnSpc>
                <a:spcPct val="120000"/>
              </a:lnSpc>
            </a:pPr>
            <a:r>
              <a:rPr sz="850" b="1" i="0" spc="160">
                <a:solidFill>
                  <a:srgbClr val="38BDF8"/>
                </a:solidFill>
                <a:latin typeface="Helvetica Neue"/>
              </a:rPr>
              <a:t>BRAUCHT</a:t>
            </a:r>
          </a:p>
        </p:txBody>
      </p:sp>
      <p:sp>
        <p:nvSpPr>
          <p:cNvPr id="8" name="TextBox 7"/>
          <p:cNvSpPr txBox="1"/>
          <p:nvPr/>
        </p:nvSpPr>
        <p:spPr>
          <a:xfrm>
            <a:off x="5349240" y="1664208"/>
            <a:ext cx="2542032" cy="237744"/>
          </a:xfrm>
          <a:prstGeom prst="rect">
            <a:avLst/>
          </a:prstGeom>
          <a:noFill/>
        </p:spPr>
        <p:txBody>
          <a:bodyPr wrap="square" anchor="t" lIns="0" rIns="0" tIns="0" bIns="0">
            <a:spAutoFit/>
          </a:bodyPr>
          <a:lstStyle/>
          <a:p>
            <a:pPr algn="l">
              <a:lnSpc>
                <a:spcPct val="120000"/>
              </a:lnSpc>
            </a:pPr>
            <a:r>
              <a:rPr sz="850" b="1" i="0" spc="160">
                <a:solidFill>
                  <a:srgbClr val="38BDF8"/>
                </a:solidFill>
                <a:latin typeface="Helvetica Neue"/>
              </a:rPr>
              <a:t>SCHNITTSTELLE</a:t>
            </a:r>
          </a:p>
        </p:txBody>
      </p:sp>
      <p:sp>
        <p:nvSpPr>
          <p:cNvPr id="9" name="TextBox 8"/>
          <p:cNvSpPr txBox="1"/>
          <p:nvPr/>
        </p:nvSpPr>
        <p:spPr>
          <a:xfrm>
            <a:off x="8001000" y="1664208"/>
            <a:ext cx="3300984" cy="237744"/>
          </a:xfrm>
          <a:prstGeom prst="rect">
            <a:avLst/>
          </a:prstGeom>
          <a:noFill/>
        </p:spPr>
        <p:txBody>
          <a:bodyPr wrap="square" anchor="t" lIns="0" rIns="0" tIns="0" bIns="0">
            <a:spAutoFit/>
          </a:bodyPr>
          <a:lstStyle/>
          <a:p>
            <a:pPr algn="l">
              <a:lnSpc>
                <a:spcPct val="120000"/>
              </a:lnSpc>
            </a:pPr>
            <a:r>
              <a:rPr sz="850" b="1" i="0" spc="160">
                <a:solidFill>
                  <a:srgbClr val="38BDF8"/>
                </a:solidFill>
                <a:latin typeface="Helvetica Neue"/>
              </a:rPr>
              <a:t>FÄLLT SIE AUS, DANN …</a:t>
            </a:r>
          </a:p>
        </p:txBody>
      </p:sp>
      <p:sp>
        <p:nvSpPr>
          <p:cNvPr id="10" name="Rectangle 9"/>
          <p:cNvSpPr/>
          <p:nvPr/>
        </p:nvSpPr>
        <p:spPr>
          <a:xfrm>
            <a:off x="777240" y="1975104"/>
            <a:ext cx="10634472" cy="12801"/>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67512" y="2002536"/>
            <a:ext cx="10853928" cy="457200"/>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2066544"/>
            <a:ext cx="2176272" cy="402336"/>
          </a:xfrm>
          <a:prstGeom prst="rect">
            <a:avLst/>
          </a:prstGeom>
          <a:noFill/>
        </p:spPr>
        <p:txBody>
          <a:bodyPr wrap="square" anchor="t" lIns="0" rIns="0" tIns="0" bIns="0">
            <a:spAutoFit/>
          </a:bodyPr>
          <a:lstStyle/>
          <a:p>
            <a:pPr algn="l">
              <a:lnSpc>
                <a:spcPct val="105000"/>
              </a:lnSpc>
            </a:pPr>
            <a:r>
              <a:rPr sz="1000" b="1" i="0">
                <a:solidFill>
                  <a:srgbClr val="E8EDF7"/>
                </a:solidFill>
                <a:latin typeface="Helvetica Neue"/>
              </a:rPr>
              <a:t>Satellit</a:t>
            </a:r>
          </a:p>
        </p:txBody>
      </p:sp>
      <p:sp>
        <p:nvSpPr>
          <p:cNvPr id="13" name="TextBox 12"/>
          <p:cNvSpPr txBox="1"/>
          <p:nvPr/>
        </p:nvSpPr>
        <p:spPr>
          <a:xfrm>
            <a:off x="3063240" y="2066544"/>
            <a:ext cx="21762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nichts</a:t>
            </a:r>
          </a:p>
        </p:txBody>
      </p:sp>
      <p:sp>
        <p:nvSpPr>
          <p:cNvPr id="14" name="TextBox 13"/>
          <p:cNvSpPr txBox="1"/>
          <p:nvPr/>
        </p:nvSpPr>
        <p:spPr>
          <a:xfrm>
            <a:off x="5349240" y="2066544"/>
            <a:ext cx="254203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schreibt Dateien</a:t>
            </a:r>
          </a:p>
        </p:txBody>
      </p:sp>
      <p:sp>
        <p:nvSpPr>
          <p:cNvPr id="15" name="TextBox 14"/>
          <p:cNvSpPr txBox="1"/>
          <p:nvPr/>
        </p:nvSpPr>
        <p:spPr>
          <a:xfrm>
            <a:off x="8001000" y="2066544"/>
            <a:ext cx="330098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keine neuen Daten, System bleibt stabil</a:t>
            </a:r>
          </a:p>
        </p:txBody>
      </p:sp>
      <p:sp>
        <p:nvSpPr>
          <p:cNvPr id="16" name="TextBox 15"/>
          <p:cNvSpPr txBox="1"/>
          <p:nvPr/>
        </p:nvSpPr>
        <p:spPr>
          <a:xfrm>
            <a:off x="777240" y="2523744"/>
            <a:ext cx="2176272" cy="402336"/>
          </a:xfrm>
          <a:prstGeom prst="rect">
            <a:avLst/>
          </a:prstGeom>
          <a:noFill/>
        </p:spPr>
        <p:txBody>
          <a:bodyPr wrap="square" anchor="t" lIns="0" rIns="0" tIns="0" bIns="0">
            <a:spAutoFit/>
          </a:bodyPr>
          <a:lstStyle/>
          <a:p>
            <a:pPr algn="l">
              <a:lnSpc>
                <a:spcPct val="105000"/>
              </a:lnSpc>
            </a:pPr>
            <a:r>
              <a:rPr sz="1000" b="1" i="0">
                <a:solidFill>
                  <a:srgbClr val="E8EDF7"/>
                </a:solidFill>
                <a:latin typeface="Helvetica Neue"/>
              </a:rPr>
              <a:t>Bodenstation</a:t>
            </a:r>
          </a:p>
        </p:txBody>
      </p:sp>
      <p:sp>
        <p:nvSpPr>
          <p:cNvPr id="17" name="TextBox 16"/>
          <p:cNvSpPr txBox="1"/>
          <p:nvPr/>
        </p:nvSpPr>
        <p:spPr>
          <a:xfrm>
            <a:off x="3063240" y="2523744"/>
            <a:ext cx="21762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Dateiablage, Verwaltung</a:t>
            </a:r>
          </a:p>
        </p:txBody>
      </p:sp>
      <p:sp>
        <p:nvSpPr>
          <p:cNvPr id="18" name="TextBox 17"/>
          <p:cNvSpPr txBox="1"/>
          <p:nvPr/>
        </p:nvSpPr>
        <p:spPr>
          <a:xfrm>
            <a:off x="5349240" y="2523744"/>
            <a:ext cx="254203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liest Dateien, HTTP POST</a:t>
            </a:r>
          </a:p>
        </p:txBody>
      </p:sp>
      <p:sp>
        <p:nvSpPr>
          <p:cNvPr id="19" name="TextBox 18"/>
          <p:cNvSpPr txBox="1"/>
          <p:nvPr/>
        </p:nvSpPr>
        <p:spPr>
          <a:xfrm>
            <a:off x="8001000" y="2523744"/>
            <a:ext cx="330098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Dateien stapeln sich im Ordner data/</a:t>
            </a:r>
          </a:p>
        </p:txBody>
      </p:sp>
      <p:sp>
        <p:nvSpPr>
          <p:cNvPr id="20" name="Rectangle 19"/>
          <p:cNvSpPr/>
          <p:nvPr/>
        </p:nvSpPr>
        <p:spPr>
          <a:xfrm>
            <a:off x="667512" y="2916936"/>
            <a:ext cx="10853928" cy="457200"/>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7240" y="2980944"/>
            <a:ext cx="2176272" cy="402336"/>
          </a:xfrm>
          <a:prstGeom prst="rect">
            <a:avLst/>
          </a:prstGeom>
          <a:noFill/>
        </p:spPr>
        <p:txBody>
          <a:bodyPr wrap="square" anchor="t" lIns="0" rIns="0" tIns="0" bIns="0">
            <a:spAutoFit/>
          </a:bodyPr>
          <a:lstStyle/>
          <a:p>
            <a:pPr algn="l">
              <a:lnSpc>
                <a:spcPct val="105000"/>
              </a:lnSpc>
            </a:pPr>
            <a:r>
              <a:rPr sz="1000" b="1" i="0">
                <a:solidFill>
                  <a:srgbClr val="E8EDF7"/>
                </a:solidFill>
                <a:latin typeface="Helvetica Neue"/>
              </a:rPr>
              <a:t>Verwaltung</a:t>
            </a:r>
          </a:p>
        </p:txBody>
      </p:sp>
      <p:sp>
        <p:nvSpPr>
          <p:cNvPr id="22" name="TextBox 21"/>
          <p:cNvSpPr txBox="1"/>
          <p:nvPr/>
        </p:nvSpPr>
        <p:spPr>
          <a:xfrm>
            <a:off x="3063240" y="2980944"/>
            <a:ext cx="21762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MongoDB</a:t>
            </a:r>
          </a:p>
        </p:txBody>
      </p:sp>
      <p:sp>
        <p:nvSpPr>
          <p:cNvPr id="23" name="TextBox 22"/>
          <p:cNvSpPr txBox="1"/>
          <p:nvPr/>
        </p:nvSpPr>
        <p:spPr>
          <a:xfrm>
            <a:off x="5349240" y="2980944"/>
            <a:ext cx="254203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HTTP, Motor-Treiber</a:t>
            </a:r>
          </a:p>
        </p:txBody>
      </p:sp>
      <p:sp>
        <p:nvSpPr>
          <p:cNvPr id="24" name="TextBox 23"/>
          <p:cNvSpPr txBox="1"/>
          <p:nvPr/>
        </p:nvSpPr>
        <p:spPr>
          <a:xfrm>
            <a:off x="8001000" y="2980944"/>
            <a:ext cx="330098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Bodenstation bekommt Fehler, Frontend leer</a:t>
            </a:r>
          </a:p>
        </p:txBody>
      </p:sp>
      <p:sp>
        <p:nvSpPr>
          <p:cNvPr id="25" name="TextBox 24"/>
          <p:cNvSpPr txBox="1"/>
          <p:nvPr/>
        </p:nvSpPr>
        <p:spPr>
          <a:xfrm>
            <a:off x="777240" y="3438144"/>
            <a:ext cx="2176272" cy="402336"/>
          </a:xfrm>
          <a:prstGeom prst="rect">
            <a:avLst/>
          </a:prstGeom>
          <a:noFill/>
        </p:spPr>
        <p:txBody>
          <a:bodyPr wrap="square" anchor="t" lIns="0" rIns="0" tIns="0" bIns="0">
            <a:spAutoFit/>
          </a:bodyPr>
          <a:lstStyle/>
          <a:p>
            <a:pPr algn="l">
              <a:lnSpc>
                <a:spcPct val="105000"/>
              </a:lnSpc>
            </a:pPr>
            <a:r>
              <a:rPr sz="1000" b="1" i="0">
                <a:solidFill>
                  <a:srgbClr val="E8EDF7"/>
                </a:solidFill>
                <a:latin typeface="Helvetica Neue"/>
              </a:rPr>
              <a:t>MongoDB</a:t>
            </a:r>
          </a:p>
        </p:txBody>
      </p:sp>
      <p:sp>
        <p:nvSpPr>
          <p:cNvPr id="26" name="TextBox 25"/>
          <p:cNvSpPr txBox="1"/>
          <p:nvPr/>
        </p:nvSpPr>
        <p:spPr>
          <a:xfrm>
            <a:off x="3063240" y="3438144"/>
            <a:ext cx="21762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Docker</a:t>
            </a:r>
          </a:p>
        </p:txBody>
      </p:sp>
      <p:sp>
        <p:nvSpPr>
          <p:cNvPr id="27" name="TextBox 26"/>
          <p:cNvSpPr txBox="1"/>
          <p:nvPr/>
        </p:nvSpPr>
        <p:spPr>
          <a:xfrm>
            <a:off x="5349240" y="3438144"/>
            <a:ext cx="254203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Port 27017</a:t>
            </a:r>
          </a:p>
        </p:txBody>
      </p:sp>
      <p:sp>
        <p:nvSpPr>
          <p:cNvPr id="28" name="TextBox 27"/>
          <p:cNvSpPr txBox="1"/>
          <p:nvPr/>
        </p:nvSpPr>
        <p:spPr>
          <a:xfrm>
            <a:off x="8001000" y="3438144"/>
            <a:ext cx="330098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Verwaltung antwortet mit 503</a:t>
            </a:r>
          </a:p>
        </p:txBody>
      </p:sp>
      <p:sp>
        <p:nvSpPr>
          <p:cNvPr id="29" name="Rectangle 28"/>
          <p:cNvSpPr/>
          <p:nvPr/>
        </p:nvSpPr>
        <p:spPr>
          <a:xfrm>
            <a:off x="667512" y="3831336"/>
            <a:ext cx="10853928" cy="457200"/>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77240" y="3895344"/>
            <a:ext cx="2176272" cy="402336"/>
          </a:xfrm>
          <a:prstGeom prst="rect">
            <a:avLst/>
          </a:prstGeom>
          <a:noFill/>
        </p:spPr>
        <p:txBody>
          <a:bodyPr wrap="square" anchor="t" lIns="0" rIns="0" tIns="0" bIns="0">
            <a:spAutoFit/>
          </a:bodyPr>
          <a:lstStyle/>
          <a:p>
            <a:pPr algn="l">
              <a:lnSpc>
                <a:spcPct val="105000"/>
              </a:lnSpc>
            </a:pPr>
            <a:r>
              <a:rPr sz="1000" b="1" i="0">
                <a:solidFill>
                  <a:srgbClr val="E8EDF7"/>
                </a:solidFill>
                <a:latin typeface="Helvetica Neue"/>
              </a:rPr>
              <a:t>Frontend</a:t>
            </a:r>
          </a:p>
        </p:txBody>
      </p:sp>
      <p:sp>
        <p:nvSpPr>
          <p:cNvPr id="31" name="TextBox 30"/>
          <p:cNvSpPr txBox="1"/>
          <p:nvPr/>
        </p:nvSpPr>
        <p:spPr>
          <a:xfrm>
            <a:off x="3063240" y="3895344"/>
            <a:ext cx="21762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Verwaltung</a:t>
            </a:r>
          </a:p>
        </p:txBody>
      </p:sp>
      <p:sp>
        <p:nvSpPr>
          <p:cNvPr id="32" name="TextBox 31"/>
          <p:cNvSpPr txBox="1"/>
          <p:nvPr/>
        </p:nvSpPr>
        <p:spPr>
          <a:xfrm>
            <a:off x="5349240" y="3895344"/>
            <a:ext cx="254203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3 × HTTP GET</a:t>
            </a:r>
          </a:p>
        </p:txBody>
      </p:sp>
      <p:sp>
        <p:nvSpPr>
          <p:cNvPr id="33" name="TextBox 32"/>
          <p:cNvSpPr txBox="1"/>
          <p:nvPr/>
        </p:nvSpPr>
        <p:spPr>
          <a:xfrm>
            <a:off x="8001000" y="3895344"/>
            <a:ext cx="330098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Tabelle meldet den Fehler, Daten laufen weiter</a:t>
            </a:r>
          </a:p>
        </p:txBody>
      </p:sp>
      <p:sp>
        <p:nvSpPr>
          <p:cNvPr id="34" name="Rounded Rectangle 33"/>
          <p:cNvSpPr/>
          <p:nvPr/>
        </p:nvSpPr>
        <p:spPr>
          <a:xfrm>
            <a:off x="777240" y="4462272"/>
            <a:ext cx="5120640" cy="16459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78154" y="4626864"/>
            <a:ext cx="50292" cy="131673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33271" y="4645152"/>
            <a:ext cx="4663440"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Was gut funktioniert</a:t>
            </a:r>
          </a:p>
        </p:txBody>
      </p:sp>
      <p:sp>
        <p:nvSpPr>
          <p:cNvPr id="37" name="TextBox 36"/>
          <p:cNvSpPr txBox="1"/>
          <p:nvPr/>
        </p:nvSpPr>
        <p:spPr>
          <a:xfrm>
            <a:off x="1033271" y="5029200"/>
            <a:ext cx="4663440" cy="91440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Jede Komponente kennt nur ihren direkten Nachbarn.</a:t>
            </a:r>
          </a:p>
          <a:p>
            <a:pPr algn="l">
              <a:lnSpc>
                <a:spcPct val="130000"/>
              </a:lnSpc>
              <a:spcAft>
                <a:spcPts val="500"/>
              </a:spcAft>
            </a:pPr>
            <a:r>
              <a:rPr sz="1000" b="0" i="0">
                <a:solidFill>
                  <a:srgbClr val="8E9DBB"/>
                </a:solidFill>
                <a:latin typeface="Helvetica Neue"/>
              </a:rPr>
              <a:t>Nur die Verwaltung spricht mit der Datenbank.</a:t>
            </a:r>
          </a:p>
          <a:p>
            <a:pPr algn="l">
              <a:lnSpc>
                <a:spcPct val="130000"/>
              </a:lnSpc>
              <a:spcAft>
                <a:spcPts val="500"/>
              </a:spcAft>
            </a:pPr>
            <a:r>
              <a:rPr sz="1000" b="0" i="0">
                <a:solidFill>
                  <a:srgbClr val="8E9DBB"/>
                </a:solidFill>
                <a:latin typeface="Helvetica Neue"/>
              </a:rPr>
              <a:t>Jeder Prozess ist einzeln neu startbar.</a:t>
            </a:r>
          </a:p>
        </p:txBody>
      </p:sp>
      <p:sp>
        <p:nvSpPr>
          <p:cNvPr id="38" name="Rounded Rectangle 37"/>
          <p:cNvSpPr/>
          <p:nvPr/>
        </p:nvSpPr>
        <p:spPr>
          <a:xfrm>
            <a:off x="6172200" y="4462272"/>
            <a:ext cx="5239512" cy="16459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173114" y="4626864"/>
            <a:ext cx="50292" cy="1316736"/>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28232" y="4645152"/>
            <a:ext cx="4782312"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Wo es noch wehtut</a:t>
            </a:r>
          </a:p>
        </p:txBody>
      </p:sp>
      <p:sp>
        <p:nvSpPr>
          <p:cNvPr id="41" name="TextBox 40"/>
          <p:cNvSpPr txBox="1"/>
          <p:nvPr/>
        </p:nvSpPr>
        <p:spPr>
          <a:xfrm>
            <a:off x="6428232" y="5029200"/>
            <a:ext cx="4782312" cy="91440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Die Bodenstation löscht die Datei auch dann, wenn der</a:t>
            </a:r>
          </a:p>
          <a:p>
            <a:pPr algn="l">
              <a:lnSpc>
                <a:spcPct val="130000"/>
              </a:lnSpc>
              <a:spcAft>
                <a:spcPts val="500"/>
              </a:spcAft>
            </a:pPr>
            <a:r>
              <a:rPr sz="1000" b="0" i="0">
                <a:solidFill>
                  <a:srgbClr val="8E9DBB"/>
                </a:solidFill>
                <a:latin typeface="Helvetica Neue"/>
              </a:rPr>
              <a:t>POST fehlschlägt – der Messwert ist dann verloren.</a:t>
            </a:r>
          </a:p>
          <a:p>
            <a:pPr algn="l">
              <a:lnSpc>
                <a:spcPct val="130000"/>
              </a:lnSpc>
              <a:spcAft>
                <a:spcPts val="500"/>
              </a:spcAft>
            </a:pPr>
            <a:r>
              <a:rPr sz="1000" b="0" i="0">
                <a:solidFill>
                  <a:srgbClr val="8E9DBB"/>
                </a:solidFill>
                <a:latin typeface="Helvetica Neue"/>
              </a:rPr>
              <a:t>Ein Wiederholversuch braucht vorher einen Schutz gegen</a:t>
            </a:r>
          </a:p>
          <a:p>
            <a:pPr algn="l">
              <a:lnSpc>
                <a:spcPct val="130000"/>
              </a:lnSpc>
              <a:spcAft>
                <a:spcPts val="500"/>
              </a:spcAft>
            </a:pPr>
            <a:r>
              <a:rPr sz="1000" b="0" i="0">
                <a:solidFill>
                  <a:srgbClr val="8E9DBB"/>
                </a:solidFill>
                <a:latin typeface="Helvetica Neue"/>
              </a:rPr>
              <a:t>doppelte Einträge in der Historie.</a:t>
            </a:r>
          </a:p>
        </p:txBody>
      </p:sp>
      <p:sp>
        <p:nvSpPr>
          <p:cNvPr id="42" name="TextBox 41"/>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43" name="TextBox 42"/>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AUS DER PRAXIS</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Fünf Fehler, die wir gefunden haben</a:t>
            </a:r>
          </a:p>
        </p:txBody>
      </p:sp>
      <p:sp>
        <p:nvSpPr>
          <p:cNvPr id="5" name="Rectangle 4"/>
          <p:cNvSpPr/>
          <p:nvPr/>
        </p:nvSpPr>
        <p:spPr>
          <a:xfrm>
            <a:off x="777240" y="1316736"/>
            <a:ext cx="1371600" cy="2560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64208"/>
            <a:ext cx="941831"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SYMPTOM</a:t>
            </a:r>
          </a:p>
        </p:txBody>
      </p:sp>
      <p:sp>
        <p:nvSpPr>
          <p:cNvPr id="7" name="TextBox 6"/>
          <p:cNvSpPr txBox="1"/>
          <p:nvPr/>
        </p:nvSpPr>
        <p:spPr>
          <a:xfrm>
            <a:off x="1828800" y="1664208"/>
            <a:ext cx="3090672"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URSACHE</a:t>
            </a:r>
          </a:p>
        </p:txBody>
      </p:sp>
      <p:sp>
        <p:nvSpPr>
          <p:cNvPr id="8" name="TextBox 7"/>
          <p:cNvSpPr txBox="1"/>
          <p:nvPr/>
        </p:nvSpPr>
        <p:spPr>
          <a:xfrm>
            <a:off x="5029200" y="1664208"/>
            <a:ext cx="3182112"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WARUM ES PASSIERTE</a:t>
            </a:r>
          </a:p>
        </p:txBody>
      </p:sp>
      <p:sp>
        <p:nvSpPr>
          <p:cNvPr id="9" name="TextBox 8"/>
          <p:cNvSpPr txBox="1"/>
          <p:nvPr/>
        </p:nvSpPr>
        <p:spPr>
          <a:xfrm>
            <a:off x="8321040" y="1664208"/>
            <a:ext cx="2980944"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LÖSUNG</a:t>
            </a:r>
          </a:p>
        </p:txBody>
      </p:sp>
      <p:sp>
        <p:nvSpPr>
          <p:cNvPr id="10" name="Rectangle 9"/>
          <p:cNvSpPr/>
          <p:nvPr/>
        </p:nvSpPr>
        <p:spPr>
          <a:xfrm>
            <a:off x="777240" y="1975104"/>
            <a:ext cx="10634472" cy="12801"/>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67512" y="2002536"/>
            <a:ext cx="10853928" cy="457200"/>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2066544"/>
            <a:ext cx="941831" cy="402336"/>
          </a:xfrm>
          <a:prstGeom prst="rect">
            <a:avLst/>
          </a:prstGeom>
          <a:noFill/>
        </p:spPr>
        <p:txBody>
          <a:bodyPr wrap="square" anchor="t" lIns="0" rIns="0" tIns="0" bIns="0">
            <a:spAutoFit/>
          </a:bodyPr>
          <a:lstStyle/>
          <a:p>
            <a:pPr algn="l">
              <a:lnSpc>
                <a:spcPct val="105000"/>
              </a:lnSpc>
            </a:pPr>
            <a:r>
              <a:rPr sz="1000" b="1" i="0">
                <a:solidFill>
                  <a:srgbClr val="F87171"/>
                </a:solidFill>
                <a:latin typeface="Helvetica Neue"/>
              </a:rPr>
              <a:t>422</a:t>
            </a:r>
          </a:p>
        </p:txBody>
      </p:sp>
      <p:sp>
        <p:nvSpPr>
          <p:cNvPr id="13" name="TextBox 12"/>
          <p:cNvSpPr txBox="1"/>
          <p:nvPr/>
        </p:nvSpPr>
        <p:spPr>
          <a:xfrm>
            <a:off x="1828800" y="2066544"/>
            <a:ext cx="30906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Zeitstempel im falschen Format</a:t>
            </a:r>
          </a:p>
        </p:txBody>
      </p:sp>
      <p:sp>
        <p:nvSpPr>
          <p:cNvPr id="14" name="TextBox 13"/>
          <p:cNvSpPr txBox="1"/>
          <p:nvPr/>
        </p:nvSpPr>
        <p:spPr>
          <a:xfrm>
            <a:off x="5029200" y="2066544"/>
            <a:ext cx="318211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Dateiname 20260806_1102 ist kein Datum</a:t>
            </a:r>
          </a:p>
        </p:txBody>
      </p:sp>
      <p:sp>
        <p:nvSpPr>
          <p:cNvPr id="15" name="TextBox 14"/>
          <p:cNvSpPr txBox="1"/>
          <p:nvPr/>
        </p:nvSpPr>
        <p:spPr>
          <a:xfrm>
            <a:off x="8321040" y="2066544"/>
            <a:ext cx="298094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In ISO-Format umwandeln</a:t>
            </a:r>
          </a:p>
        </p:txBody>
      </p:sp>
      <p:sp>
        <p:nvSpPr>
          <p:cNvPr id="16" name="TextBox 15"/>
          <p:cNvSpPr txBox="1"/>
          <p:nvPr/>
        </p:nvSpPr>
        <p:spPr>
          <a:xfrm>
            <a:off x="777240" y="2523744"/>
            <a:ext cx="941831" cy="402336"/>
          </a:xfrm>
          <a:prstGeom prst="rect">
            <a:avLst/>
          </a:prstGeom>
          <a:noFill/>
        </p:spPr>
        <p:txBody>
          <a:bodyPr wrap="square" anchor="t" lIns="0" rIns="0" tIns="0" bIns="0">
            <a:spAutoFit/>
          </a:bodyPr>
          <a:lstStyle/>
          <a:p>
            <a:pPr algn="l">
              <a:lnSpc>
                <a:spcPct val="105000"/>
              </a:lnSpc>
            </a:pPr>
            <a:r>
              <a:rPr sz="1000" b="1" i="0">
                <a:solidFill>
                  <a:srgbClr val="F87171"/>
                </a:solidFill>
                <a:latin typeface="Helvetica Neue"/>
              </a:rPr>
              <a:t>500</a:t>
            </a:r>
          </a:p>
        </p:txBody>
      </p:sp>
      <p:sp>
        <p:nvSpPr>
          <p:cNvPr id="17" name="TextBox 16"/>
          <p:cNvSpPr txBox="1"/>
          <p:nvPr/>
        </p:nvSpPr>
        <p:spPr>
          <a:xfrm>
            <a:off x="1828800" y="2523744"/>
            <a:ext cx="30906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find_many gibt es nicht</a:t>
            </a:r>
          </a:p>
        </p:txBody>
      </p:sp>
      <p:sp>
        <p:nvSpPr>
          <p:cNvPr id="18" name="TextBox 17"/>
          <p:cNvSpPr txBox="1"/>
          <p:nvPr/>
        </p:nvSpPr>
        <p:spPr>
          <a:xfrm>
            <a:off x="5029200" y="2523744"/>
            <a:ext cx="318211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Methode existiert in Motor nicht</a:t>
            </a:r>
          </a:p>
        </p:txBody>
      </p:sp>
      <p:sp>
        <p:nvSpPr>
          <p:cNvPr id="19" name="TextBox 18"/>
          <p:cNvSpPr txBox="1"/>
          <p:nvPr/>
        </p:nvSpPr>
        <p:spPr>
          <a:xfrm>
            <a:off x="8321040" y="2523744"/>
            <a:ext cx="298094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find bzw. aggregate</a:t>
            </a:r>
          </a:p>
        </p:txBody>
      </p:sp>
      <p:sp>
        <p:nvSpPr>
          <p:cNvPr id="20" name="Rectangle 19"/>
          <p:cNvSpPr/>
          <p:nvPr/>
        </p:nvSpPr>
        <p:spPr>
          <a:xfrm>
            <a:off x="667512" y="2916936"/>
            <a:ext cx="10853928" cy="457200"/>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7240" y="2980944"/>
            <a:ext cx="941831" cy="402336"/>
          </a:xfrm>
          <a:prstGeom prst="rect">
            <a:avLst/>
          </a:prstGeom>
          <a:noFill/>
        </p:spPr>
        <p:txBody>
          <a:bodyPr wrap="square" anchor="t" lIns="0" rIns="0" tIns="0" bIns="0">
            <a:spAutoFit/>
          </a:bodyPr>
          <a:lstStyle/>
          <a:p>
            <a:pPr algn="l">
              <a:lnSpc>
                <a:spcPct val="105000"/>
              </a:lnSpc>
            </a:pPr>
            <a:r>
              <a:rPr sz="1000" b="1" i="0">
                <a:solidFill>
                  <a:srgbClr val="F87171"/>
                </a:solidFill>
                <a:latin typeface="Helvetica Neue"/>
              </a:rPr>
              <a:t>500</a:t>
            </a:r>
          </a:p>
        </p:txBody>
      </p:sp>
      <p:sp>
        <p:nvSpPr>
          <p:cNvPr id="22" name="TextBox 21"/>
          <p:cNvSpPr txBox="1"/>
          <p:nvPr/>
        </p:nvSpPr>
        <p:spPr>
          <a:xfrm>
            <a:off x="1828800" y="2980944"/>
            <a:ext cx="30906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Altdaten ohne Feld current</a:t>
            </a:r>
          </a:p>
        </p:txBody>
      </p:sp>
      <p:sp>
        <p:nvSpPr>
          <p:cNvPr id="23" name="TextBox 22"/>
          <p:cNvSpPr txBox="1"/>
          <p:nvPr/>
        </p:nvSpPr>
        <p:spPr>
          <a:xfrm>
            <a:off x="5029200" y="2980944"/>
            <a:ext cx="318211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Ältere Codeversion schrieb anderes Format</a:t>
            </a:r>
          </a:p>
        </p:txBody>
      </p:sp>
      <p:sp>
        <p:nvSpPr>
          <p:cNvPr id="24" name="TextBox 23"/>
          <p:cNvSpPr txBox="1"/>
          <p:nvPr/>
        </p:nvSpPr>
        <p:spPr>
          <a:xfrm>
            <a:off x="8321040" y="2980944"/>
            <a:ext cx="298094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Filter plus Aufräumen</a:t>
            </a:r>
          </a:p>
        </p:txBody>
      </p:sp>
      <p:sp>
        <p:nvSpPr>
          <p:cNvPr id="25" name="TextBox 24"/>
          <p:cNvSpPr txBox="1"/>
          <p:nvPr/>
        </p:nvSpPr>
        <p:spPr>
          <a:xfrm>
            <a:off x="777240" y="3438144"/>
            <a:ext cx="941831" cy="402336"/>
          </a:xfrm>
          <a:prstGeom prst="rect">
            <a:avLst/>
          </a:prstGeom>
          <a:noFill/>
        </p:spPr>
        <p:txBody>
          <a:bodyPr wrap="square" anchor="t" lIns="0" rIns="0" tIns="0" bIns="0">
            <a:spAutoFit/>
          </a:bodyPr>
          <a:lstStyle/>
          <a:p>
            <a:pPr algn="l">
              <a:lnSpc>
                <a:spcPct val="105000"/>
              </a:lnSpc>
            </a:pPr>
            <a:r>
              <a:rPr sz="1000" b="1" i="0">
                <a:solidFill>
                  <a:srgbClr val="FBBF24"/>
                </a:solidFill>
                <a:latin typeface="Helvetica Neue"/>
              </a:rPr>
              <a:t>still</a:t>
            </a:r>
          </a:p>
        </p:txBody>
      </p:sp>
      <p:sp>
        <p:nvSpPr>
          <p:cNvPr id="26" name="TextBox 25"/>
          <p:cNvSpPr txBox="1"/>
          <p:nvPr/>
        </p:nvSpPr>
        <p:spPr>
          <a:xfrm>
            <a:off x="1828800" y="3438144"/>
            <a:ext cx="30906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Älterer Wert überschrieb den neuen</a:t>
            </a:r>
          </a:p>
        </p:txBody>
      </p:sp>
      <p:sp>
        <p:nvSpPr>
          <p:cNvPr id="27" name="TextBox 26"/>
          <p:cNvSpPr txBox="1"/>
          <p:nvPr/>
        </p:nvSpPr>
        <p:spPr>
          <a:xfrm>
            <a:off x="5029200" y="3438144"/>
            <a:ext cx="318211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Reihenfolge der Dateien war zufällig</a:t>
            </a:r>
          </a:p>
        </p:txBody>
      </p:sp>
      <p:sp>
        <p:nvSpPr>
          <p:cNvPr id="28" name="TextBox 27"/>
          <p:cNvSpPr txBox="1"/>
          <p:nvPr/>
        </p:nvSpPr>
        <p:spPr>
          <a:xfrm>
            <a:off x="8321040" y="3438144"/>
            <a:ext cx="298094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Nur ersetzen wenn jünger</a:t>
            </a:r>
          </a:p>
        </p:txBody>
      </p:sp>
      <p:sp>
        <p:nvSpPr>
          <p:cNvPr id="29" name="Rectangle 28"/>
          <p:cNvSpPr/>
          <p:nvPr/>
        </p:nvSpPr>
        <p:spPr>
          <a:xfrm>
            <a:off x="667512" y="3831336"/>
            <a:ext cx="10853928" cy="457200"/>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77240" y="3895344"/>
            <a:ext cx="941831" cy="402336"/>
          </a:xfrm>
          <a:prstGeom prst="rect">
            <a:avLst/>
          </a:prstGeom>
          <a:noFill/>
        </p:spPr>
        <p:txBody>
          <a:bodyPr wrap="square" anchor="t" lIns="0" rIns="0" tIns="0" bIns="0">
            <a:spAutoFit/>
          </a:bodyPr>
          <a:lstStyle/>
          <a:p>
            <a:pPr algn="l">
              <a:lnSpc>
                <a:spcPct val="105000"/>
              </a:lnSpc>
            </a:pPr>
            <a:r>
              <a:rPr sz="1000" b="1" i="0">
                <a:solidFill>
                  <a:srgbClr val="FBBF24"/>
                </a:solidFill>
                <a:latin typeface="Helvetica Neue"/>
              </a:rPr>
              <a:t>still</a:t>
            </a:r>
          </a:p>
        </p:txBody>
      </p:sp>
      <p:sp>
        <p:nvSpPr>
          <p:cNvPr id="31" name="TextBox 30"/>
          <p:cNvSpPr txBox="1"/>
          <p:nvPr/>
        </p:nvSpPr>
        <p:spPr>
          <a:xfrm>
            <a:off x="1828800" y="3895344"/>
            <a:ext cx="309067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Historie war nicht chronologisch</a:t>
            </a:r>
          </a:p>
        </p:txBody>
      </p:sp>
      <p:sp>
        <p:nvSpPr>
          <p:cNvPr id="32" name="TextBox 31"/>
          <p:cNvSpPr txBox="1"/>
          <p:nvPr/>
        </p:nvSpPr>
        <p:spPr>
          <a:xfrm>
            <a:off x="5029200" y="3895344"/>
            <a:ext cx="3182112"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Verzeichnis liefert keine Sortierung</a:t>
            </a:r>
          </a:p>
        </p:txBody>
      </p:sp>
      <p:sp>
        <p:nvSpPr>
          <p:cNvPr id="33" name="TextBox 32"/>
          <p:cNvSpPr txBox="1"/>
          <p:nvPr/>
        </p:nvSpPr>
        <p:spPr>
          <a:xfrm>
            <a:off x="8321040" y="3895344"/>
            <a:ext cx="2980944" cy="402336"/>
          </a:xfrm>
          <a:prstGeom prst="rect">
            <a:avLst/>
          </a:prstGeom>
          <a:noFill/>
        </p:spPr>
        <p:txBody>
          <a:bodyPr wrap="square" anchor="t" lIns="0" rIns="0" tIns="0" bIns="0">
            <a:spAutoFit/>
          </a:bodyPr>
          <a:lstStyle/>
          <a:p>
            <a:pPr algn="l">
              <a:lnSpc>
                <a:spcPct val="105000"/>
              </a:lnSpc>
            </a:pPr>
            <a:r>
              <a:rPr sz="1000" b="0" i="0">
                <a:solidFill>
                  <a:srgbClr val="8E9DBB"/>
                </a:solidFill>
                <a:latin typeface="Helvetica Neue"/>
              </a:rPr>
              <a:t>Dateien sortiert einlesen</a:t>
            </a:r>
          </a:p>
        </p:txBody>
      </p:sp>
      <p:sp>
        <p:nvSpPr>
          <p:cNvPr id="34" name="Rounded Rectangle 33"/>
          <p:cNvSpPr/>
          <p:nvPr/>
        </p:nvSpPr>
        <p:spPr>
          <a:xfrm>
            <a:off x="777240" y="4462272"/>
            <a:ext cx="5120640" cy="16459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78154" y="4626864"/>
            <a:ext cx="50292" cy="131673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33271" y="4645152"/>
            <a:ext cx="4663440"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Die stillen Fehler waren die schlimmeren</a:t>
            </a:r>
          </a:p>
        </p:txBody>
      </p:sp>
      <p:sp>
        <p:nvSpPr>
          <p:cNvPr id="37" name="TextBox 36"/>
          <p:cNvSpPr txBox="1"/>
          <p:nvPr/>
        </p:nvSpPr>
        <p:spPr>
          <a:xfrm>
            <a:off x="1033271" y="5029200"/>
            <a:ext cx="4663440" cy="91440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Ein Statuscode fällt sofort auf. Ein falsch sortierter</a:t>
            </a:r>
          </a:p>
          <a:p>
            <a:pPr algn="l">
              <a:lnSpc>
                <a:spcPct val="130000"/>
              </a:lnSpc>
              <a:spcAft>
                <a:spcPts val="500"/>
              </a:spcAft>
            </a:pPr>
            <a:r>
              <a:rPr sz="1000" b="0" i="0">
                <a:solidFill>
                  <a:srgbClr val="8E9DBB"/>
                </a:solidFill>
                <a:latin typeface="Helvetica Neue"/>
              </a:rPr>
              <a:t>Verlauf sieht auf den ersten Blick richtig aus –</a:t>
            </a:r>
          </a:p>
          <a:p>
            <a:pPr algn="l">
              <a:lnSpc>
                <a:spcPct val="130000"/>
              </a:lnSpc>
              <a:spcAft>
                <a:spcPts val="500"/>
              </a:spcAft>
            </a:pPr>
            <a:r>
              <a:rPr sz="1000" b="0" i="0">
                <a:solidFill>
                  <a:srgbClr val="8E9DBB"/>
                </a:solidFill>
                <a:latin typeface="Helvetica Neue"/>
              </a:rPr>
              <a:t>auffallen würde er erst im Diagramm.</a:t>
            </a:r>
          </a:p>
        </p:txBody>
      </p:sp>
      <p:sp>
        <p:nvSpPr>
          <p:cNvPr id="38" name="Rounded Rectangle 37"/>
          <p:cNvSpPr/>
          <p:nvPr/>
        </p:nvSpPr>
        <p:spPr>
          <a:xfrm>
            <a:off x="6172200" y="4462272"/>
            <a:ext cx="5239512" cy="164592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173114" y="4626864"/>
            <a:ext cx="50292" cy="131673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28232" y="4645152"/>
            <a:ext cx="4782312"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Was uns beim Suchen geholfen hat</a:t>
            </a:r>
          </a:p>
        </p:txBody>
      </p:sp>
      <p:sp>
        <p:nvSpPr>
          <p:cNvPr id="41" name="TextBox 40"/>
          <p:cNvSpPr txBox="1"/>
          <p:nvPr/>
        </p:nvSpPr>
        <p:spPr>
          <a:xfrm>
            <a:off x="6428232" y="5029200"/>
            <a:ext cx="4782312" cy="91440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Die Fehlermeldung des Servers nennt Feld und Grund.</a:t>
            </a:r>
          </a:p>
          <a:p>
            <a:pPr algn="l">
              <a:lnSpc>
                <a:spcPct val="130000"/>
              </a:lnSpc>
              <a:spcAft>
                <a:spcPts val="500"/>
              </a:spcAft>
            </a:pPr>
            <a:r>
              <a:rPr sz="1000" b="0" i="0">
                <a:solidFill>
                  <a:srgbClr val="8E9DBB"/>
                </a:solidFill>
                <a:latin typeface="Helvetica Neue"/>
              </a:rPr>
              <a:t>Den gesendeten Datensatz und die Antwort direkt</a:t>
            </a:r>
          </a:p>
          <a:p>
            <a:pPr algn="l">
              <a:lnSpc>
                <a:spcPct val="130000"/>
              </a:lnSpc>
              <a:spcAft>
                <a:spcPts val="500"/>
              </a:spcAft>
            </a:pPr>
            <a:r>
              <a:rPr sz="1000" b="0" i="0">
                <a:solidFill>
                  <a:srgbClr val="8E9DBB"/>
                </a:solidFill>
                <a:latin typeface="Helvetica Neue"/>
              </a:rPr>
              <a:t>nebeneinander protokollieren – dann sieht man sofort,</a:t>
            </a:r>
          </a:p>
          <a:p>
            <a:pPr algn="l">
              <a:lnSpc>
                <a:spcPct val="130000"/>
              </a:lnSpc>
              <a:spcAft>
                <a:spcPts val="500"/>
              </a:spcAft>
            </a:pPr>
            <a:r>
              <a:rPr sz="1000" b="0" i="0">
                <a:solidFill>
                  <a:srgbClr val="8E9DBB"/>
                </a:solidFill>
                <a:latin typeface="Helvetica Neue"/>
              </a:rPr>
              <a:t>ob der Fehler beim Sender oder beim Empfänger liegt.</a:t>
            </a:r>
          </a:p>
        </p:txBody>
      </p:sp>
      <p:sp>
        <p:nvSpPr>
          <p:cNvPr id="42" name="TextBox 41"/>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43" name="TextBox 42"/>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BACKEND · IM DETAIL</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Der Fehler 422</a:t>
            </a:r>
          </a:p>
        </p:txBody>
      </p:sp>
      <p:sp>
        <p:nvSpPr>
          <p:cNvPr id="5" name="Rectangle 4"/>
          <p:cNvSpPr/>
          <p:nvPr/>
        </p:nvSpPr>
        <p:spPr>
          <a:xfrm>
            <a:off x="777240" y="1316736"/>
            <a:ext cx="1371600" cy="25603"/>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627632"/>
            <a:ext cx="5120640" cy="256032"/>
          </a:xfrm>
          <a:prstGeom prst="rect">
            <a:avLst/>
          </a:prstGeom>
          <a:noFill/>
        </p:spPr>
        <p:txBody>
          <a:bodyPr wrap="square" anchor="t" lIns="0" rIns="0" tIns="0" bIns="0">
            <a:spAutoFit/>
          </a:bodyPr>
          <a:lstStyle/>
          <a:p>
            <a:pPr algn="l">
              <a:lnSpc>
                <a:spcPct val="120000"/>
              </a:lnSpc>
            </a:pPr>
            <a:r>
              <a:rPr sz="950" b="1" i="0" spc="160">
                <a:solidFill>
                  <a:srgbClr val="F87171"/>
                </a:solidFill>
                <a:latin typeface="Helvetica Neue"/>
              </a:rPr>
              <a:t>WAS DER SERVER ANTWORTETE</a:t>
            </a:r>
          </a:p>
        </p:txBody>
      </p:sp>
      <p:sp>
        <p:nvSpPr>
          <p:cNvPr id="7" name="Rounded Rectangle 6"/>
          <p:cNvSpPr/>
          <p:nvPr/>
        </p:nvSpPr>
        <p:spPr>
          <a:xfrm>
            <a:off x="777240" y="1920240"/>
            <a:ext cx="5120640" cy="1080008"/>
          </a:xfrm>
          <a:prstGeom prst="roundRect">
            <a:avLst>
              <a:gd name="adj" fmla="val 4500"/>
            </a:avLst>
          </a:prstGeom>
          <a:solidFill>
            <a:srgbClr val="0A1121"/>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8154" y="2048256"/>
            <a:ext cx="41148" cy="823976"/>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14983" y="2066544"/>
            <a:ext cx="4709159" cy="805688"/>
          </a:xfrm>
          <a:prstGeom prst="rect">
            <a:avLst/>
          </a:prstGeom>
          <a:noFill/>
        </p:spPr>
        <p:txBody>
          <a:bodyPr wrap="square" anchor="t" lIns="0" rIns="0" tIns="0" bIns="0">
            <a:spAutoFit/>
          </a:bodyPr>
          <a:lstStyle/>
          <a:p>
            <a:pPr algn="l">
              <a:lnSpc>
                <a:spcPct val="135000"/>
              </a:lnSpc>
            </a:pPr>
            <a:r>
              <a:rPr sz="1000" b="0" i="0">
                <a:solidFill>
                  <a:srgbClr val="C7D6EE"/>
                </a:solidFill>
                <a:latin typeface="Menlo"/>
              </a:rPr>
              <a:t>"loc":   ["body", "time"],</a:t>
            </a:r>
          </a:p>
          <a:p>
            <a:pPr algn="l">
              <a:lnSpc>
                <a:spcPct val="135000"/>
              </a:lnSpc>
            </a:pPr>
            <a:r>
              <a:rPr sz="1000" b="0" i="0">
                <a:solidFill>
                  <a:srgbClr val="C7D6EE"/>
                </a:solidFill>
                <a:latin typeface="Menlo"/>
              </a:rPr>
              <a:t>"msg":   "Input should be a valid</a:t>
            </a:r>
          </a:p>
          <a:p>
            <a:pPr algn="l">
              <a:lnSpc>
                <a:spcPct val="135000"/>
              </a:lnSpc>
            </a:pPr>
            <a:r>
              <a:rPr sz="1000" b="0" i="0">
                <a:solidFill>
                  <a:srgbClr val="C7D6EE"/>
                </a:solidFill>
                <a:latin typeface="Menlo"/>
              </a:rPr>
              <a:t>          datetime or date",</a:t>
            </a:r>
          </a:p>
          <a:p>
            <a:pPr algn="l">
              <a:lnSpc>
                <a:spcPct val="135000"/>
              </a:lnSpc>
            </a:pPr>
            <a:r>
              <a:rPr sz="1000" b="0" i="0">
                <a:solidFill>
                  <a:srgbClr val="C7D6EE"/>
                </a:solidFill>
                <a:latin typeface="Menlo"/>
              </a:rPr>
              <a:t>"input": "20260806_110216"</a:t>
            </a:r>
          </a:p>
        </p:txBody>
      </p:sp>
      <p:sp>
        <p:nvSpPr>
          <p:cNvPr id="10" name="TextBox 9"/>
          <p:cNvSpPr txBox="1"/>
          <p:nvPr/>
        </p:nvSpPr>
        <p:spPr>
          <a:xfrm>
            <a:off x="6172200" y="1627632"/>
            <a:ext cx="5239512" cy="256032"/>
          </a:xfrm>
          <a:prstGeom prst="rect">
            <a:avLst/>
          </a:prstGeom>
          <a:noFill/>
        </p:spPr>
        <p:txBody>
          <a:bodyPr wrap="square" anchor="t" lIns="0" rIns="0" tIns="0" bIns="0">
            <a:spAutoFit/>
          </a:bodyPr>
          <a:lstStyle/>
          <a:p>
            <a:pPr algn="l">
              <a:lnSpc>
                <a:spcPct val="120000"/>
              </a:lnSpc>
            </a:pPr>
            <a:r>
              <a:rPr sz="950" b="1" i="0" spc="160">
                <a:solidFill>
                  <a:srgbClr val="34D399"/>
                </a:solidFill>
                <a:latin typeface="Helvetica Neue"/>
              </a:rPr>
              <a:t>WAS GESENDET WURDE – UND WAS NÖTIG WAR</a:t>
            </a:r>
          </a:p>
        </p:txBody>
      </p:sp>
      <p:sp>
        <p:nvSpPr>
          <p:cNvPr id="11" name="Rounded Rectangle 10"/>
          <p:cNvSpPr/>
          <p:nvPr/>
        </p:nvSpPr>
        <p:spPr>
          <a:xfrm>
            <a:off x="6172200" y="1920240"/>
            <a:ext cx="5239512" cy="1276858"/>
          </a:xfrm>
          <a:prstGeom prst="roundRect">
            <a:avLst>
              <a:gd name="adj" fmla="val 4500"/>
            </a:avLst>
          </a:prstGeom>
          <a:solidFill>
            <a:srgbClr val="0A1121"/>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73114" y="2048256"/>
            <a:ext cx="41148" cy="102082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9944" y="2066544"/>
            <a:ext cx="4828032" cy="1002538"/>
          </a:xfrm>
          <a:prstGeom prst="rect">
            <a:avLst/>
          </a:prstGeom>
          <a:noFill/>
        </p:spPr>
        <p:txBody>
          <a:bodyPr wrap="square" anchor="t" lIns="0" rIns="0" tIns="0" bIns="0">
            <a:spAutoFit/>
          </a:bodyPr>
          <a:lstStyle/>
          <a:p>
            <a:pPr algn="l">
              <a:lnSpc>
                <a:spcPct val="135000"/>
              </a:lnSpc>
            </a:pPr>
            <a:r>
              <a:rPr sz="1000" b="0" i="0">
                <a:solidFill>
                  <a:srgbClr val="C7D6EE"/>
                </a:solidFill>
                <a:latin typeface="Menlo"/>
              </a:rPr>
              <a:t>falsch:  "time": "20260806_110216"</a:t>
            </a:r>
          </a:p>
          <a:p>
            <a:pPr algn="l">
              <a:lnSpc>
                <a:spcPct val="135000"/>
              </a:lnSpc>
            </a:pPr>
            <a:r>
              <a:rPr sz="1000" b="0" i="0">
                <a:solidFill>
                  <a:srgbClr val="C7D6EE"/>
                </a:solidFill>
                <a:latin typeface="Menlo"/>
              </a:rPr>
              <a:t>richtig: "time": "2026-08-06T11:02:16"</a:t>
            </a:r>
          </a:p>
          <a:p>
            <a:pPr algn="l">
              <a:lnSpc>
                <a:spcPct val="135000"/>
              </a:lnSpc>
            </a:pPr>
            <a:r>
              <a:rPr sz="1000" b="0" i="0">
                <a:solidFill>
                  <a:srgbClr val="C7D6EE"/>
                </a:solidFill>
                <a:latin typeface="Menlo"/>
              </a:rPr>
              <a:t/>
            </a:r>
          </a:p>
          <a:p>
            <a:pPr algn="l">
              <a:lnSpc>
                <a:spcPct val="135000"/>
              </a:lnSpc>
            </a:pPr>
            <a:r>
              <a:rPr sz="1000" b="0" i="0">
                <a:solidFill>
                  <a:srgbClr val="C7D6EE"/>
                </a:solidFill>
                <a:latin typeface="Menlo"/>
              </a:rPr>
              <a:t>datetime.strptime(name, "%Y%m%d_%H%M%S")</a:t>
            </a:r>
          </a:p>
          <a:p>
            <a:pPr algn="l">
              <a:lnSpc>
                <a:spcPct val="135000"/>
              </a:lnSpc>
            </a:pPr>
            <a:r>
              <a:rPr sz="1000" b="0" i="0">
                <a:solidFill>
                  <a:srgbClr val="C7D6EE"/>
                </a:solidFill>
                <a:latin typeface="Menlo"/>
              </a:rPr>
              <a:t>        .isoformat()</a:t>
            </a:r>
          </a:p>
        </p:txBody>
      </p:sp>
      <p:sp>
        <p:nvSpPr>
          <p:cNvPr id="14" name="Rectangle 13"/>
          <p:cNvSpPr/>
          <p:nvPr/>
        </p:nvSpPr>
        <p:spPr>
          <a:xfrm>
            <a:off x="777240" y="3703320"/>
            <a:ext cx="10637215"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77240" y="3913632"/>
            <a:ext cx="5120640" cy="16916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78154" y="4078224"/>
            <a:ext cx="50292" cy="136245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33271" y="4096512"/>
            <a:ext cx="4663440"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Was der Statuscode verrät</a:t>
            </a:r>
          </a:p>
        </p:txBody>
      </p:sp>
      <p:sp>
        <p:nvSpPr>
          <p:cNvPr id="18" name="TextBox 17"/>
          <p:cNvSpPr txBox="1"/>
          <p:nvPr/>
        </p:nvSpPr>
        <p:spPr>
          <a:xfrm>
            <a:off x="1033271" y="4480560"/>
            <a:ext cx="4663440" cy="96012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422 heißt: die Anfrage kam an, aber der Inhalt</a:t>
            </a:r>
          </a:p>
          <a:p>
            <a:pPr algn="l">
              <a:lnSpc>
                <a:spcPct val="130000"/>
              </a:lnSpc>
              <a:spcAft>
                <a:spcPts val="500"/>
              </a:spcAft>
            </a:pPr>
            <a:r>
              <a:rPr sz="1000" b="0" i="0">
                <a:solidFill>
                  <a:srgbClr val="8E9DBB"/>
                </a:solidFill>
                <a:latin typeface="Helvetica Neue"/>
              </a:rPr>
              <a:t>passt nicht zum Modell. Also kein Netzwerkproblem.</a:t>
            </a:r>
          </a:p>
          <a:p>
            <a:pPr algn="l">
              <a:lnSpc>
                <a:spcPct val="130000"/>
              </a:lnSpc>
              <a:spcAft>
                <a:spcPts val="500"/>
              </a:spcAft>
            </a:pPr>
            <a:r>
              <a:rPr sz="1000" b="0" i="0">
                <a:solidFill>
                  <a:srgbClr val="8E9DBB"/>
                </a:solidFill>
                <a:latin typeface="Helvetica Neue"/>
              </a:rPr>
              <a:t>Die Meldung nannte Feld, Grund und den gesendeten</a:t>
            </a:r>
          </a:p>
          <a:p>
            <a:pPr algn="l">
              <a:lnSpc>
                <a:spcPct val="130000"/>
              </a:lnSpc>
              <a:spcAft>
                <a:spcPts val="500"/>
              </a:spcAft>
            </a:pPr>
            <a:r>
              <a:rPr sz="1000" b="0" i="0">
                <a:solidFill>
                  <a:srgbClr val="8E9DBB"/>
                </a:solidFill>
                <a:latin typeface="Helvetica Neue"/>
              </a:rPr>
              <a:t>Wert – damit war die Ursache eindeutig.</a:t>
            </a:r>
          </a:p>
        </p:txBody>
      </p:sp>
      <p:sp>
        <p:nvSpPr>
          <p:cNvPr id="19" name="Rounded Rectangle 18"/>
          <p:cNvSpPr/>
          <p:nvPr/>
        </p:nvSpPr>
        <p:spPr>
          <a:xfrm>
            <a:off x="6172200" y="3913632"/>
            <a:ext cx="5239512" cy="16916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73114" y="4078224"/>
            <a:ext cx="50292" cy="1362456"/>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28232" y="4096512"/>
            <a:ext cx="4782312" cy="274320"/>
          </a:xfrm>
          <a:prstGeom prst="rect">
            <a:avLst/>
          </a:prstGeom>
          <a:noFill/>
        </p:spPr>
        <p:txBody>
          <a:bodyPr wrap="square" anchor="t" lIns="0" rIns="0" tIns="0" bIns="0">
            <a:spAutoFit/>
          </a:bodyPr>
          <a:lstStyle/>
          <a:p>
            <a:pPr algn="l">
              <a:lnSpc>
                <a:spcPct val="120000"/>
              </a:lnSpc>
            </a:pPr>
            <a:r>
              <a:rPr sz="1200" b="1" i="0">
                <a:solidFill>
                  <a:srgbClr val="E8EDF7"/>
                </a:solidFill>
                <a:latin typeface="Helvetica Neue"/>
              </a:rPr>
              <a:t>Die zweite, wichtigere Lehre</a:t>
            </a:r>
          </a:p>
        </p:txBody>
      </p:sp>
      <p:sp>
        <p:nvSpPr>
          <p:cNvPr id="22" name="TextBox 21"/>
          <p:cNvSpPr txBox="1"/>
          <p:nvPr/>
        </p:nvSpPr>
        <p:spPr>
          <a:xfrm>
            <a:off x="6428232" y="4480560"/>
            <a:ext cx="4782312" cy="960120"/>
          </a:xfrm>
          <a:prstGeom prst="rect">
            <a:avLst/>
          </a:prstGeom>
          <a:noFill/>
        </p:spPr>
        <p:txBody>
          <a:bodyPr wrap="square" anchor="t" lIns="0" rIns="0" tIns="0" bIns="0">
            <a:spAutoFit/>
          </a:bodyPr>
          <a:lstStyle/>
          <a:p>
            <a:pPr algn="l">
              <a:lnSpc>
                <a:spcPct val="130000"/>
              </a:lnSpc>
              <a:spcAft>
                <a:spcPts val="500"/>
              </a:spcAft>
            </a:pPr>
            <a:r>
              <a:rPr sz="1000" b="0" i="0">
                <a:solidFill>
                  <a:srgbClr val="8E9DBB"/>
                </a:solidFill>
                <a:latin typeface="Helvetica Neue"/>
              </a:rPr>
              <a:t>Nach dem Fix blieb der Fehler – der laufende Prozess</a:t>
            </a:r>
          </a:p>
          <a:p>
            <a:pPr algn="l">
              <a:lnSpc>
                <a:spcPct val="130000"/>
              </a:lnSpc>
              <a:spcAft>
                <a:spcPts val="500"/>
              </a:spcAft>
            </a:pPr>
            <a:r>
              <a:rPr sz="1000" b="0" i="0">
                <a:solidFill>
                  <a:srgbClr val="8E9DBB"/>
                </a:solidFill>
                <a:latin typeface="Helvetica Neue"/>
              </a:rPr>
              <a:t>hatte die geänderte Datei nie neu gelesen.</a:t>
            </a:r>
          </a:p>
          <a:p>
            <a:pPr algn="l">
              <a:lnSpc>
                <a:spcPct val="130000"/>
              </a:lnSpc>
              <a:spcAft>
                <a:spcPts val="500"/>
              </a:spcAft>
            </a:pPr>
            <a:r>
              <a:rPr sz="1000" b="0" i="0">
                <a:solidFill>
                  <a:srgbClr val="8E9DBB"/>
                </a:solidFill>
                <a:latin typeface="Helvetica Neue"/>
              </a:rPr>
              <a:t>uvicorn lädt mit --reload selbst neu.</a:t>
            </a:r>
          </a:p>
          <a:p>
            <a:pPr algn="l">
              <a:lnSpc>
                <a:spcPct val="130000"/>
              </a:lnSpc>
              <a:spcAft>
                <a:spcPts val="500"/>
              </a:spcAft>
            </a:pPr>
            <a:r>
              <a:rPr sz="1000" b="0" i="0">
                <a:solidFill>
                  <a:srgbClr val="8E9DBB"/>
                </a:solidFill>
                <a:latin typeface="Helvetica Neue"/>
              </a:rPr>
              <a:t>Eigene Skripte muss man von Hand neu starten.</a:t>
            </a:r>
          </a:p>
        </p:txBody>
      </p:sp>
      <p:sp>
        <p:nvSpPr>
          <p:cNvPr id="23" name="TextBox 22"/>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24" name="TextBox 23"/>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A78BFA"/>
                </a:solidFill>
                <a:latin typeface="Helvetica Neue"/>
              </a:rPr>
              <a:t>AUSBLICK</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Was als Nächstes kommt</a:t>
            </a:r>
          </a:p>
        </p:txBody>
      </p:sp>
      <p:sp>
        <p:nvSpPr>
          <p:cNvPr id="5" name="Rectangle 4"/>
          <p:cNvSpPr/>
          <p:nvPr/>
        </p:nvSpPr>
        <p:spPr>
          <a:xfrm>
            <a:off x="777240" y="1316736"/>
            <a:ext cx="1371600" cy="25603"/>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591056"/>
            <a:ext cx="5120640" cy="219456"/>
          </a:xfrm>
          <a:prstGeom prst="rect">
            <a:avLst/>
          </a:prstGeom>
          <a:noFill/>
        </p:spPr>
        <p:txBody>
          <a:bodyPr wrap="square" anchor="t" lIns="0" rIns="0" tIns="0" bIns="0">
            <a:spAutoFit/>
          </a:bodyPr>
          <a:lstStyle/>
          <a:p>
            <a:pPr algn="l">
              <a:lnSpc>
                <a:spcPct val="120000"/>
              </a:lnSpc>
            </a:pPr>
            <a:r>
              <a:rPr sz="950" b="1" i="0" spc="160">
                <a:solidFill>
                  <a:srgbClr val="FBBF24"/>
                </a:solidFill>
                <a:latin typeface="Helvetica Neue"/>
              </a:rPr>
              <a:t>FRONTEND</a:t>
            </a:r>
          </a:p>
        </p:txBody>
      </p:sp>
      <p:sp>
        <p:nvSpPr>
          <p:cNvPr id="7" name="TextBox 6"/>
          <p:cNvSpPr txBox="1"/>
          <p:nvPr/>
        </p:nvSpPr>
        <p:spPr>
          <a:xfrm>
            <a:off x="777240" y="1865376"/>
            <a:ext cx="2587752"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AUFGABE</a:t>
            </a:r>
          </a:p>
        </p:txBody>
      </p:sp>
      <p:sp>
        <p:nvSpPr>
          <p:cNvPr id="8" name="TextBox 7"/>
          <p:cNvSpPr txBox="1"/>
          <p:nvPr/>
        </p:nvSpPr>
        <p:spPr>
          <a:xfrm>
            <a:off x="3474720" y="1865376"/>
            <a:ext cx="2313432" cy="237744"/>
          </a:xfrm>
          <a:prstGeom prst="rect">
            <a:avLst/>
          </a:prstGeom>
          <a:noFill/>
        </p:spPr>
        <p:txBody>
          <a:bodyPr wrap="square" anchor="t" lIns="0" rIns="0" tIns="0" bIns="0">
            <a:spAutoFit/>
          </a:bodyPr>
          <a:lstStyle/>
          <a:p>
            <a:pPr algn="l">
              <a:lnSpc>
                <a:spcPct val="120000"/>
              </a:lnSpc>
            </a:pPr>
            <a:r>
              <a:rPr sz="850" b="1" i="0" spc="160">
                <a:solidFill>
                  <a:srgbClr val="FBBF24"/>
                </a:solidFill>
                <a:latin typeface="Helvetica Neue"/>
              </a:rPr>
              <a:t>WARUM</a:t>
            </a:r>
          </a:p>
        </p:txBody>
      </p:sp>
      <p:sp>
        <p:nvSpPr>
          <p:cNvPr id="9" name="Rectangle 8"/>
          <p:cNvSpPr/>
          <p:nvPr/>
        </p:nvSpPr>
        <p:spPr>
          <a:xfrm>
            <a:off x="777240" y="2176272"/>
            <a:ext cx="5120640" cy="12801"/>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67512" y="2203704"/>
            <a:ext cx="5340096" cy="493776"/>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2267712"/>
            <a:ext cx="2587752" cy="438912"/>
          </a:xfrm>
          <a:prstGeom prst="rect">
            <a:avLst/>
          </a:prstGeom>
          <a:noFill/>
        </p:spPr>
        <p:txBody>
          <a:bodyPr wrap="square" anchor="t" lIns="0" rIns="0" tIns="0" bIns="0">
            <a:spAutoFit/>
          </a:bodyPr>
          <a:lstStyle/>
          <a:p>
            <a:pPr algn="l">
              <a:lnSpc>
                <a:spcPct val="105000"/>
              </a:lnSpc>
            </a:pPr>
            <a:r>
              <a:rPr sz="950" b="1" i="0">
                <a:solidFill>
                  <a:srgbClr val="FBBF24"/>
                </a:solidFill>
                <a:latin typeface="Helvetica Neue"/>
              </a:rPr>
              <a:t>Verlaufsdiagramm</a:t>
            </a:r>
          </a:p>
        </p:txBody>
      </p:sp>
      <p:sp>
        <p:nvSpPr>
          <p:cNvPr id="12" name="TextBox 11"/>
          <p:cNvSpPr txBox="1"/>
          <p:nvPr/>
        </p:nvSpPr>
        <p:spPr>
          <a:xfrm>
            <a:off x="3474720" y="2267712"/>
            <a:ext cx="2313432" cy="438912"/>
          </a:xfrm>
          <a:prstGeom prst="rect">
            <a:avLst/>
          </a:prstGeom>
          <a:noFill/>
        </p:spPr>
        <p:txBody>
          <a:bodyPr wrap="square" anchor="t" lIns="0" rIns="0" tIns="0" bIns="0">
            <a:spAutoFit/>
          </a:bodyPr>
          <a:lstStyle/>
          <a:p>
            <a:pPr algn="l">
              <a:lnSpc>
                <a:spcPct val="105000"/>
              </a:lnSpc>
            </a:pPr>
            <a:r>
              <a:rPr sz="950" b="0" i="0">
                <a:solidFill>
                  <a:srgbClr val="8E9DBB"/>
                </a:solidFill>
                <a:latin typeface="Helvetica Neue"/>
              </a:rPr>
              <a:t>Die Historie ist bisher nur eine Tabelle</a:t>
            </a:r>
          </a:p>
        </p:txBody>
      </p:sp>
      <p:sp>
        <p:nvSpPr>
          <p:cNvPr id="13" name="TextBox 12"/>
          <p:cNvSpPr txBox="1"/>
          <p:nvPr/>
        </p:nvSpPr>
        <p:spPr>
          <a:xfrm>
            <a:off x="777240" y="2761488"/>
            <a:ext cx="2587752" cy="438912"/>
          </a:xfrm>
          <a:prstGeom prst="rect">
            <a:avLst/>
          </a:prstGeom>
          <a:noFill/>
        </p:spPr>
        <p:txBody>
          <a:bodyPr wrap="square" anchor="t" lIns="0" rIns="0" tIns="0" bIns="0">
            <a:spAutoFit/>
          </a:bodyPr>
          <a:lstStyle/>
          <a:p>
            <a:pPr algn="l">
              <a:lnSpc>
                <a:spcPct val="105000"/>
              </a:lnSpc>
            </a:pPr>
            <a:r>
              <a:rPr sz="950" b="1" i="0">
                <a:solidFill>
                  <a:srgbClr val="FBBF24"/>
                </a:solidFill>
                <a:latin typeface="Helvetica Neue"/>
              </a:rPr>
              <a:t>Ø-Werte auf den aktuellen Stand</a:t>
            </a:r>
          </a:p>
        </p:txBody>
      </p:sp>
      <p:sp>
        <p:nvSpPr>
          <p:cNvPr id="14" name="TextBox 13"/>
          <p:cNvSpPr txBox="1"/>
          <p:nvPr/>
        </p:nvSpPr>
        <p:spPr>
          <a:xfrm>
            <a:off x="3474720" y="2761488"/>
            <a:ext cx="2313432" cy="438912"/>
          </a:xfrm>
          <a:prstGeom prst="rect">
            <a:avLst/>
          </a:prstGeom>
          <a:noFill/>
        </p:spPr>
        <p:txBody>
          <a:bodyPr wrap="square" anchor="t" lIns="0" rIns="0" tIns="0" bIns="0">
            <a:spAutoFit/>
          </a:bodyPr>
          <a:lstStyle/>
          <a:p>
            <a:pPr algn="l">
              <a:lnSpc>
                <a:spcPct val="105000"/>
              </a:lnSpc>
            </a:pPr>
            <a:r>
              <a:rPr sz="950" b="0" i="0">
                <a:solidFill>
                  <a:srgbClr val="8E9DBB"/>
                </a:solidFill>
                <a:latin typeface="Helvetica Neue"/>
              </a:rPr>
              <a:t>sie rechnen heute über die ganze Historie</a:t>
            </a:r>
          </a:p>
        </p:txBody>
      </p:sp>
      <p:sp>
        <p:nvSpPr>
          <p:cNvPr id="15" name="Rectangle 14"/>
          <p:cNvSpPr/>
          <p:nvPr/>
        </p:nvSpPr>
        <p:spPr>
          <a:xfrm>
            <a:off x="667512" y="3191256"/>
            <a:ext cx="5340096" cy="493776"/>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77240" y="3255264"/>
            <a:ext cx="2587752" cy="438912"/>
          </a:xfrm>
          <a:prstGeom prst="rect">
            <a:avLst/>
          </a:prstGeom>
          <a:noFill/>
        </p:spPr>
        <p:txBody>
          <a:bodyPr wrap="square" anchor="t" lIns="0" rIns="0" tIns="0" bIns="0">
            <a:spAutoFit/>
          </a:bodyPr>
          <a:lstStyle/>
          <a:p>
            <a:pPr algn="l">
              <a:lnSpc>
                <a:spcPct val="105000"/>
              </a:lnSpc>
            </a:pPr>
            <a:r>
              <a:rPr sz="950" b="1" i="0">
                <a:solidFill>
                  <a:srgbClr val="FBBF24"/>
                </a:solidFill>
                <a:latin typeface="Helvetica Neue"/>
              </a:rPr>
              <a:t>DataFetching.jsx löschen</a:t>
            </a:r>
          </a:p>
        </p:txBody>
      </p:sp>
      <p:sp>
        <p:nvSpPr>
          <p:cNvPr id="17" name="TextBox 16"/>
          <p:cNvSpPr txBox="1"/>
          <p:nvPr/>
        </p:nvSpPr>
        <p:spPr>
          <a:xfrm>
            <a:off x="3474720" y="3255264"/>
            <a:ext cx="2313432" cy="438912"/>
          </a:xfrm>
          <a:prstGeom prst="rect">
            <a:avLst/>
          </a:prstGeom>
          <a:noFill/>
        </p:spPr>
        <p:txBody>
          <a:bodyPr wrap="square" anchor="t" lIns="0" rIns="0" tIns="0" bIns="0">
            <a:spAutoFit/>
          </a:bodyPr>
          <a:lstStyle/>
          <a:p>
            <a:pPr algn="l">
              <a:lnSpc>
                <a:spcPct val="105000"/>
              </a:lnSpc>
            </a:pPr>
            <a:r>
              <a:rPr sz="950" b="0" i="0">
                <a:solidFill>
                  <a:srgbClr val="8E9DBB"/>
                </a:solidFill>
                <a:latin typeface="Helvetica Neue"/>
              </a:rPr>
              <a:t>Restdatei, ruft GET /data/ – gibt es nur als POST</a:t>
            </a:r>
          </a:p>
        </p:txBody>
      </p:sp>
      <p:sp>
        <p:nvSpPr>
          <p:cNvPr id="18" name="TextBox 17"/>
          <p:cNvSpPr txBox="1"/>
          <p:nvPr/>
        </p:nvSpPr>
        <p:spPr>
          <a:xfrm>
            <a:off x="777240" y="3749040"/>
            <a:ext cx="2587752" cy="438912"/>
          </a:xfrm>
          <a:prstGeom prst="rect">
            <a:avLst/>
          </a:prstGeom>
          <a:noFill/>
        </p:spPr>
        <p:txBody>
          <a:bodyPr wrap="square" anchor="t" lIns="0" rIns="0" tIns="0" bIns="0">
            <a:spAutoFit/>
          </a:bodyPr>
          <a:lstStyle/>
          <a:p>
            <a:pPr algn="l">
              <a:lnSpc>
                <a:spcPct val="105000"/>
              </a:lnSpc>
            </a:pPr>
            <a:r>
              <a:rPr sz="950" b="1" i="0">
                <a:solidFill>
                  <a:srgbClr val="FBBF24"/>
                </a:solidFill>
                <a:latin typeface="Helvetica Neue"/>
              </a:rPr>
              <a:t>Die zwei Abruf-Schleifen zusammenlegen</a:t>
            </a:r>
          </a:p>
        </p:txBody>
      </p:sp>
      <p:sp>
        <p:nvSpPr>
          <p:cNvPr id="19" name="TextBox 18"/>
          <p:cNvSpPr txBox="1"/>
          <p:nvPr/>
        </p:nvSpPr>
        <p:spPr>
          <a:xfrm>
            <a:off x="3474720" y="3749040"/>
            <a:ext cx="2313432" cy="438912"/>
          </a:xfrm>
          <a:prstGeom prst="rect">
            <a:avLst/>
          </a:prstGeom>
          <a:noFill/>
        </p:spPr>
        <p:txBody>
          <a:bodyPr wrap="square" anchor="t" lIns="0" rIns="0" tIns="0" bIns="0">
            <a:spAutoFit/>
          </a:bodyPr>
          <a:lstStyle/>
          <a:p>
            <a:pPr algn="l">
              <a:lnSpc>
                <a:spcPct val="105000"/>
              </a:lnSpc>
            </a:pPr>
            <a:r>
              <a:rPr sz="950" b="0" i="0">
                <a:solidFill>
                  <a:srgbClr val="8E9DBB"/>
                </a:solidFill>
                <a:latin typeface="Helvetica Neue"/>
              </a:rPr>
              <a:t>Startseite und Datenansicht fragen getrennt</a:t>
            </a:r>
          </a:p>
        </p:txBody>
      </p:sp>
      <p:sp>
        <p:nvSpPr>
          <p:cNvPr id="20" name="TextBox 19"/>
          <p:cNvSpPr txBox="1"/>
          <p:nvPr/>
        </p:nvSpPr>
        <p:spPr>
          <a:xfrm>
            <a:off x="6172200" y="1591056"/>
            <a:ext cx="5129784" cy="219456"/>
          </a:xfrm>
          <a:prstGeom prst="rect">
            <a:avLst/>
          </a:prstGeom>
          <a:noFill/>
        </p:spPr>
        <p:txBody>
          <a:bodyPr wrap="square" anchor="t" lIns="0" rIns="0" tIns="0" bIns="0">
            <a:spAutoFit/>
          </a:bodyPr>
          <a:lstStyle/>
          <a:p>
            <a:pPr algn="l">
              <a:lnSpc>
                <a:spcPct val="120000"/>
              </a:lnSpc>
            </a:pPr>
            <a:r>
              <a:rPr sz="950" b="1" i="0" spc="160">
                <a:solidFill>
                  <a:srgbClr val="A78BFA"/>
                </a:solidFill>
                <a:latin typeface="Helvetica Neue"/>
              </a:rPr>
              <a:t>BACKEND</a:t>
            </a:r>
          </a:p>
        </p:txBody>
      </p:sp>
      <p:sp>
        <p:nvSpPr>
          <p:cNvPr id="21" name="TextBox 20"/>
          <p:cNvSpPr txBox="1"/>
          <p:nvPr/>
        </p:nvSpPr>
        <p:spPr>
          <a:xfrm>
            <a:off x="6172200" y="1865376"/>
            <a:ext cx="2587752" cy="237744"/>
          </a:xfrm>
          <a:prstGeom prst="rect">
            <a:avLst/>
          </a:prstGeom>
          <a:noFill/>
        </p:spPr>
        <p:txBody>
          <a:bodyPr wrap="square" anchor="t" lIns="0" rIns="0" tIns="0" bIns="0">
            <a:spAutoFit/>
          </a:bodyPr>
          <a:lstStyle/>
          <a:p>
            <a:pPr algn="l">
              <a:lnSpc>
                <a:spcPct val="120000"/>
              </a:lnSpc>
            </a:pPr>
            <a:r>
              <a:rPr sz="850" b="1" i="0" spc="160">
                <a:solidFill>
                  <a:srgbClr val="A78BFA"/>
                </a:solidFill>
                <a:latin typeface="Helvetica Neue"/>
              </a:rPr>
              <a:t>THEMA</a:t>
            </a:r>
          </a:p>
        </p:txBody>
      </p:sp>
      <p:sp>
        <p:nvSpPr>
          <p:cNvPr id="22" name="TextBox 21"/>
          <p:cNvSpPr txBox="1"/>
          <p:nvPr/>
        </p:nvSpPr>
        <p:spPr>
          <a:xfrm>
            <a:off x="8869680" y="1865376"/>
            <a:ext cx="2322576" cy="237744"/>
          </a:xfrm>
          <a:prstGeom prst="rect">
            <a:avLst/>
          </a:prstGeom>
          <a:noFill/>
        </p:spPr>
        <p:txBody>
          <a:bodyPr wrap="square" anchor="t" lIns="0" rIns="0" tIns="0" bIns="0">
            <a:spAutoFit/>
          </a:bodyPr>
          <a:lstStyle/>
          <a:p>
            <a:pPr algn="l">
              <a:lnSpc>
                <a:spcPct val="120000"/>
              </a:lnSpc>
            </a:pPr>
            <a:r>
              <a:rPr sz="850" b="1" i="0" spc="160">
                <a:solidFill>
                  <a:srgbClr val="A78BFA"/>
                </a:solidFill>
                <a:latin typeface="Helvetica Neue"/>
              </a:rPr>
              <a:t>AB WANN ES WEHTUT</a:t>
            </a:r>
          </a:p>
        </p:txBody>
      </p:sp>
      <p:sp>
        <p:nvSpPr>
          <p:cNvPr id="23" name="Rectangle 22"/>
          <p:cNvSpPr/>
          <p:nvPr/>
        </p:nvSpPr>
        <p:spPr>
          <a:xfrm>
            <a:off x="6172200" y="2176272"/>
            <a:ext cx="5129784" cy="12801"/>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062472" y="2203704"/>
            <a:ext cx="5349240" cy="493776"/>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172200" y="2267712"/>
            <a:ext cx="2587752" cy="438912"/>
          </a:xfrm>
          <a:prstGeom prst="rect">
            <a:avLst/>
          </a:prstGeom>
          <a:noFill/>
        </p:spPr>
        <p:txBody>
          <a:bodyPr wrap="square" anchor="t" lIns="0" rIns="0" tIns="0" bIns="0">
            <a:spAutoFit/>
          </a:bodyPr>
          <a:lstStyle/>
          <a:p>
            <a:pPr algn="l">
              <a:lnSpc>
                <a:spcPct val="105000"/>
              </a:lnSpc>
            </a:pPr>
            <a:r>
              <a:rPr sz="950" b="1" i="0">
                <a:solidFill>
                  <a:srgbClr val="A78BFA"/>
                </a:solidFill>
                <a:latin typeface="Helvetica Neue"/>
              </a:rPr>
              <a:t>Ein Dokument pro Messwert</a:t>
            </a:r>
          </a:p>
        </p:txBody>
      </p:sp>
      <p:sp>
        <p:nvSpPr>
          <p:cNvPr id="26" name="TextBox 25"/>
          <p:cNvSpPr txBox="1"/>
          <p:nvPr/>
        </p:nvSpPr>
        <p:spPr>
          <a:xfrm>
            <a:off x="8869680" y="2267712"/>
            <a:ext cx="2322576" cy="438912"/>
          </a:xfrm>
          <a:prstGeom prst="rect">
            <a:avLst/>
          </a:prstGeom>
          <a:noFill/>
        </p:spPr>
        <p:txBody>
          <a:bodyPr wrap="square" anchor="t" lIns="0" rIns="0" tIns="0" bIns="0">
            <a:spAutoFit/>
          </a:bodyPr>
          <a:lstStyle/>
          <a:p>
            <a:pPr algn="l">
              <a:lnSpc>
                <a:spcPct val="105000"/>
              </a:lnSpc>
            </a:pPr>
            <a:r>
              <a:rPr sz="950" b="0" i="0">
                <a:solidFill>
                  <a:srgbClr val="8E9DBB"/>
                </a:solidFill>
                <a:latin typeface="Helvetica Neue"/>
              </a:rPr>
              <a:t>255 882 Messwerte, ca. 190 Tage Dauerbetrieb</a:t>
            </a:r>
          </a:p>
        </p:txBody>
      </p:sp>
      <p:sp>
        <p:nvSpPr>
          <p:cNvPr id="27" name="TextBox 26"/>
          <p:cNvSpPr txBox="1"/>
          <p:nvPr/>
        </p:nvSpPr>
        <p:spPr>
          <a:xfrm>
            <a:off x="6172200" y="2761488"/>
            <a:ext cx="2587752" cy="438912"/>
          </a:xfrm>
          <a:prstGeom prst="rect">
            <a:avLst/>
          </a:prstGeom>
          <a:noFill/>
        </p:spPr>
        <p:txBody>
          <a:bodyPr wrap="square" anchor="t" lIns="0" rIns="0" tIns="0" bIns="0">
            <a:spAutoFit/>
          </a:bodyPr>
          <a:lstStyle/>
          <a:p>
            <a:pPr algn="l">
              <a:lnSpc>
                <a:spcPct val="105000"/>
              </a:lnSpc>
            </a:pPr>
            <a:r>
              <a:rPr sz="950" b="1" i="0">
                <a:solidFill>
                  <a:srgbClr val="A78BFA"/>
                </a:solidFill>
                <a:latin typeface="Helvetica Neue"/>
              </a:rPr>
              <a:t>Seitenweises Abrufen der Historie</a:t>
            </a:r>
          </a:p>
        </p:txBody>
      </p:sp>
      <p:sp>
        <p:nvSpPr>
          <p:cNvPr id="28" name="TextBox 27"/>
          <p:cNvSpPr txBox="1"/>
          <p:nvPr/>
        </p:nvSpPr>
        <p:spPr>
          <a:xfrm>
            <a:off x="8869680" y="2761488"/>
            <a:ext cx="2322576" cy="438912"/>
          </a:xfrm>
          <a:prstGeom prst="rect">
            <a:avLst/>
          </a:prstGeom>
          <a:noFill/>
        </p:spPr>
        <p:txBody>
          <a:bodyPr wrap="square" anchor="t" lIns="0" rIns="0" tIns="0" bIns="0">
            <a:spAutoFit/>
          </a:bodyPr>
          <a:lstStyle/>
          <a:p>
            <a:pPr algn="l">
              <a:lnSpc>
                <a:spcPct val="105000"/>
              </a:lnSpc>
            </a:pPr>
            <a:r>
              <a:rPr sz="950" b="0" i="0">
                <a:solidFill>
                  <a:srgbClr val="8E9DBB"/>
                </a:solidFill>
                <a:latin typeface="Helvetica Neue"/>
              </a:rPr>
              <a:t>ab etwa 40 000 Messwerten pro Sensor</a:t>
            </a:r>
          </a:p>
        </p:txBody>
      </p:sp>
      <p:sp>
        <p:nvSpPr>
          <p:cNvPr id="29" name="Rectangle 28"/>
          <p:cNvSpPr/>
          <p:nvPr/>
        </p:nvSpPr>
        <p:spPr>
          <a:xfrm>
            <a:off x="6062472" y="3191256"/>
            <a:ext cx="5349240" cy="493776"/>
          </a:xfrm>
          <a:prstGeom prst="rect">
            <a:avLst/>
          </a:prstGeom>
          <a:solidFill>
            <a:srgbClr val="141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172200" y="3255264"/>
            <a:ext cx="2587752" cy="438912"/>
          </a:xfrm>
          <a:prstGeom prst="rect">
            <a:avLst/>
          </a:prstGeom>
          <a:noFill/>
        </p:spPr>
        <p:txBody>
          <a:bodyPr wrap="square" anchor="t" lIns="0" rIns="0" tIns="0" bIns="0">
            <a:spAutoFit/>
          </a:bodyPr>
          <a:lstStyle/>
          <a:p>
            <a:pPr algn="l">
              <a:lnSpc>
                <a:spcPct val="105000"/>
              </a:lnSpc>
            </a:pPr>
            <a:r>
              <a:rPr sz="950" b="1" i="0">
                <a:solidFill>
                  <a:srgbClr val="A78BFA"/>
                </a:solidFill>
                <a:latin typeface="Helvetica Neue"/>
              </a:rPr>
              <a:t>Index auf Typ und Name</a:t>
            </a:r>
          </a:p>
        </p:txBody>
      </p:sp>
      <p:sp>
        <p:nvSpPr>
          <p:cNvPr id="31" name="TextBox 30"/>
          <p:cNvSpPr txBox="1"/>
          <p:nvPr/>
        </p:nvSpPr>
        <p:spPr>
          <a:xfrm>
            <a:off x="8869680" y="3255264"/>
            <a:ext cx="2322576" cy="438912"/>
          </a:xfrm>
          <a:prstGeom prst="rect">
            <a:avLst/>
          </a:prstGeom>
          <a:noFill/>
        </p:spPr>
        <p:txBody>
          <a:bodyPr wrap="square" anchor="t" lIns="0" rIns="0" tIns="0" bIns="0">
            <a:spAutoFit/>
          </a:bodyPr>
          <a:lstStyle/>
          <a:p>
            <a:pPr algn="l">
              <a:lnSpc>
                <a:spcPct val="105000"/>
              </a:lnSpc>
            </a:pPr>
            <a:r>
              <a:rPr sz="950" b="0" i="0">
                <a:solidFill>
                  <a:srgbClr val="8E9DBB"/>
                </a:solidFill>
                <a:latin typeface="Helvetica Neue"/>
              </a:rPr>
              <a:t>ab einigen hundert Sensoren</a:t>
            </a:r>
          </a:p>
        </p:txBody>
      </p:sp>
      <p:sp>
        <p:nvSpPr>
          <p:cNvPr id="32" name="TextBox 31"/>
          <p:cNvSpPr txBox="1"/>
          <p:nvPr/>
        </p:nvSpPr>
        <p:spPr>
          <a:xfrm>
            <a:off x="6172200" y="3749040"/>
            <a:ext cx="2587752" cy="438912"/>
          </a:xfrm>
          <a:prstGeom prst="rect">
            <a:avLst/>
          </a:prstGeom>
          <a:noFill/>
        </p:spPr>
        <p:txBody>
          <a:bodyPr wrap="square" anchor="t" lIns="0" rIns="0" tIns="0" bIns="0">
            <a:spAutoFit/>
          </a:bodyPr>
          <a:lstStyle/>
          <a:p>
            <a:pPr algn="l">
              <a:lnSpc>
                <a:spcPct val="105000"/>
              </a:lnSpc>
            </a:pPr>
            <a:r>
              <a:rPr sz="950" b="1" i="0">
                <a:solidFill>
                  <a:srgbClr val="A78BFA"/>
                </a:solidFill>
                <a:latin typeface="Helvetica Neue"/>
              </a:rPr>
              <a:t>Schutz gegen doppelte Einträge</a:t>
            </a:r>
          </a:p>
        </p:txBody>
      </p:sp>
      <p:sp>
        <p:nvSpPr>
          <p:cNvPr id="33" name="TextBox 32"/>
          <p:cNvSpPr txBox="1"/>
          <p:nvPr/>
        </p:nvSpPr>
        <p:spPr>
          <a:xfrm>
            <a:off x="8869680" y="3749040"/>
            <a:ext cx="2322576" cy="438912"/>
          </a:xfrm>
          <a:prstGeom prst="rect">
            <a:avLst/>
          </a:prstGeom>
          <a:noFill/>
        </p:spPr>
        <p:txBody>
          <a:bodyPr wrap="square" anchor="t" lIns="0" rIns="0" tIns="0" bIns="0">
            <a:spAutoFit/>
          </a:bodyPr>
          <a:lstStyle/>
          <a:p>
            <a:pPr algn="l">
              <a:lnSpc>
                <a:spcPct val="105000"/>
              </a:lnSpc>
            </a:pPr>
            <a:r>
              <a:rPr sz="950" b="0" i="0">
                <a:solidFill>
                  <a:srgbClr val="8E9DBB"/>
                </a:solidFill>
                <a:latin typeface="Helvetica Neue"/>
              </a:rPr>
              <a:t>sobald ein Wiederholversuch dazukommt</a:t>
            </a:r>
          </a:p>
        </p:txBody>
      </p:sp>
      <p:sp>
        <p:nvSpPr>
          <p:cNvPr id="34" name="Rounded Rectangle 33"/>
          <p:cNvSpPr/>
          <p:nvPr/>
        </p:nvSpPr>
        <p:spPr>
          <a:xfrm>
            <a:off x="777240" y="4261104"/>
            <a:ext cx="10637215" cy="713232"/>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78154" y="4407408"/>
            <a:ext cx="50292" cy="42062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33271" y="4389120"/>
            <a:ext cx="2926080" cy="219456"/>
          </a:xfrm>
          <a:prstGeom prst="rect">
            <a:avLst/>
          </a:prstGeom>
          <a:noFill/>
        </p:spPr>
        <p:txBody>
          <a:bodyPr wrap="square" anchor="t" lIns="0" rIns="0" tIns="0" bIns="0">
            <a:spAutoFit/>
          </a:bodyPr>
          <a:lstStyle/>
          <a:p>
            <a:pPr algn="l">
              <a:lnSpc>
                <a:spcPct val="120000"/>
              </a:lnSpc>
            </a:pPr>
            <a:r>
              <a:rPr sz="1050" b="1" i="0">
                <a:solidFill>
                  <a:srgbClr val="E8EDF7"/>
                </a:solidFill>
                <a:latin typeface="Helvetica Neue"/>
              </a:rPr>
              <a:t>Seit dem letzten Stand erledigt</a:t>
            </a:r>
          </a:p>
        </p:txBody>
      </p:sp>
      <p:sp>
        <p:nvSpPr>
          <p:cNvPr id="37" name="Rounded Rectangle 36"/>
          <p:cNvSpPr/>
          <p:nvPr/>
        </p:nvSpPr>
        <p:spPr>
          <a:xfrm>
            <a:off x="4160520" y="4370832"/>
            <a:ext cx="1174089" cy="219456"/>
          </a:xfrm>
          <a:prstGeom prst="roundRect">
            <a:avLst>
              <a:gd name="adj" fmla="val 30000"/>
            </a:avLst>
          </a:prstGeom>
          <a:solidFill>
            <a:srgbClr val="141D33"/>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160520" y="4411980"/>
            <a:ext cx="1174089" cy="164592"/>
          </a:xfrm>
          <a:prstGeom prst="rect">
            <a:avLst/>
          </a:prstGeom>
          <a:noFill/>
        </p:spPr>
        <p:txBody>
          <a:bodyPr wrap="square" anchor="t" lIns="0" rIns="0" tIns="0" bIns="0">
            <a:spAutoFit/>
          </a:bodyPr>
          <a:lstStyle/>
          <a:p>
            <a:pPr algn="ctr">
              <a:lnSpc>
                <a:spcPct val="120000"/>
              </a:lnSpc>
            </a:pPr>
            <a:r>
              <a:rPr sz="850" b="0" i="0">
                <a:solidFill>
                  <a:srgbClr val="34D399"/>
                </a:solidFill>
                <a:latin typeface="Helvetica Neue"/>
              </a:rPr>
              <a:t>CORS freigeschaltet</a:t>
            </a:r>
          </a:p>
        </p:txBody>
      </p:sp>
      <p:sp>
        <p:nvSpPr>
          <p:cNvPr id="39" name="Rounded Rectangle 38"/>
          <p:cNvSpPr/>
          <p:nvPr/>
        </p:nvSpPr>
        <p:spPr>
          <a:xfrm>
            <a:off x="5480913" y="4370832"/>
            <a:ext cx="1174089" cy="219456"/>
          </a:xfrm>
          <a:prstGeom prst="roundRect">
            <a:avLst>
              <a:gd name="adj" fmla="val 30000"/>
            </a:avLst>
          </a:prstGeom>
          <a:solidFill>
            <a:srgbClr val="141D33"/>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480913" y="4411980"/>
            <a:ext cx="1174089" cy="164592"/>
          </a:xfrm>
          <a:prstGeom prst="rect">
            <a:avLst/>
          </a:prstGeom>
          <a:noFill/>
        </p:spPr>
        <p:txBody>
          <a:bodyPr wrap="square" anchor="t" lIns="0" rIns="0" tIns="0" bIns="0">
            <a:spAutoFit/>
          </a:bodyPr>
          <a:lstStyle/>
          <a:p>
            <a:pPr algn="ctr">
              <a:lnSpc>
                <a:spcPct val="120000"/>
              </a:lnSpc>
            </a:pPr>
            <a:r>
              <a:rPr sz="850" b="0" i="0">
                <a:solidFill>
                  <a:srgbClr val="34D399"/>
                </a:solidFill>
                <a:latin typeface="Helvetica Neue"/>
              </a:rPr>
              <a:t>Frontend angebunden</a:t>
            </a:r>
          </a:p>
        </p:txBody>
      </p:sp>
      <p:sp>
        <p:nvSpPr>
          <p:cNvPr id="41" name="Rounded Rectangle 40"/>
          <p:cNvSpPr/>
          <p:nvPr/>
        </p:nvSpPr>
        <p:spPr>
          <a:xfrm>
            <a:off x="6801307" y="4370832"/>
            <a:ext cx="1583740" cy="219456"/>
          </a:xfrm>
          <a:prstGeom prst="roundRect">
            <a:avLst>
              <a:gd name="adj" fmla="val 30000"/>
            </a:avLst>
          </a:prstGeom>
          <a:solidFill>
            <a:srgbClr val="141D33"/>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801307" y="4411980"/>
            <a:ext cx="1583740" cy="164592"/>
          </a:xfrm>
          <a:prstGeom prst="rect">
            <a:avLst/>
          </a:prstGeom>
          <a:noFill/>
        </p:spPr>
        <p:txBody>
          <a:bodyPr wrap="square" anchor="t" lIns="0" rIns="0" tIns="0" bIns="0">
            <a:spAutoFit/>
          </a:bodyPr>
          <a:lstStyle/>
          <a:p>
            <a:pPr algn="ctr">
              <a:lnSpc>
                <a:spcPct val="120000"/>
              </a:lnSpc>
            </a:pPr>
            <a:r>
              <a:rPr sz="850" b="0" i="0">
                <a:solidFill>
                  <a:srgbClr val="34D399"/>
                </a:solidFill>
                <a:latin typeface="Helvetica Neue"/>
              </a:rPr>
              <a:t>3 von 4 Routen in Benutzung</a:t>
            </a:r>
          </a:p>
        </p:txBody>
      </p:sp>
      <p:sp>
        <p:nvSpPr>
          <p:cNvPr id="43" name="TextBox 42"/>
          <p:cNvSpPr txBox="1"/>
          <p:nvPr/>
        </p:nvSpPr>
        <p:spPr>
          <a:xfrm>
            <a:off x="1033271" y="4645152"/>
            <a:ext cx="10058400" cy="219456"/>
          </a:xfrm>
          <a:prstGeom prst="rect">
            <a:avLst/>
          </a:prstGeom>
          <a:noFill/>
        </p:spPr>
        <p:txBody>
          <a:bodyPr wrap="square" anchor="t" lIns="0" rIns="0" tIns="0" bIns="0">
            <a:spAutoFit/>
          </a:bodyPr>
          <a:lstStyle/>
          <a:p>
            <a:pPr algn="l">
              <a:lnSpc>
                <a:spcPct val="120000"/>
              </a:lnSpc>
            </a:pPr>
            <a:r>
              <a:rPr sz="900" b="0" i="0">
                <a:solidFill>
                  <a:srgbClr val="8E9DBB"/>
                </a:solidFill>
                <a:latin typeface="Helvetica Neue"/>
              </a:rPr>
              <a:t>Die Anzeige läuft – offen ist nicht mehr die Verbindung, sondern was sie genau holen soll.</a:t>
            </a:r>
          </a:p>
        </p:txBody>
      </p:sp>
      <p:sp>
        <p:nvSpPr>
          <p:cNvPr id="44" name="Rectangle 43"/>
          <p:cNvSpPr/>
          <p:nvPr/>
        </p:nvSpPr>
        <p:spPr>
          <a:xfrm>
            <a:off x="777240" y="5230368"/>
            <a:ext cx="10637215" cy="10058"/>
          </a:xfrm>
          <a:prstGeom prst="rect">
            <a:avLst/>
          </a:prstGeom>
          <a:solidFill>
            <a:srgbClr val="2230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77240" y="5394960"/>
            <a:ext cx="10637215" cy="457200"/>
          </a:xfrm>
          <a:prstGeom prst="rect">
            <a:avLst/>
          </a:prstGeom>
          <a:noFill/>
        </p:spPr>
        <p:txBody>
          <a:bodyPr wrap="square" anchor="t" lIns="0" rIns="0" tIns="0" bIns="0">
            <a:spAutoFit/>
          </a:bodyPr>
          <a:lstStyle/>
          <a:p>
            <a:pPr algn="l">
              <a:lnSpc>
                <a:spcPct val="130000"/>
              </a:lnSpc>
              <a:spcAft>
                <a:spcPts val="300"/>
              </a:spcAft>
            </a:pPr>
            <a:r>
              <a:rPr sz="1000" b="0" i="0">
                <a:solidFill>
                  <a:srgbClr val="8E9DBB"/>
                </a:solidFill>
                <a:latin typeface="Helvetica Neue"/>
              </a:rPr>
              <a:t>Woher die Zahl 255 882 kommt: MongoDB erlaubt pro Dokument 16 MB, ein Messwert braucht gemessene 64 Byte.</a:t>
            </a:r>
          </a:p>
          <a:p>
            <a:pPr algn="l">
              <a:lnSpc>
                <a:spcPct val="130000"/>
              </a:lnSpc>
              <a:spcAft>
                <a:spcPts val="300"/>
              </a:spcAft>
            </a:pPr>
            <a:r>
              <a:rPr sz="1000" b="0" i="0">
                <a:solidFill>
                  <a:srgbClr val="8E9DBB"/>
                </a:solidFill>
                <a:latin typeface="Helvetica Neue"/>
              </a:rPr>
              <a:t>Die saubere Lösung wäre ein eigenes Dokument pro Messwert statt einer langen Liste – gut zu wissen, für dieses Projekt aber nicht nötig.</a:t>
            </a:r>
          </a:p>
        </p:txBody>
      </p:sp>
      <p:sp>
        <p:nvSpPr>
          <p:cNvPr id="46" name="TextBox 45"/>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47" name="TextBox 46"/>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475488"/>
            <a:ext cx="10637215" cy="219456"/>
          </a:xfrm>
          <a:prstGeom prst="rect">
            <a:avLst/>
          </a:prstGeom>
          <a:noFill/>
        </p:spPr>
        <p:txBody>
          <a:bodyPr wrap="square" anchor="t" lIns="0" rIns="0" tIns="0" bIns="0">
            <a:spAutoFit/>
          </a:bodyPr>
          <a:lstStyle/>
          <a:p>
            <a:pPr algn="l">
              <a:lnSpc>
                <a:spcPct val="120000"/>
              </a:lnSpc>
            </a:pPr>
            <a:r>
              <a:rPr sz="950" b="1" i="0" spc="160">
                <a:solidFill>
                  <a:srgbClr val="34D399"/>
                </a:solidFill>
                <a:latin typeface="Helvetica Neue"/>
              </a:rPr>
              <a:t>ABSCHLUSS</a:t>
            </a:r>
          </a:p>
        </p:txBody>
      </p:sp>
      <p:sp>
        <p:nvSpPr>
          <p:cNvPr id="4" name="TextBox 3"/>
          <p:cNvSpPr txBox="1"/>
          <p:nvPr/>
        </p:nvSpPr>
        <p:spPr>
          <a:xfrm>
            <a:off x="777240" y="749808"/>
            <a:ext cx="10637215" cy="457200"/>
          </a:xfrm>
          <a:prstGeom prst="rect">
            <a:avLst/>
          </a:prstGeom>
          <a:noFill/>
        </p:spPr>
        <p:txBody>
          <a:bodyPr wrap="square" anchor="t" lIns="0" rIns="0" tIns="0" bIns="0">
            <a:spAutoFit/>
          </a:bodyPr>
          <a:lstStyle/>
          <a:p>
            <a:pPr algn="l">
              <a:lnSpc>
                <a:spcPct val="120000"/>
              </a:lnSpc>
            </a:pPr>
            <a:r>
              <a:rPr sz="2700" b="1" i="0">
                <a:solidFill>
                  <a:srgbClr val="E8EDF7"/>
                </a:solidFill>
                <a:latin typeface="Helvetica Neue"/>
              </a:rPr>
              <a:t>Was wir gelernt haben</a:t>
            </a:r>
          </a:p>
        </p:txBody>
      </p:sp>
      <p:sp>
        <p:nvSpPr>
          <p:cNvPr id="5" name="Rectangle 4"/>
          <p:cNvSpPr/>
          <p:nvPr/>
        </p:nvSpPr>
        <p:spPr>
          <a:xfrm>
            <a:off x="777240" y="1316736"/>
            <a:ext cx="1371600" cy="25603"/>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3583095" y="1006291"/>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921304" y="761516"/>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788576" y="279908"/>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6471900" y="306596"/>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451391" y="218474"/>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12015895" y="930694"/>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554537" y="905908"/>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0015108" y="840539"/>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9623683" y="349647"/>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5937157" y="850853"/>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146092" y="98525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7960241" y="439439"/>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8388602" y="648903"/>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379878" y="824646"/>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613716" y="271899"/>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3133414" y="553582"/>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844017" y="222984"/>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696606" y="660098"/>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516180" y="223307"/>
            <a:ext cx="20116" cy="20116"/>
          </a:xfrm>
          <a:prstGeom prst="ellipse">
            <a:avLst/>
          </a:prstGeom>
          <a:solidFill>
            <a:srgbClr val="3D51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911961" y="1050675"/>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117631" y="518233"/>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2792280" y="592375"/>
            <a:ext cx="16459" cy="16459"/>
          </a:xfrm>
          <a:prstGeom prst="ellipse">
            <a:avLst/>
          </a:prstGeom>
          <a:solidFill>
            <a:srgbClr val="2A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765739" y="252129"/>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8932994" y="344185"/>
            <a:ext cx="34747" cy="34747"/>
          </a:xfrm>
          <a:prstGeom prst="ellipse">
            <a:avLst/>
          </a:prstGeom>
          <a:solidFill>
            <a:srgbClr val="8BA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2529929" y="950079"/>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340264" y="752135"/>
            <a:ext cx="25603" cy="25603"/>
          </a:xfrm>
          <a:prstGeom prst="ellipse">
            <a:avLst/>
          </a:prstGeom>
          <a:solidFill>
            <a:srgbClr val="5B7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77240" y="1737360"/>
            <a:ext cx="3410712" cy="23774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33271" y="1920240"/>
            <a:ext cx="548640" cy="365760"/>
          </a:xfrm>
          <a:prstGeom prst="rect">
            <a:avLst/>
          </a:prstGeom>
          <a:noFill/>
        </p:spPr>
        <p:txBody>
          <a:bodyPr wrap="square" anchor="t" lIns="0" rIns="0" tIns="0" bIns="0">
            <a:spAutoFit/>
          </a:bodyPr>
          <a:lstStyle/>
          <a:p>
            <a:pPr algn="l">
              <a:lnSpc>
                <a:spcPct val="120000"/>
              </a:lnSpc>
            </a:pPr>
            <a:r>
              <a:rPr sz="2200" b="1" i="0">
                <a:solidFill>
                  <a:srgbClr val="38BDF8"/>
                </a:solidFill>
                <a:latin typeface="Helvetica Neue"/>
              </a:rPr>
              <a:t>01</a:t>
            </a:r>
          </a:p>
        </p:txBody>
      </p:sp>
      <p:sp>
        <p:nvSpPr>
          <p:cNvPr id="34" name="TextBox 33"/>
          <p:cNvSpPr txBox="1"/>
          <p:nvPr/>
        </p:nvSpPr>
        <p:spPr>
          <a:xfrm>
            <a:off x="1033271" y="2432304"/>
            <a:ext cx="2926080" cy="502920"/>
          </a:xfrm>
          <a:prstGeom prst="rect">
            <a:avLst/>
          </a:prstGeom>
          <a:noFill/>
        </p:spPr>
        <p:txBody>
          <a:bodyPr wrap="square" anchor="t" lIns="0" rIns="0" tIns="0" bIns="0">
            <a:spAutoFit/>
          </a:bodyPr>
          <a:lstStyle/>
          <a:p>
            <a:pPr algn="l">
              <a:lnSpc>
                <a:spcPct val="115000"/>
              </a:lnSpc>
            </a:pPr>
            <a:r>
              <a:rPr sz="1300" b="1" i="0">
                <a:solidFill>
                  <a:srgbClr val="E8EDF7"/>
                </a:solidFill>
                <a:latin typeface="Helvetica Neue"/>
              </a:rPr>
              <a:t>Schnittstellen zuerst klären</a:t>
            </a:r>
          </a:p>
        </p:txBody>
      </p:sp>
      <p:sp>
        <p:nvSpPr>
          <p:cNvPr id="35" name="TextBox 34"/>
          <p:cNvSpPr txBox="1"/>
          <p:nvPr/>
        </p:nvSpPr>
        <p:spPr>
          <a:xfrm>
            <a:off x="1033271" y="3017520"/>
            <a:ext cx="2971800" cy="1005840"/>
          </a:xfrm>
          <a:prstGeom prst="rect">
            <a:avLst/>
          </a:prstGeom>
          <a:noFill/>
        </p:spPr>
        <p:txBody>
          <a:bodyPr wrap="square" anchor="t" lIns="0" rIns="0" tIns="0" bIns="0">
            <a:spAutoFit/>
          </a:bodyPr>
          <a:lstStyle/>
          <a:p>
            <a:pPr algn="l">
              <a:lnSpc>
                <a:spcPct val="130000"/>
              </a:lnSpc>
            </a:pPr>
            <a:r>
              <a:rPr sz="950" b="0" i="0">
                <a:solidFill>
                  <a:srgbClr val="8E9DBB"/>
                </a:solidFill>
                <a:latin typeface="Helvetica Neue"/>
              </a:rPr>
              <a:t>Der 422er war kein Programmierfehler, sondern eine</a:t>
            </a:r>
          </a:p>
          <a:p>
            <a:pPr algn="l">
              <a:lnSpc>
                <a:spcPct val="130000"/>
              </a:lnSpc>
            </a:pPr>
            <a:r>
              <a:rPr sz="950" b="0" i="0">
                <a:solidFill>
                  <a:srgbClr val="8E9DBB"/>
                </a:solidFill>
                <a:latin typeface="Helvetica Neue"/>
              </a:rPr>
              <a:t>Unstimmigkeit über ein Format. Beide Seiten für sich</a:t>
            </a:r>
          </a:p>
          <a:p>
            <a:pPr algn="l">
              <a:lnSpc>
                <a:spcPct val="130000"/>
              </a:lnSpc>
            </a:pPr>
            <a:r>
              <a:rPr sz="950" b="0" i="0">
                <a:solidFill>
                  <a:srgbClr val="8E9DBB"/>
                </a:solidFill>
                <a:latin typeface="Helvetica Neue"/>
              </a:rPr>
              <a:t>waren richtig – nur eben nicht zueinander passend.</a:t>
            </a:r>
          </a:p>
        </p:txBody>
      </p:sp>
      <p:sp>
        <p:nvSpPr>
          <p:cNvPr id="36" name="Rounded Rectangle 35"/>
          <p:cNvSpPr/>
          <p:nvPr/>
        </p:nvSpPr>
        <p:spPr>
          <a:xfrm>
            <a:off x="4389120" y="1737360"/>
            <a:ext cx="3410712" cy="23774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645152" y="1920240"/>
            <a:ext cx="548640" cy="365760"/>
          </a:xfrm>
          <a:prstGeom prst="rect">
            <a:avLst/>
          </a:prstGeom>
          <a:noFill/>
        </p:spPr>
        <p:txBody>
          <a:bodyPr wrap="square" anchor="t" lIns="0" rIns="0" tIns="0" bIns="0">
            <a:spAutoFit/>
          </a:bodyPr>
          <a:lstStyle/>
          <a:p>
            <a:pPr algn="l">
              <a:lnSpc>
                <a:spcPct val="120000"/>
              </a:lnSpc>
            </a:pPr>
            <a:r>
              <a:rPr sz="2200" b="1" i="0">
                <a:solidFill>
                  <a:srgbClr val="FBBF24"/>
                </a:solidFill>
                <a:latin typeface="Helvetica Neue"/>
              </a:rPr>
              <a:t>02</a:t>
            </a:r>
          </a:p>
        </p:txBody>
      </p:sp>
      <p:sp>
        <p:nvSpPr>
          <p:cNvPr id="38" name="TextBox 37"/>
          <p:cNvSpPr txBox="1"/>
          <p:nvPr/>
        </p:nvSpPr>
        <p:spPr>
          <a:xfrm>
            <a:off x="4645152" y="2432304"/>
            <a:ext cx="2926080" cy="502920"/>
          </a:xfrm>
          <a:prstGeom prst="rect">
            <a:avLst/>
          </a:prstGeom>
          <a:noFill/>
        </p:spPr>
        <p:txBody>
          <a:bodyPr wrap="square" anchor="t" lIns="0" rIns="0" tIns="0" bIns="0">
            <a:spAutoFit/>
          </a:bodyPr>
          <a:lstStyle/>
          <a:p>
            <a:pPr algn="l">
              <a:lnSpc>
                <a:spcPct val="115000"/>
              </a:lnSpc>
            </a:pPr>
            <a:r>
              <a:rPr sz="1300" b="1" i="0">
                <a:solidFill>
                  <a:srgbClr val="E8EDF7"/>
                </a:solidFill>
                <a:latin typeface="Helvetica Neue"/>
              </a:rPr>
              <a:t>Fehlermeldungen genau lesen</a:t>
            </a:r>
          </a:p>
        </p:txBody>
      </p:sp>
      <p:sp>
        <p:nvSpPr>
          <p:cNvPr id="39" name="TextBox 38"/>
          <p:cNvSpPr txBox="1"/>
          <p:nvPr/>
        </p:nvSpPr>
        <p:spPr>
          <a:xfrm>
            <a:off x="4645152" y="3017520"/>
            <a:ext cx="2971800" cy="1005840"/>
          </a:xfrm>
          <a:prstGeom prst="rect">
            <a:avLst/>
          </a:prstGeom>
          <a:noFill/>
        </p:spPr>
        <p:txBody>
          <a:bodyPr wrap="square" anchor="t" lIns="0" rIns="0" tIns="0" bIns="0">
            <a:spAutoFit/>
          </a:bodyPr>
          <a:lstStyle/>
          <a:p>
            <a:pPr algn="l">
              <a:lnSpc>
                <a:spcPct val="130000"/>
              </a:lnSpc>
            </a:pPr>
            <a:r>
              <a:rPr sz="950" b="0" i="0">
                <a:solidFill>
                  <a:srgbClr val="8E9DBB"/>
                </a:solidFill>
                <a:latin typeface="Helvetica Neue"/>
              </a:rPr>
              <a:t>Die Antwort des Servers nannte Feld, Grund und Wert.</a:t>
            </a:r>
          </a:p>
          <a:p>
            <a:pPr algn="l">
              <a:lnSpc>
                <a:spcPct val="130000"/>
              </a:lnSpc>
            </a:pPr>
            <a:r>
              <a:rPr sz="950" b="0" i="0">
                <a:solidFill>
                  <a:srgbClr val="8E9DBB"/>
                </a:solidFill>
                <a:latin typeface="Helvetica Neue"/>
              </a:rPr>
              <a:t>Das Suchen bestand darin, die Meldung ernst zu nehmen,</a:t>
            </a:r>
          </a:p>
          <a:p>
            <a:pPr algn="l">
              <a:lnSpc>
                <a:spcPct val="130000"/>
              </a:lnSpc>
            </a:pPr>
            <a:r>
              <a:rPr sz="950" b="0" i="0">
                <a:solidFill>
                  <a:srgbClr val="8E9DBB"/>
                </a:solidFill>
                <a:latin typeface="Helvetica Neue"/>
              </a:rPr>
              <a:t>und nicht darin, im Code herumzuprobieren.</a:t>
            </a:r>
          </a:p>
        </p:txBody>
      </p:sp>
      <p:sp>
        <p:nvSpPr>
          <p:cNvPr id="40" name="Rounded Rectangle 39"/>
          <p:cNvSpPr/>
          <p:nvPr/>
        </p:nvSpPr>
        <p:spPr>
          <a:xfrm>
            <a:off x="8001000" y="1737360"/>
            <a:ext cx="3410712" cy="237744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257031" y="1920240"/>
            <a:ext cx="548640" cy="365760"/>
          </a:xfrm>
          <a:prstGeom prst="rect">
            <a:avLst/>
          </a:prstGeom>
          <a:noFill/>
        </p:spPr>
        <p:txBody>
          <a:bodyPr wrap="square" anchor="t" lIns="0" rIns="0" tIns="0" bIns="0">
            <a:spAutoFit/>
          </a:bodyPr>
          <a:lstStyle/>
          <a:p>
            <a:pPr algn="l">
              <a:lnSpc>
                <a:spcPct val="120000"/>
              </a:lnSpc>
            </a:pPr>
            <a:r>
              <a:rPr sz="2200" b="1" i="0">
                <a:solidFill>
                  <a:srgbClr val="A78BFA"/>
                </a:solidFill>
                <a:latin typeface="Helvetica Neue"/>
              </a:rPr>
              <a:t>03</a:t>
            </a:r>
          </a:p>
        </p:txBody>
      </p:sp>
      <p:sp>
        <p:nvSpPr>
          <p:cNvPr id="42" name="TextBox 41"/>
          <p:cNvSpPr txBox="1"/>
          <p:nvPr/>
        </p:nvSpPr>
        <p:spPr>
          <a:xfrm>
            <a:off x="8257031" y="2432304"/>
            <a:ext cx="2926080" cy="502920"/>
          </a:xfrm>
          <a:prstGeom prst="rect">
            <a:avLst/>
          </a:prstGeom>
          <a:noFill/>
        </p:spPr>
        <p:txBody>
          <a:bodyPr wrap="square" anchor="t" lIns="0" rIns="0" tIns="0" bIns="0">
            <a:spAutoFit/>
          </a:bodyPr>
          <a:lstStyle/>
          <a:p>
            <a:pPr algn="l">
              <a:lnSpc>
                <a:spcPct val="115000"/>
              </a:lnSpc>
            </a:pPr>
            <a:r>
              <a:rPr sz="1300" b="1" i="0">
                <a:solidFill>
                  <a:srgbClr val="E8EDF7"/>
                </a:solidFill>
                <a:latin typeface="Helvetica Neue"/>
              </a:rPr>
              <a:t>Prüfen, was wirklich läuft</a:t>
            </a:r>
          </a:p>
        </p:txBody>
      </p:sp>
      <p:sp>
        <p:nvSpPr>
          <p:cNvPr id="43" name="TextBox 42"/>
          <p:cNvSpPr txBox="1"/>
          <p:nvPr/>
        </p:nvSpPr>
        <p:spPr>
          <a:xfrm>
            <a:off x="8257031" y="3017520"/>
            <a:ext cx="2971800" cy="1005840"/>
          </a:xfrm>
          <a:prstGeom prst="rect">
            <a:avLst/>
          </a:prstGeom>
          <a:noFill/>
        </p:spPr>
        <p:txBody>
          <a:bodyPr wrap="square" anchor="t" lIns="0" rIns="0" tIns="0" bIns="0">
            <a:spAutoFit/>
          </a:bodyPr>
          <a:lstStyle/>
          <a:p>
            <a:pPr algn="l">
              <a:lnSpc>
                <a:spcPct val="130000"/>
              </a:lnSpc>
            </a:pPr>
            <a:r>
              <a:rPr sz="950" b="0" i="0">
                <a:solidFill>
                  <a:srgbClr val="8E9DBB"/>
                </a:solidFill>
                <a:latin typeface="Helvetica Neue"/>
              </a:rPr>
              <a:t>Geänderter Code wirkt erst, wenn der Prozess ihn</a:t>
            </a:r>
          </a:p>
          <a:p>
            <a:pPr algn="l">
              <a:lnSpc>
                <a:spcPct val="130000"/>
              </a:lnSpc>
            </a:pPr>
            <a:r>
              <a:rPr sz="950" b="0" i="0">
                <a:solidFill>
                  <a:srgbClr val="8E9DBB"/>
                </a:solidFill>
                <a:latin typeface="Helvetica Neue"/>
              </a:rPr>
              <a:t>gelesen hat. Zweimal haben wir einen Fehler gesucht,</a:t>
            </a:r>
          </a:p>
          <a:p>
            <a:pPr algn="l">
              <a:lnSpc>
                <a:spcPct val="130000"/>
              </a:lnSpc>
            </a:pPr>
            <a:r>
              <a:rPr sz="950" b="0" i="0">
                <a:solidFill>
                  <a:srgbClr val="8E9DBB"/>
                </a:solidFill>
                <a:latin typeface="Helvetica Neue"/>
              </a:rPr>
              <a:t>der längst behoben war.</a:t>
            </a:r>
          </a:p>
        </p:txBody>
      </p:sp>
      <p:sp>
        <p:nvSpPr>
          <p:cNvPr id="44" name="Rounded Rectangle 43"/>
          <p:cNvSpPr/>
          <p:nvPr/>
        </p:nvSpPr>
        <p:spPr>
          <a:xfrm>
            <a:off x="777240" y="4370832"/>
            <a:ext cx="10637215" cy="1143000"/>
          </a:xfrm>
          <a:prstGeom prst="roundRect">
            <a:avLst>
              <a:gd name="adj" fmla="val 4500"/>
            </a:avLst>
          </a:prstGeom>
          <a:solidFill>
            <a:srgbClr val="0F1729"/>
          </a:solidFill>
          <a:ln w="9525">
            <a:solidFill>
              <a:srgbClr val="2230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77240" y="4553712"/>
            <a:ext cx="10637215" cy="365760"/>
          </a:xfrm>
          <a:prstGeom prst="rect">
            <a:avLst/>
          </a:prstGeom>
          <a:noFill/>
        </p:spPr>
        <p:txBody>
          <a:bodyPr wrap="square" anchor="t" lIns="0" rIns="0" tIns="0" bIns="0">
            <a:spAutoFit/>
          </a:bodyPr>
          <a:lstStyle/>
          <a:p>
            <a:pPr algn="ctr">
              <a:lnSpc>
                <a:spcPct val="120000"/>
              </a:lnSpc>
            </a:pPr>
            <a:r>
              <a:rPr sz="1700" b="1" i="0">
                <a:solidFill>
                  <a:srgbClr val="E8EDF7"/>
                </a:solidFill>
                <a:latin typeface="Helvetica Neue"/>
              </a:rPr>
              <a:t>Ein Messwert legt einen weiten Weg zurück.</a:t>
            </a:r>
          </a:p>
        </p:txBody>
      </p:sp>
      <p:sp>
        <p:nvSpPr>
          <p:cNvPr id="46" name="TextBox 45"/>
          <p:cNvSpPr txBox="1"/>
          <p:nvPr/>
        </p:nvSpPr>
        <p:spPr>
          <a:xfrm>
            <a:off x="777240" y="4974336"/>
            <a:ext cx="10637215" cy="365760"/>
          </a:xfrm>
          <a:prstGeom prst="rect">
            <a:avLst/>
          </a:prstGeom>
          <a:noFill/>
        </p:spPr>
        <p:txBody>
          <a:bodyPr wrap="square" anchor="t" lIns="0" rIns="0" tIns="0" bIns="0">
            <a:spAutoFit/>
          </a:bodyPr>
          <a:lstStyle/>
          <a:p>
            <a:pPr algn="ctr">
              <a:lnSpc>
                <a:spcPct val="120000"/>
              </a:lnSpc>
            </a:pPr>
            <a:r>
              <a:rPr sz="1200" b="0" i="0">
                <a:solidFill>
                  <a:srgbClr val="38BDF8"/>
                </a:solidFill>
                <a:latin typeface="Helvetica Neue"/>
              </a:rPr>
              <a:t>Satellit  →  Datei  →  Bodenstation  →  Verwaltung  →  Datenbank  →  Anzeige</a:t>
            </a:r>
          </a:p>
        </p:txBody>
      </p:sp>
      <p:sp>
        <p:nvSpPr>
          <p:cNvPr id="47" name="TextBox 46"/>
          <p:cNvSpPr txBox="1"/>
          <p:nvPr/>
        </p:nvSpPr>
        <p:spPr>
          <a:xfrm>
            <a:off x="777240" y="5623560"/>
            <a:ext cx="10637215" cy="365760"/>
          </a:xfrm>
          <a:prstGeom prst="rect">
            <a:avLst/>
          </a:prstGeom>
          <a:noFill/>
        </p:spPr>
        <p:txBody>
          <a:bodyPr wrap="square" anchor="t" lIns="0" rIns="0" tIns="0" bIns="0">
            <a:spAutoFit/>
          </a:bodyPr>
          <a:lstStyle/>
          <a:p>
            <a:pPr algn="ctr">
              <a:lnSpc>
                <a:spcPct val="120000"/>
              </a:lnSpc>
            </a:pPr>
            <a:r>
              <a:rPr sz="1400" b="0" i="0">
                <a:solidFill>
                  <a:srgbClr val="8E9DBB"/>
                </a:solidFill>
                <a:latin typeface="Helvetica Neue"/>
              </a:rPr>
              <a:t>Vielen Dank – Fragen?</a:t>
            </a:r>
          </a:p>
        </p:txBody>
      </p:sp>
      <p:sp>
        <p:nvSpPr>
          <p:cNvPr id="48" name="TextBox 47"/>
          <p:cNvSpPr txBox="1"/>
          <p:nvPr/>
        </p:nvSpPr>
        <p:spPr>
          <a:xfrm>
            <a:off x="777240" y="6382512"/>
            <a:ext cx="6382329" cy="201168"/>
          </a:xfrm>
          <a:prstGeom prst="rect">
            <a:avLst/>
          </a:prstGeom>
          <a:noFill/>
        </p:spPr>
        <p:txBody>
          <a:bodyPr wrap="square" anchor="t" lIns="0" rIns="0" tIns="0" bIns="0">
            <a:spAutoFit/>
          </a:bodyPr>
          <a:lstStyle/>
          <a:p>
            <a:pPr algn="l">
              <a:lnSpc>
                <a:spcPct val="120000"/>
              </a:lnSpc>
            </a:pPr>
            <a:r>
              <a:rPr sz="850" b="0" i="0">
                <a:solidFill>
                  <a:srgbClr val="5A6A89"/>
                </a:solidFill>
                <a:latin typeface="Helvetica Neue"/>
              </a:rPr>
              <a:t>Satelliten-Telemetrie  ·  Team „cooler Teamname“</a:t>
            </a:r>
          </a:p>
        </p:txBody>
      </p:sp>
      <p:sp>
        <p:nvSpPr>
          <p:cNvPr id="49" name="TextBox 48"/>
          <p:cNvSpPr txBox="1"/>
          <p:nvPr/>
        </p:nvSpPr>
        <p:spPr>
          <a:xfrm>
            <a:off x="10500055" y="6382512"/>
            <a:ext cx="914400" cy="201168"/>
          </a:xfrm>
          <a:prstGeom prst="rect">
            <a:avLst/>
          </a:prstGeom>
          <a:noFill/>
        </p:spPr>
        <p:txBody>
          <a:bodyPr wrap="square" anchor="t" lIns="0" rIns="0" tIns="0" bIns="0">
            <a:spAutoFit/>
          </a:bodyPr>
          <a:lstStyle/>
          <a:p>
            <a:pPr algn="r">
              <a:lnSpc>
                <a:spcPct val="120000"/>
              </a:lnSpc>
            </a:pPr>
            <a:r>
              <a:rPr sz="850" b="0" i="0">
                <a:solidFill>
                  <a:srgbClr val="5A6A89"/>
                </a:solidFill>
                <a:latin typeface="Helvetica Neue"/>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